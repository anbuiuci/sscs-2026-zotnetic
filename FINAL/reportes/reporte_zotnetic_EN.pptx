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three bridge readings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58124"/>
            <a:ext cx="11057839" cy="4028720"/>
          </a:xfrm>
          <a:prstGeom prst="rect">
            <a:avLst/>
          </a:prstGeom>
        </p:spPr>
      </p:pic>
      <p:sp>
        <p:nvSpPr>
          <p:cNvPr id="6" name="TextBox 5"/>
          <p:cNvSpPr txBox="1"/>
          <p:nvPr/>
        </p:nvSpPr>
        <p:spPr>
          <a:xfrm>
            <a:off x="566928" y="5959996"/>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WHY SOME CASES FAIL AND OTHERS DO NOT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24 cases, grouped by the condition that tells them apart.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The two contending for smallest</a:t>
                      </a:r>
                    </a:p>
                  </a:txBody>
                  <a:tcPr anchor="ctr">
                    <a:solidFill>
                      <a:srgbClr val="16256B"/>
                    </a:solidFill>
                  </a:tcPr>
                </a:tc>
                <a:tc>
                  <a:txBody>
                    <a:bodyPr/>
                    <a:lstStyle/>
                    <a:p>
                      <a:pPr>
                        <a:defRPr sz="1200" b="1">
                          <a:solidFill>
                            <a:srgbClr val="FFFFFF"/>
                          </a:solidFill>
                          <a:latin typeface="Calibri"/>
                        </a:defRPr>
                      </a:pPr>
                      <a:r>
                        <a:t>Cases</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Reach</a:t>
                      </a:r>
                    </a:p>
                  </a:txBody>
                  <a:tcPr anchor="ctr">
                    <a:solidFill>
                      <a:srgbClr val="16256B"/>
                    </a:solidFill>
                  </a:tcPr>
                </a:tc>
              </a:tr>
              <a:tr h="329184">
                <a:tc>
                  <a:txBody>
                    <a:bodyPr/>
                    <a:lstStyle/>
                    <a:p>
                      <a:pPr>
                        <a:defRPr sz="1200">
                          <a:solidFill>
                            <a:srgbClr val="1C2238"/>
                          </a:solidFill>
                          <a:latin typeface="Calibri"/>
                        </a:defRPr>
                      </a:pPr>
                      <a:r>
                        <a:t>a raíles opuestos, el mayor a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a raíles opuestos, el mayor a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ARRIBA, el mayor a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los dos hacia ABAJO, el mayor a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ABAJO, el mayor a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The amplifier rests at 0.72 V: 4.24 V of room upward and only 0.68 downward. That is why BOTH conditions have to hold — heading down AND at full scale — for it to fail; with either one alone it is always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 bench built to push that one failure to its limit, and nothing else.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Three families with the SAME margin between the two contenders and the third reading parked where it cannot compete: A pair down at full scale, B pair down at half, C pair up at half. A against B separates the rail from the size; B against C separates the two rails at equal size.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twelve cases in numbers: the margin each condition survives.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326880" cy="2633472"/>
        </p:xfrm>
        <a:graphic>
          <a:graphicData uri="http://schemas.openxmlformats.org/drawingml/2006/table">
            <a:tbl>
              <a:tblPr firstRow="1" bandRow="1">
                <a:tableStyleId>{5C22544A-7EE6-4342-B048-85BDC9FD1C3A}</a:tableStyleId>
              </a:tblPr>
              <a:tblGrid>
                <a:gridCol w="2331720"/>
                <a:gridCol w="2331720"/>
                <a:gridCol w="2331720"/>
                <a:gridCol w="2331720"/>
              </a:tblGrid>
              <a:tr h="329184">
                <a:tc>
                  <a:txBody>
                    <a:bodyPr/>
                    <a:lstStyle/>
                    <a:p>
                      <a:pPr>
                        <a:defRPr sz="1200" b="1">
                          <a:solidFill>
                            <a:srgbClr val="FFFFFF"/>
                          </a:solidFill>
                          <a:latin typeface="Calibri"/>
                        </a:defRPr>
                      </a:pPr>
                      <a:r>
                        <a:t>Family — condition</a:t>
                      </a:r>
                    </a:p>
                  </a:txBody>
                  <a:tcPr anchor="ctr">
                    <a:solidFill>
                      <a:srgbClr val="16256B"/>
                    </a:solidFill>
                  </a:tcPr>
                </a:tc>
                <a:tc>
                  <a:txBody>
                    <a:bodyPr/>
                    <a:lstStyle/>
                    <a:p>
                      <a:pPr>
                        <a:defRPr sz="1200" b="1">
                          <a:solidFill>
                            <a:srgbClr val="FFFFFF"/>
                          </a:solidFill>
                          <a:latin typeface="Calibri"/>
                        </a:defRPr>
                      </a:pPr>
                      <a:r>
                        <a:t>Margin d</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r>
              <a:tr h="329184">
                <a:tc>
                  <a:txBody>
                    <a:bodyPr/>
                    <a:lstStyle/>
                    <a:p>
                      <a:pPr>
                        <a:defRPr sz="1200">
                          <a:solidFill>
                            <a:srgbClr val="1C2238"/>
                          </a:solidFill>
                          <a:latin typeface="Calibri"/>
                        </a:defRPr>
                      </a:pPr>
                      <a:r>
                        <a:t>A — par ABAJO, fondo de escala</a:t>
                      </a:r>
                    </a:p>
                  </a:txBody>
                  <a:tcPr anchor="ctr">
                    <a:solidFill>
                      <a:srgbClr val="F3F5FA"/>
                    </a:solidFill>
                  </a:tcPr>
                </a:tc>
                <a:tc>
                  <a:txBody>
                    <a:bodyPr/>
                    <a:lstStyle/>
                    <a:p>
                      <a:pPr>
                        <a:defRPr sz="1200">
                          <a:solidFill>
                            <a:srgbClr val="1C2238"/>
                          </a:solidFill>
                          <a:latin typeface="Calibri"/>
                        </a:defRPr>
                      </a:pPr>
                      <a:r>
                        <a:t>0.05</a:t>
                      </a:r>
                    </a:p>
                  </a:txBody>
                  <a:tcPr anchor="ctr">
                    <a:solidFill>
                      <a:srgbClr val="F3F5FA"/>
                    </a:solidFill>
                  </a:tcPr>
                </a:tc>
                <a:tc>
                  <a:txBody>
                    <a:bodyPr/>
                    <a:lstStyle/>
                    <a:p>
                      <a:pPr>
                        <a:defRPr sz="1200">
                          <a:solidFill>
                            <a:srgbClr val="1C2238"/>
                          </a:solidFill>
                          <a:latin typeface="Calibri"/>
                        </a:defRPr>
                      </a:pPr>
                      <a:r>
                        <a:t>0.62 %</a:t>
                      </a:r>
                    </a:p>
                  </a:txBody>
                  <a:tcPr anchor="ctr">
                    <a:solidFill>
                      <a:srgbClr val="F3F5FA"/>
                    </a:solidFill>
                  </a:tcPr>
                </a:tc>
                <a:tc>
                  <a:txBody>
                    <a:bodyPr/>
                    <a:lstStyle/>
                    <a:p>
                      <a:pPr>
                        <a:defRPr sz="1200">
                          <a:solidFill>
                            <a:srgbClr val="1C2238"/>
                          </a:solidFill>
                          <a:latin typeface="Calibri"/>
                        </a:defRPr>
                      </a:pPr>
                      <a:r>
                        <a:t>0.50 %</a:t>
                      </a:r>
                    </a:p>
                  </a:txBody>
                  <a:tcPr anchor="ctr">
                    <a:solidFill>
                      <a:srgbClr val="F3F5FA"/>
                    </a:solidFill>
                  </a:tcPr>
                </a:tc>
              </a:tr>
              <a:tr h="329184">
                <a:tc>
                  <a:txBody>
                    <a:bodyPr/>
                    <a:lstStyle/>
                    <a:p>
                      <a:pPr>
                        <a:defRPr sz="1200">
                          <a:solidFill>
                            <a:srgbClr val="1C2238"/>
                          </a:solidFill>
                          <a:latin typeface="Calibri"/>
                        </a:defRPr>
                      </a:pPr>
                      <a:r>
                        <a:t>A — par ABAJO, fondo de escala</a:t>
                      </a:r>
                    </a:p>
                  </a:txBody>
                  <a:tcPr anchor="ctr">
                    <a:solidFill>
                      <a:srgbClr val="FFFFFF"/>
                    </a:solidFill>
                  </a:tcPr>
                </a:tc>
                <a:tc>
                  <a:txBody>
                    <a:bodyPr/>
                    <a:lstStyle/>
                    <a:p>
                      <a:pPr>
                        <a:defRPr sz="1200">
                          <a:solidFill>
                            <a:srgbClr val="1C2238"/>
                          </a:solidFill>
                          <a:latin typeface="Calibri"/>
                        </a:defRPr>
                      </a:pPr>
                      <a:r>
                        <a:t>0.40</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r>
              <a:tr h="329184">
                <a:tc>
                  <a:txBody>
                    <a:bodyPr/>
                    <a:lstStyle/>
                    <a:p>
                      <a:pPr>
                        <a:defRPr sz="1200">
                          <a:solidFill>
                            <a:srgbClr val="1C2238"/>
                          </a:solidFill>
                          <a:latin typeface="Calibri"/>
                        </a:defRPr>
                      </a:pPr>
                      <a:r>
                        <a:t>B — par ABAJO, media escala</a:t>
                      </a:r>
                    </a:p>
                  </a:txBody>
                  <a:tcPr anchor="ctr">
                    <a:solidFill>
                      <a:srgbClr val="F3F5FA"/>
                    </a:solidFill>
                  </a:tcPr>
                </a:tc>
                <a:tc>
                  <a:txBody>
                    <a:bodyPr/>
                    <a:lstStyle/>
                    <a:p>
                      <a:pPr>
                        <a:defRPr sz="1200">
                          <a:solidFill>
                            <a:srgbClr val="1C2238"/>
                          </a:solidFill>
                          <a:latin typeface="Calibri"/>
                        </a:defRPr>
                      </a:pPr>
                      <a:r>
                        <a:t>0.05</a:t>
                      </a:r>
                    </a:p>
                  </a:txBody>
                  <a:tcPr anchor="ctr">
                    <a:solidFill>
                      <a:srgbClr val="F3F5FA"/>
                    </a:solidFill>
                  </a:tcPr>
                </a:tc>
                <a:tc>
                  <a:txBody>
                    <a:bodyPr/>
                    <a:lstStyle/>
                    <a:p>
                      <a:pPr>
                        <a:defRPr sz="1200">
                          <a:solidFill>
                            <a:srgbClr val="1C2238"/>
                          </a:solidFill>
                          <a:latin typeface="Calibri"/>
                        </a:defRPr>
                      </a:pPr>
                      <a:r>
                        <a:t>1.60 %</a:t>
                      </a:r>
                    </a:p>
                  </a:txBody>
                  <a:tcPr anchor="ctr">
                    <a:solidFill>
                      <a:srgbClr val="F3F5FA"/>
                    </a:solidFill>
                  </a:tcPr>
                </a:tc>
                <a:tc>
                  <a:txBody>
                    <a:bodyPr/>
                    <a:lstStyle/>
                    <a:p>
                      <a:pPr>
                        <a:defRPr sz="1200">
                          <a:solidFill>
                            <a:srgbClr val="1C2238"/>
                          </a:solidFill>
                          <a:latin typeface="Calibri"/>
                        </a:defRPr>
                      </a:pPr>
                      <a:r>
                        <a:t>1.36 %</a:t>
                      </a:r>
                    </a:p>
                  </a:txBody>
                  <a:tcPr anchor="ctr">
                    <a:solidFill>
                      <a:srgbClr val="F3F5FA"/>
                    </a:solidFill>
                  </a:tcPr>
                </a:tc>
              </a:tr>
              <a:tr h="329184">
                <a:tc>
                  <a:txBody>
                    <a:bodyPr/>
                    <a:lstStyle/>
                    <a:p>
                      <a:pPr>
                        <a:defRPr sz="1200">
                          <a:solidFill>
                            <a:srgbClr val="1C2238"/>
                          </a:solidFill>
                          <a:latin typeface="Calibri"/>
                        </a:defRPr>
                      </a:pPr>
                      <a:r>
                        <a:t>B — par ABAJO, media escala</a:t>
                      </a:r>
                    </a:p>
                  </a:txBody>
                  <a:tcPr anchor="ctr">
                    <a:solidFill>
                      <a:srgbClr val="FFFFFF"/>
                    </a:solidFill>
                  </a:tcPr>
                </a:tc>
                <a:tc>
                  <a:txBody>
                    <a:bodyPr/>
                    <a:lstStyle/>
                    <a:p>
                      <a:pPr>
                        <a:defRPr sz="1200">
                          <a:solidFill>
                            <a:srgbClr val="1C2238"/>
                          </a:solidFill>
                          <a:latin typeface="Calibri"/>
                        </a:defRPr>
                      </a:pPr>
                      <a:r>
                        <a:t>0.10</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c>
                  <a:txBody>
                    <a:bodyPr/>
                    <a:lstStyle/>
                    <a:p>
                      <a:pPr>
                        <a:defRPr sz="1200">
                          <a:solidFill>
                            <a:srgbClr val="1C2238"/>
                          </a:solidFill>
                          <a:latin typeface="Calibri"/>
                        </a:defRPr>
                      </a:pPr>
                      <a:r>
                        <a:t>1.78 %</a:t>
                      </a:r>
                    </a:p>
                  </a:txBody>
                  <a:tcPr anchor="ctr">
                    <a:solidFill>
                      <a:srgbClr val="FFFFFF"/>
                    </a:solidFill>
                  </a:tcPr>
                </a:tc>
              </a:tr>
              <a:tr h="329184">
                <a:tc>
                  <a:txBody>
                    <a:bodyPr/>
                    <a:lstStyle/>
                    <a:p>
                      <a:pPr>
                        <a:defRPr sz="1200">
                          <a:solidFill>
                            <a:srgbClr val="1C2238"/>
                          </a:solidFill>
                          <a:latin typeface="Calibri"/>
                        </a:defRPr>
                      </a:pPr>
                      <a:r>
                        <a:t>B — par ABAJO, media escala</a:t>
                      </a:r>
                    </a:p>
                  </a:txBody>
                  <a:tcPr anchor="ctr">
                    <a:solidFill>
                      <a:srgbClr val="F3F5FA"/>
                    </a:solidFill>
                  </a:tcPr>
                </a:tc>
                <a:tc>
                  <a:txBody>
                    <a:bodyPr/>
                    <a:lstStyle/>
                    <a:p>
                      <a:pPr>
                        <a:defRPr sz="1200">
                          <a:solidFill>
                            <a:srgbClr val="1C2238"/>
                          </a:solidFill>
                          <a:latin typeface="Calibri"/>
                        </a:defRPr>
                      </a:pPr>
                      <a:r>
                        <a:t>0.20</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C — par ARRIBA, media escala</a:t>
                      </a:r>
                    </a:p>
                  </a:txBody>
                  <a:tcPr anchor="ctr">
                    <a:solidFill>
                      <a:srgbClr val="FFFFFF"/>
                    </a:solidFill>
                  </a:tcPr>
                </a:tc>
                <a:tc>
                  <a:txBody>
                    <a:bodyPr/>
                    <a:lstStyle/>
                    <a:p>
                      <a:pPr>
                        <a:defRPr sz="1200">
                          <a:solidFill>
                            <a:srgbClr val="1C2238"/>
                          </a:solidFill>
                          <a:latin typeface="Calibri"/>
                        </a:defRPr>
                      </a:pPr>
                      <a:r>
                        <a:t>0.05</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C — par ARRIBA, media escala</a:t>
                      </a:r>
                    </a:p>
                  </a:txBody>
                  <a:tcPr anchor="ctr">
                    <a:solidFill>
                      <a:srgbClr val="F3F5FA"/>
                    </a:solidFill>
                  </a:tcPr>
                </a:tc>
                <a:tc>
                  <a:txBody>
                    <a:bodyPr/>
                    <a:lstStyle/>
                    <a:p>
                      <a:pPr>
                        <a:defRPr sz="1200">
                          <a:solidFill>
                            <a:srgbClr val="1C2238"/>
                          </a:solidFill>
                          <a:latin typeface="Calibri"/>
                        </a:defRPr>
                      </a:pPr>
                      <a:r>
                        <a:t>0.40</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bl>
          </a:graphicData>
        </a:graphic>
      </p:graphicFrame>
      <p:sp>
        <p:nvSpPr>
          <p:cNvPr id="6" name="TextBox 5"/>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B against C, same size and only the rail changes: heading up it never fails; heading down it fails as soon as the margin drops below 0.20. A against B, same rail and only the size changes: at the same 0.40 margin, half scale never fails and full scale stops at 1.38 %. Both conditions are needed.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XSCHEM/TEST_TOTAL/test_NAV2.sch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twelve chain outputs agree on 99.7 % of the sweep.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twelve chain outputs agree on 99.7 %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The six digital outputs, on 99.5 % (X and Y) and 98.9 % (Z).</a:t>
            </a:r>
          </a:p>
          <a:p>
            <a:pPr algn="l">
              <a:spcAft>
                <a:spcPts val="900"/>
              </a:spcAft>
            </a:pPr>
            <a:r>
              <a:rPr sz="1700" b="0">
                <a:solidFill>
                  <a:srgbClr val="1C2238"/>
                </a:solidFill>
                <a:latin typeface="Calibri"/>
              </a:rPr>
              <a:t>Between 2 and 4 degrees of disagreement out of 360, and they fall where they should: on the sector boundaries, which is exactly where the decision is on a knife edge and the layout's offset settles it.</a:t>
            </a:r>
          </a:p>
          <a:p>
            <a:pPr algn="l">
              <a:spcAft>
                <a:spcPts val="1100"/>
              </a:spcAft>
            </a:pPr>
            <a:r>
              <a:rPr sz="1700" b="1">
                <a:solidFill>
                  <a:srgbClr val="16256B"/>
                </a:solidFill>
                <a:latin typeface="Calibri"/>
              </a:rPr>
              <a:t>Deviation at the counter node: 38.8 mV rms.</a:t>
            </a:r>
          </a:p>
          <a:p>
            <a:pPr algn="l">
              <a:spcAft>
                <a:spcPts val="900"/>
              </a:spcAft>
            </a:pPr>
            <a:r>
              <a:rPr sz="1700" b="0">
                <a:solidFill>
                  <a:srgbClr val="1C2238"/>
                </a:solidFill>
                <a:latin typeface="Calibri"/>
              </a:rPr>
              <a:t>Power: 75.32 mW schematic, 74.15 mW layout.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83450"/>
            <a:ext cx="5391759" cy="208002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1574" y="1572768"/>
            <a:ext cx="550854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XSCHEM/TEST_TOTAL/test_NAV2_geo.sch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