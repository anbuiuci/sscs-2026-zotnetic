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Magnetic gradient navigator in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Lead: Juan Sánchez · An Bui · Enzo Li · Akam Khinda · Aysha Hussaini</a:t>
            </a:r>
          </a:p>
          <a:p>
            <a:pPr algn="ctr">
              <a:spcAft>
                <a:spcPts val="300"/>
              </a:spcAft>
            </a:pPr>
            <a:r>
              <a:rPr sz="1400" b="0">
                <a:solidFill>
                  <a:srgbClr val="FFFFFF"/>
                </a:solidFill>
                <a:latin typeface="Calibri"/>
              </a:rPr>
              <a:t>Design, simulation and verification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WHAT THE CHIP DOES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Four sensors read the magnitude of the field. The chip works out which way it grows.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PRINCIPLE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sensors do not measure a vector: they measure magnitude. That distinction is the whole design.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Four magnetoresistive bridges read |B| at the vertices of a tetrahedron.</a:t>
            </a:r>
          </a:p>
          <a:p>
            <a:pPr algn="l">
              <a:spcAft>
                <a:spcPts val="900"/>
              </a:spcAft>
            </a:pPr>
            <a:r>
              <a:rPr sz="1400" b="0">
                <a:solidFill>
                  <a:srgbClr val="1C2238"/>
                </a:solidFill>
                <a:latin typeface="Calibri"/>
              </a:rPr>
              <a:t>Each bridge gives a voltage proportional to dR/R, that is to the magnitude of the field at its vertex, not to its direction.</a:t>
            </a:r>
          </a:p>
          <a:p>
            <a:pPr algn="l">
              <a:spcAft>
                <a:spcPts val="1100"/>
              </a:spcAft>
            </a:pPr>
            <a:r>
              <a:rPr sz="1400" b="1">
                <a:solidFill>
                  <a:srgbClr val="16256B"/>
                </a:solidFill>
                <a:latin typeface="Calibri"/>
              </a:rPr>
              <a:t>Comparing the four magnitudes reconstructs grad|B|.</a:t>
            </a:r>
          </a:p>
          <a:p>
            <a:pPr algn="l">
              <a:spcAft>
                <a:spcPts val="900"/>
              </a:spcAft>
            </a:pPr>
            <a:r>
              <a:rPr sz="1400" b="0">
                <a:solidFill>
                  <a:srgbClr val="1C2238"/>
                </a:solidFill>
                <a:latin typeface="Calibri"/>
              </a:rPr>
              <a:t>The gradient of the magnitude points where the field grows, and the field grows towards the source. That is how the chip can point at a magnet without ever measuring a vector.</a:t>
            </a:r>
          </a:p>
          <a:p>
            <a:pPr algn="l">
              <a:spcAft>
                <a:spcPts val="1100"/>
              </a:spcAft>
            </a:pPr>
            <a:r>
              <a:rPr sz="1400" b="1">
                <a:solidFill>
                  <a:srgbClr val="16256B"/>
                </a:solidFill>
                <a:latin typeface="Calibri"/>
              </a:rPr>
              <a:t>The output is one sign per axis: XP/XN, YP/YN, ZP/ZN.</a:t>
            </a:r>
          </a:p>
          <a:p>
            <a:pPr algn="l">
              <a:spcAft>
                <a:spcPts val="900"/>
              </a:spcAft>
            </a:pPr>
            <a:r>
              <a:rPr sz="1400" b="0">
                <a:solidFill>
                  <a:srgbClr val="1C2238"/>
                </a:solidFill>
                <a:latin typeface="Calibri"/>
              </a:rPr>
              <a:t>Six digital outputs. It does not say how much, it says which way.</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ARCHITECTURE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From sensor to actuator, and which part of that is this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Four gradient sensors, a weight calculator, an H-bridge.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goes in, what comes out and what it costs.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Parameter</a:t>
                      </a:r>
                    </a:p>
                  </a:txBody>
                  <a:tcPr anchor="ctr">
                    <a:solidFill>
                      <a:srgbClr val="16256B"/>
                    </a:solidFill>
                  </a:tcPr>
                </a:tc>
                <a:tc>
                  <a:txBody>
                    <a:bodyPr/>
                    <a:lstStyle/>
                    <a:p>
                      <a:pPr>
                        <a:defRPr sz="1100" b="1">
                          <a:solidFill>
                            <a:srgbClr val="FFFFFF"/>
                          </a:solidFill>
                          <a:latin typeface="Calibri"/>
                        </a:defRPr>
                      </a:pPr>
                      <a:r>
                        <a:t>Value</a:t>
                      </a:r>
                    </a:p>
                  </a:txBody>
                  <a:tcPr anchor="ctr">
                    <a:solidFill>
                      <a:srgbClr val="16256B"/>
                    </a:solidFill>
                  </a:tcPr>
                </a:tc>
              </a:tr>
              <a:tr h="329184">
                <a:tc>
                  <a:txBody>
                    <a:bodyPr/>
                    <a:lstStyle/>
                    <a:p>
                      <a:pPr>
                        <a:defRPr sz="1100">
                          <a:solidFill>
                            <a:srgbClr val="1C2238"/>
                          </a:solidFill>
                          <a:latin typeface="Calibri"/>
                        </a:defRPr>
                      </a:pPr>
                      <a:r>
                        <a:t>Technology</a:t>
                      </a:r>
                    </a:p>
                  </a:txBody>
                  <a:tcPr anchor="ctr">
                    <a:solidFill>
                      <a:srgbClr val="F3F5FA"/>
                    </a:solidFill>
                  </a:tcPr>
                </a:tc>
                <a:tc>
                  <a:txBody>
                    <a:bodyPr/>
                    <a:lstStyle/>
                    <a:p>
                      <a:pPr>
                        <a:defRPr sz="1100">
                          <a:solidFill>
                            <a:srgbClr val="1C2238"/>
                          </a:solidFill>
                          <a:latin typeface="Calibri"/>
                        </a:defRPr>
                      </a:pPr>
                      <a:r>
                        <a:t>GF180MCU-D, 6 V devices</a:t>
                      </a:r>
                    </a:p>
                  </a:txBody>
                  <a:tcPr anchor="ctr">
                    <a:solidFill>
                      <a:srgbClr val="F3F5FA"/>
                    </a:solidFill>
                  </a:tcPr>
                </a:tc>
              </a:tr>
              <a:tr h="329184">
                <a:tc>
                  <a:txBody>
                    <a:bodyPr/>
                    <a:lstStyle/>
                    <a:p>
                      <a:pPr>
                        <a:defRPr sz="1100">
                          <a:solidFill>
                            <a:srgbClr val="1C2238"/>
                          </a:solidFill>
                          <a:latin typeface="Calibri"/>
                        </a:defRPr>
                      </a:pPr>
                      <a:r>
                        <a:t>Supply</a:t>
                      </a:r>
                    </a:p>
                  </a:txBody>
                  <a:tcPr anchor="ctr">
                    <a:solidFill>
                      <a:srgbClr val="FFFFFF"/>
                    </a:solidFill>
                  </a:tcPr>
                </a:tc>
                <a:tc>
                  <a:txBody>
                    <a:bodyPr/>
                    <a:lstStyle/>
                    <a:p>
                      <a:pPr>
                        <a:defRPr sz="1100">
                          <a:solidFill>
                            <a:srgbClr val="1C2238"/>
                          </a:solidFill>
                          <a:latin typeface="Calibri"/>
                        </a:defRPr>
                      </a:pPr>
                      <a:r>
                        <a:t>5.0 V (VDD / VSS), every bench sourced at 5.0 V</a:t>
                      </a:r>
                    </a:p>
                  </a:txBody>
                  <a:tcPr anchor="ctr">
                    <a:solidFill>
                      <a:srgbClr val="FFFFFF"/>
                    </a:solidFill>
                  </a:tcPr>
                </a:tc>
              </a:tr>
              <a:tr h="329184">
                <a:tc>
                  <a:txBody>
                    <a:bodyPr/>
                    <a:lstStyle/>
                    <a:p>
                      <a:pPr>
                        <a:defRPr sz="1100">
                          <a:solidFill>
                            <a:srgbClr val="1C2238"/>
                          </a:solidFill>
                          <a:latin typeface="Calibri"/>
                        </a:defRPr>
                      </a:pPr>
                      <a:r>
                        <a:t>Total power</a:t>
                      </a:r>
                    </a:p>
                  </a:txBody>
                  <a:tcPr anchor="ctr">
                    <a:solidFill>
                      <a:srgbClr val="F3F5FA"/>
                    </a:solidFill>
                  </a:tcPr>
                </a:tc>
                <a:tc>
                  <a:txBody>
                    <a:bodyPr/>
                    <a:lstStyle/>
                    <a:p>
                      <a:pPr>
                        <a:defRPr sz="1100">
                          <a:solidFill>
                            <a:srgbClr val="1C2238"/>
                          </a:solidFill>
                          <a:latin typeface="Calibri"/>
                        </a:defRPr>
                      </a:pPr>
                      <a:r>
                        <a:t>74.02 mW schematic · 74.03 mW layout (14.81 mA)</a:t>
                      </a:r>
                    </a:p>
                  </a:txBody>
                  <a:tcPr anchor="ctr">
                    <a:solidFill>
                      <a:srgbClr val="F3F5FA"/>
                    </a:solidFill>
                  </a:tcPr>
                </a:tc>
              </a:tr>
              <a:tr h="329184">
                <a:tc>
                  <a:txBody>
                    <a:bodyPr/>
                    <a:lstStyle/>
                    <a:p>
                      <a:pPr>
                        <a:defRPr sz="1100">
                          <a:solidFill>
                            <a:srgbClr val="1C2238"/>
                          </a:solidFill>
                          <a:latin typeface="Calibri"/>
                        </a:defRPr>
                      </a:pPr>
                      <a:r>
                        <a:t>Delivered area</a:t>
                      </a:r>
                    </a:p>
                  </a:txBody>
                  <a:tcPr anchor="ctr">
                    <a:solidFill>
                      <a:srgbClr val="FFFFFF"/>
                    </a:solidFill>
                  </a:tcPr>
                </a:tc>
                <a:tc>
                  <a:txBody>
                    <a:bodyPr/>
                    <a:lstStyle/>
                    <a:p>
                      <a:pPr>
                        <a:defRPr sz="1100">
                          <a:solidFill>
                            <a:srgbClr val="1C2238"/>
                          </a:solidFill>
                          <a:latin typeface="Calibri"/>
                        </a:defRPr>
                      </a:pPr>
                      <a:r>
                        <a:t>1110 × 1110 µm = 1.232 mm² (B26_A user area)</a:t>
                      </a:r>
                    </a:p>
                  </a:txBody>
                  <a:tcPr anchor="ctr">
                    <a:solidFill>
                      <a:srgbClr val="FFFFFF"/>
                    </a:solidFill>
                  </a:tcPr>
                </a:tc>
              </a:tr>
              <a:tr h="329184">
                <a:tc>
                  <a:txBody>
                    <a:bodyPr/>
                    <a:lstStyle/>
                    <a:p>
                      <a:pPr>
                        <a:defRPr sz="1100">
                          <a:solidFill>
                            <a:srgbClr val="1C2238"/>
                          </a:solidFill>
                          <a:latin typeface="Calibri"/>
                        </a:defRPr>
                      </a:pPr>
                      <a:r>
                        <a:t>Navigator area</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Analogue inputs</a:t>
                      </a:r>
                    </a:p>
                  </a:txBody>
                  <a:tcPr anchor="ctr">
                    <a:solidFill>
                      <a:srgbClr val="FFFFFF"/>
                    </a:solidFill>
                  </a:tcPr>
                </a:tc>
                <a:tc>
                  <a:txBody>
                    <a:bodyPr/>
                    <a:lstStyle/>
                    <a:p>
                      <a:pPr>
                        <a:defRPr sz="1100">
                          <a:solidFill>
                            <a:srgbClr val="1C2238"/>
                          </a:solidFill>
                          <a:latin typeface="Calibri"/>
                        </a:defRPr>
                      </a:pPr>
                      <a:r>
                        <a:t>8 — S1P/S1N … S4P/S4N, four magnetoresistive bridges</a:t>
                      </a:r>
                    </a:p>
                  </a:txBody>
                  <a:tcPr anchor="ctr">
                    <a:solidFill>
                      <a:srgbClr val="FFFFFF"/>
                    </a:solidFill>
                  </a:tcPr>
                </a:tc>
              </a:tr>
              <a:tr h="329184">
                <a:tc>
                  <a:txBody>
                    <a:bodyPr/>
                    <a:lstStyle/>
                    <a:p>
                      <a:pPr>
                        <a:defRPr sz="1100">
                          <a:solidFill>
                            <a:srgbClr val="1C2238"/>
                          </a:solidFill>
                          <a:latin typeface="Calibri"/>
                        </a:defRPr>
                      </a:pPr>
                      <a:r>
                        <a:t>Test points</a:t>
                      </a:r>
                    </a:p>
                  </a:txBody>
                  <a:tcPr anchor="ctr">
                    <a:solidFill>
                      <a:srgbClr val="F3F5FA"/>
                    </a:solidFill>
                  </a:tcPr>
                </a:tc>
                <a:tc>
                  <a:txBody>
                    <a:bodyPr/>
                    <a:lstStyle/>
                    <a:p>
                      <a:pPr>
                        <a:defRPr sz="1100">
                          <a:solidFill>
                            <a:srgbClr val="1C2238"/>
                          </a:solidFill>
                          <a:latin typeface="Calibri"/>
                        </a:defRPr>
                      </a:pPr>
                      <a:r>
                        <a:t>3 — X, Y, Z, vote counters between 1.814 and 3.035 V</a:t>
                      </a:r>
                    </a:p>
                  </a:txBody>
                  <a:tcPr anchor="ctr">
                    <a:solidFill>
                      <a:srgbClr val="F3F5FA"/>
                    </a:solidFill>
                  </a:tcPr>
                </a:tc>
              </a:tr>
              <a:tr h="329184">
                <a:tc>
                  <a:txBody>
                    <a:bodyPr/>
                    <a:lstStyle/>
                    <a:p>
                      <a:pPr>
                        <a:defRPr sz="1100">
                          <a:solidFill>
                            <a:srgbClr val="1C2238"/>
                          </a:solidFill>
                          <a:latin typeface="Calibri"/>
                        </a:defRPr>
                      </a:pPr>
                      <a:r>
                        <a:t>Digital outputs</a:t>
                      </a:r>
                    </a:p>
                  </a:txBody>
                  <a:tcPr anchor="ctr">
                    <a:solidFill>
                      <a:srgbClr val="FFFFFF"/>
                    </a:solidFill>
                  </a:tcPr>
                </a:tc>
                <a:tc>
                  <a:txBody>
                    <a:bodyPr/>
                    <a:lstStyle/>
                    <a:p>
                      <a:pPr>
                        <a:defRPr sz="1100">
                          <a:solidFill>
                            <a:srgbClr val="1C2238"/>
                          </a:solidFill>
                          <a:latin typeface="Calibri"/>
                        </a:defRPr>
                      </a:pPr>
                      <a:r>
                        <a:t>6 — XP/XN, YP/YN, ZP/ZN, rail to rail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analogue + 6 digital + 2 supply = 19</a:t>
                      </a:r>
                    </a:p>
                  </a:txBody>
                  <a:tcPr anchor="ctr">
                    <a:solidFill>
                      <a:srgbClr val="F3F5FA"/>
                    </a:solidFill>
                  </a:tcPr>
                </a:tc>
              </a:tr>
              <a:tr h="329184">
                <a:tc>
                  <a:txBody>
                    <a:bodyPr/>
                    <a:lstStyle/>
                    <a:p>
                      <a:pPr>
                        <a:defRPr sz="1100">
                          <a:solidFill>
                            <a:srgbClr val="1C2238"/>
                          </a:solidFill>
                          <a:latin typeface="Calibri"/>
                        </a:defRPr>
                      </a:pPr>
                      <a:r>
                        <a:t>Analogue pad type</a:t>
                      </a:r>
                    </a:p>
                  </a:txBody>
                  <a:tcPr anchor="ctr">
                    <a:solidFill>
                      <a:srgbClr val="FFFFFF"/>
                    </a:solidFill>
                  </a:tcPr>
                </a:tc>
                <a:tc>
                  <a:txBody>
                    <a:bodyPr/>
                    <a:lstStyle/>
                    <a:p>
                      <a:pPr>
                        <a:defRPr sz="1100">
                          <a:solidFill>
                            <a:srgbClr val="1C2238"/>
                          </a:solidFill>
                          <a:latin typeface="Calibri"/>
                        </a:defRPr>
                      </a:pPr>
                      <a:r>
                        <a:t>analog, with our own secondary ESD (ESD_CDM)</a:t>
                      </a:r>
                    </a:p>
                  </a:txBody>
                  <a:tcPr anchor="ctr">
                    <a:solidFill>
                      <a:srgbClr val="FFFFFF"/>
                    </a:solidFill>
                  </a:tcPr>
                </a:tc>
              </a:tr>
              <a:tr h="329184">
                <a:tc>
                  <a:txBody>
                    <a:bodyPr/>
                    <a:lstStyle/>
                    <a:p>
                      <a:pPr>
                        <a:defRPr sz="1100">
                          <a:solidFill>
                            <a:srgbClr val="1C2238"/>
                          </a:solidFill>
                          <a:latin typeface="Calibri"/>
                        </a:defRPr>
                      </a:pPr>
                      <a:r>
                        <a:t>Digital pad type</a:t>
                      </a:r>
                    </a:p>
                  </a:txBody>
                  <a:tcPr anchor="ctr">
                    <a:solidFill>
                      <a:srgbClr val="F3F5FA"/>
                    </a:solidFill>
                  </a:tcPr>
                </a:tc>
                <a:tc>
                  <a:txBody>
                    <a:bodyPr/>
                    <a:lstStyle/>
                    <a:p>
                      <a:pPr>
                        <a:defRPr sz="1100">
                          <a:solidFill>
                            <a:srgbClr val="1C2238"/>
                          </a:solidFill>
                          <a:latin typeface="Calibri"/>
                        </a:defRPr>
                      </a:pPr>
                      <a:r>
                        <a:t>bidirectional, permanently driving</a:t>
                      </a:r>
                    </a:p>
                  </a:txBody>
                  <a:tcPr anchor="ctr">
                    <a:solidFill>
                      <a:srgbClr val="F3F5FA"/>
                    </a:solidFill>
                  </a:tcPr>
                </a:tc>
              </a:tr>
              <a:tr h="329184">
                <a:tc>
                  <a:txBody>
                    <a:bodyPr/>
                    <a:lstStyle/>
                    <a:p>
                      <a:pPr>
                        <a:defRPr sz="1100">
                          <a:solidFill>
                            <a:srgbClr val="1C2238"/>
                          </a:solidFill>
                          <a:latin typeface="Calibri"/>
                        </a:defRPr>
                      </a:pPr>
                      <a:r>
                        <a:t>Secondary ESD</a:t>
                      </a:r>
                    </a:p>
                  </a:txBody>
                  <a:tcPr anchor="ctr">
                    <a:solidFill>
                      <a:srgbClr val="FFFFFF"/>
                    </a:solidFill>
                  </a:tcPr>
                </a:tc>
                <a:tc>
                  <a:txBody>
                    <a:bodyPr/>
                    <a:lstStyle/>
                    <a:p>
                      <a:pPr>
                        <a:defRPr sz="1100">
                          <a:solidFill>
                            <a:srgbClr val="1C2238"/>
                          </a:solidFill>
                          <a:latin typeface="Calibri"/>
                        </a:defRPr>
                      </a:pPr>
                      <a:r>
                        <a:t>ESD_CDM, 63.2 × 27.9 µm, 8 diodes + 87.5 Ω poly, 11 instances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The 6 V is the device class, not the operating point: everything is simulated and measured at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THE THREE BLOCKS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inside: each block with its diagram, its schematic, its layout and its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 INSIDE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_V3.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BLOCK'S POWER DISTRIBUTION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Sized for double the measured peak: 31 mA against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Section</a:t>
                      </a:r>
                    </a:p>
                  </a:txBody>
                  <a:tcPr anchor="ctr">
                    <a:solidFill>
                      <a:srgbClr val="16256B"/>
                    </a:solidFill>
                  </a:tcPr>
                </a:tc>
                <a:tc>
                  <a:txBody>
                    <a:bodyPr/>
                    <a:lstStyle/>
                    <a:p>
                      <a:pPr>
                        <a:defRPr sz="1200" b="1">
                          <a:solidFill>
                            <a:srgbClr val="FFFFFF"/>
                          </a:solidFill>
                          <a:latin typeface="Calibri"/>
                        </a:defRPr>
                      </a:pPr>
                      <a:r>
                        <a:t>Capacity</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Block pin · VDD</a:t>
                      </a:r>
                    </a:p>
                  </a:txBody>
                  <a:tcPr anchor="ctr">
                    <a:solidFill>
                      <a:srgbClr val="F3F5FA"/>
                    </a:solidFill>
                  </a:tcPr>
                </a:tc>
                <a:tc>
                  <a:txBody>
                    <a:bodyPr/>
                    <a:lstStyle/>
                    <a:p>
                      <a:pPr>
                        <a:defRPr sz="1200">
                          <a:solidFill>
                            <a:srgbClr val="1C2238"/>
                          </a:solidFill>
                          <a:latin typeface="Calibri"/>
                        </a:defRPr>
                      </a:pPr>
                      <a:r>
                        <a:t>3 ports,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Block pin · VSS</a:t>
                      </a:r>
                    </a:p>
                  </a:txBody>
                  <a:tcPr anchor="ctr">
                    <a:solidFill>
                      <a:srgbClr val="FFFFFF"/>
                    </a:solidFill>
                  </a:tcPr>
                </a:tc>
                <a:tc>
                  <a:txBody>
                    <a:bodyPr/>
                    <a:lstStyle/>
                    <a:p>
                      <a:pPr>
                        <a:defRPr sz="1200">
                          <a:solidFill>
                            <a:srgbClr val="1C2238"/>
                          </a:solidFill>
                          <a:latin typeface="Calibri"/>
                        </a:defRPr>
                      </a:pPr>
                      <a:r>
                        <a:t>4 ports,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Metal3–Metal4 vias</a:t>
                      </a:r>
                    </a:p>
                  </a:txBody>
                  <a:tcPr anchor="ctr">
                    <a:solidFill>
                      <a:srgbClr val="F3F5FA"/>
                    </a:solidFill>
                  </a:tcPr>
                </a:tc>
                <a:tc>
                  <a:txBody>
                    <a:bodyPr/>
                    <a:lstStyle/>
                    <a:p>
                      <a:pPr>
                        <a:defRPr sz="1200">
                          <a:solidFill>
                            <a:srgbClr val="1C2238"/>
                          </a:solidFill>
                          <a:latin typeface="Calibri"/>
                        </a:defRPr>
                      </a:pPr>
                      <a:r>
                        <a:t>960–1130 cuts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Metal4–Metal5 vias</a:t>
                      </a:r>
                    </a:p>
                  </a:txBody>
                  <a:tcPr anchor="ctr">
                    <a:solidFill>
                      <a:srgbClr val="FFFFFF"/>
                    </a:solidFill>
                  </a:tcPr>
                </a:tc>
                <a:tc>
                  <a:txBody>
                    <a:bodyPr/>
                    <a:lstStyle/>
                    <a:p>
                      <a:pPr>
                        <a:defRPr sz="1200">
                          <a:solidFill>
                            <a:srgbClr val="1C2238"/>
                          </a:solidFill>
                          <a:latin typeface="Calibri"/>
                        </a:defRPr>
                      </a:pPr>
                      <a:r>
                        <a:t>4704–5742 cuts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rows are mirrored, so each channel carries one net and the rails abut: VDD-to-VSS separation goes from 2 µm to 43.46 µm. The limits come from the PDK's tech-LEF and no DRC rule checks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1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One sensing block reads three bridges and decides an axis.</a:t>
            </a:r>
          </a:p>
          <a:p>
            <a:pPr algn="l">
              <a:spcAft>
                <a:spcPts val="900"/>
              </a:spcAft>
            </a:pPr>
            <a:r>
              <a:rPr sz="1250" b="0">
                <a:solidFill>
                  <a:srgbClr val="1C2238"/>
                </a:solidFill>
                <a:latin typeface="Calibri"/>
              </a:rPr>
              <a:t>The three OPAM_LIN amplify the three bridge differences. The three COMP compare them PAIRWISE — X with Y, X with Z, Y with Z — and the DECODER turns that order into a winning axis.</a:t>
            </a:r>
          </a:p>
          <a:p>
            <a:pPr algn="l">
              <a:spcAft>
                <a:spcPts val="1100"/>
              </a:spcAft>
            </a:pPr>
            <a:r>
              <a:rPr sz="1250" b="1">
                <a:solidFill>
                  <a:srgbClr val="16256B"/>
                </a:solidFill>
                <a:latin typeface="Calibri"/>
              </a:rPr>
              <a:t>Comparing pairwise, rather than against a threshold, is the design decision.</a:t>
            </a:r>
          </a:p>
          <a:p>
            <a:pPr algn="l">
              <a:spcAft>
                <a:spcPts val="900"/>
              </a:spcAft>
            </a:pPr>
            <a:r>
              <a:rPr sz="1250" b="0">
                <a:solidFill>
                  <a:srgbClr val="1C2238"/>
                </a:solidFill>
                <a:latin typeface="Calibri"/>
              </a:rPr>
              <a:t>The decoder does not need to know what each axis is worth, only which is larger. That makes the decision immune to absolute gain and to any offset common to the three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amplifies one bridge's difference, and nothing else.</a:t>
            </a:r>
          </a:p>
          <a:p>
            <a:pPr algn="l">
              <a:spcAft>
                <a:spcPts val="900"/>
              </a:spcAft>
            </a:pPr>
            <a:r>
              <a:rPr sz="1300" b="0">
                <a:solidFill>
                  <a:srgbClr val="1C2238"/>
                </a:solidFill>
                <a:latin typeface="Calibri"/>
              </a:rPr>
              <a:t>The SkP/SkN pair of a sensor goes in and a single voltage proportional to dR/R comes out. It is the only small-signal block in the chain, so its linearity sets the system's.</a:t>
            </a:r>
          </a:p>
          <a:p>
            <a:pPr algn="l">
              <a:spcAft>
                <a:spcPts val="1100"/>
              </a:spcAft>
            </a:pPr>
            <a:r>
              <a:rPr sz="1300" b="1">
                <a:solidFill>
                  <a:srgbClr val="16256B"/>
                </a:solidFill>
                <a:latin typeface="Calibri"/>
              </a:rPr>
              <a:t>Why 40 dB.</a:t>
            </a:r>
          </a:p>
          <a:p>
            <a:pPr algn="l">
              <a:spcAft>
                <a:spcPts val="900"/>
              </a:spcAft>
            </a:pPr>
            <a:r>
              <a:rPr sz="1300" b="0">
                <a:solidFill>
                  <a:srgbClr val="1C2238"/>
                </a:solidFill>
                <a:latin typeface="Calibri"/>
              </a:rPr>
              <a:t>The gain was chosen on a measurement, not a taste: it is the one that keeps the cell inside its linear range over the input span the bridges deliver. More gain saturates earlier and loses the crossings, which is all the decision needs.</a:t>
            </a:r>
          </a:p>
          <a:p>
            <a:pPr algn="l">
              <a:spcAft>
                <a:spcPts val="1100"/>
              </a:spcAft>
            </a:pPr>
            <a:r>
              <a:rPr sz="1300" b="1">
                <a:solidFill>
                  <a:srgbClr val="16256B"/>
                </a:solidFill>
                <a:latin typeface="Calibri"/>
              </a:rPr>
              <a:t>The common mode does not move with the signal.</a:t>
            </a:r>
          </a:p>
          <a:p>
            <a:pPr algn="l">
              <a:spcAft>
                <a:spcPts val="900"/>
              </a:spcAft>
            </a:pPr>
            <a:r>
              <a:rPr sz="1300" b="0">
                <a:solidFill>
                  <a:srgbClr val="1C2238"/>
                </a:solidFill>
                <a:latin typeface="Calibri"/>
              </a:rPr>
              <a:t>The bridge delivering a constant Vcm = VEXC/2 is what makes these curves readable without confusing signal with common-mode sensitivity.</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amplifies one bridge's difference</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2.55 mW schematic / 2.45 mW layout</a:t>
                      </a:r>
                    </a:p>
                  </a:txBody>
                  <a:tcPr anchor="ctr">
                    <a:solidFill>
                      <a:srgbClr val="F3F5FA"/>
                    </a:solidFill>
                  </a:tcPr>
                </a:tc>
              </a:tr>
              <a:tr h="329184">
                <a:tc>
                  <a:txBody>
                    <a:bodyPr/>
                    <a:lstStyle/>
                    <a:p>
                      <a:pPr>
                        <a:defRPr sz="1050">
                          <a:solidFill>
                            <a:srgbClr val="1C2238"/>
                          </a:solidFill>
                          <a:latin typeface="Calibri"/>
                        </a:defRPr>
                      </a:pPr>
                      <a:r>
                        <a:t>DC gain</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Bandwidth</a:t>
                      </a:r>
                    </a:p>
                  </a:txBody>
                  <a:tcPr anchor="ctr">
                    <a:solidFill>
                      <a:srgbClr val="F3F5FA"/>
                    </a:solidFill>
                  </a:tcPr>
                </a:tc>
                <a:tc>
                  <a:txBody>
                    <a:bodyPr/>
                    <a:lstStyle/>
                    <a:p>
                      <a:pPr>
                        <a:defRPr sz="1050">
                          <a:solidFill>
                            <a:srgbClr val="1C2238"/>
                          </a:solidFill>
                          <a:latin typeface="Calibri"/>
                        </a:defRPr>
                      </a:pPr>
                      <a:r>
                        <a:t>338 kHz at −3 dB</a:t>
                      </a:r>
                    </a:p>
                  </a:txBody>
                  <a:tcPr anchor="ctr">
                    <a:solidFill>
                      <a:srgbClr val="F3F5FA"/>
                    </a:solidFill>
                  </a:tcPr>
                </a:tc>
              </a:tr>
              <a:tr h="329184">
                <a:tc>
                  <a:txBody>
                    <a:bodyPr/>
                    <a:lstStyle/>
                    <a:p>
                      <a:pPr>
                        <a:defRPr sz="1050">
                          <a:solidFill>
                            <a:srgbClr val="1C2238"/>
                          </a:solidFill>
                          <a:latin typeface="Calibri"/>
                        </a:defRPr>
                      </a:pPr>
                      <a:r>
                        <a:t>Phase margin</a:t>
                      </a:r>
                    </a:p>
                  </a:txBody>
                  <a:tcPr anchor="ctr">
                    <a:solidFill>
                      <a:srgbClr val="FFFFFF"/>
                    </a:solidFill>
                  </a:tcPr>
                </a:tc>
                <a:tc>
                  <a:txBody>
                    <a:bodyPr/>
                    <a:lstStyle/>
                    <a:p>
                      <a:pPr>
                        <a:defRPr sz="1050">
                          <a:solidFill>
                            <a:srgbClr val="1C2238"/>
                          </a:solidFill>
                          <a:latin typeface="Calibri"/>
                        </a:defRPr>
                      </a:pPr>
                      <a:r>
                        <a:t>74° (unity gain at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not slew limited: a 2 V step rises at 102 V/µs (schematic) and 562 V/µs (layout) against the 456 V/µs the bandwidth alone allows — the band sets it, not the output current</a:t>
                      </a:r>
                    </a:p>
                  </a:txBody>
                  <a:tcPr anchor="ctr">
                    <a:solidFill>
                      <a:srgbClr val="F3F5FA"/>
                    </a:solidFill>
                  </a:tcPr>
                </a:tc>
              </a:tr>
              <a:tr h="329184">
                <a:tc>
                  <a:txBody>
                    <a:bodyPr/>
                    <a:lstStyle/>
                    <a:p>
                      <a:pPr>
                        <a:defRPr sz="1050">
                          <a:solidFill>
                            <a:srgbClr val="1C2238"/>
                          </a:solidFill>
                          <a:latin typeface="Calibri"/>
                        </a:defRPr>
                      </a:pPr>
                      <a:r>
                        <a:t>Linearity</a:t>
                      </a:r>
                    </a:p>
                  </a:txBody>
                  <a:tcPr anchor="ctr">
                    <a:solidFill>
                      <a:srgbClr val="FFFFFF"/>
                    </a:solidFill>
                  </a:tcPr>
                </a:tc>
                <a:tc>
                  <a:txBody>
                    <a:bodyPr/>
                    <a:lstStyle/>
                    <a:p>
                      <a:pPr>
                        <a:defRPr sz="1050">
                          <a:solidFill>
                            <a:srgbClr val="1C2238"/>
                          </a:solidFill>
                          <a:latin typeface="Calibri"/>
                        </a:defRPr>
                      </a:pPr>
                      <a:r>
                        <a:t>INL 0.10 % over the 1–4 V output</a:t>
                      </a:r>
                    </a:p>
                  </a:txBody>
                  <a:tcPr anchor="ctr">
                    <a:solidFill>
                      <a:srgbClr val="FFFFFF"/>
                    </a:solidFill>
                  </a:tcPr>
                </a:tc>
              </a:tr>
              <a:tr h="329184">
                <a:tc>
                  <a:txBody>
                    <a:bodyPr/>
                    <a:lstStyle/>
                    <a:p>
                      <a:pPr>
                        <a:defRPr sz="1050">
                          <a:solidFill>
                            <a:srgbClr val="1C2238"/>
                          </a:solidFill>
                          <a:latin typeface="Calibri"/>
                        </a:defRPr>
                      </a:pPr>
                      <a:r>
                        <a:t>Input-referred noise</a:t>
                      </a:r>
                    </a:p>
                  </a:txBody>
                  <a:tcPr anchor="ctr">
                    <a:solidFill>
                      <a:srgbClr val="F3F5FA"/>
                    </a:solidFill>
                  </a:tcPr>
                </a:tc>
                <a:tc>
                  <a:txBody>
                    <a:bodyPr/>
                    <a:lstStyle/>
                    <a:p>
                      <a:pPr>
                        <a:defRPr sz="1050">
                          <a:solidFill>
                            <a:srgbClr val="1C2238"/>
                          </a:solidFill>
                          <a:latin typeface="Calibri"/>
                        </a:defRPr>
                      </a:pPr>
                      <a:r>
                        <a:t>1.95 µV/√Hz at 1 kHz · 222 µVrms over 338 kHz</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12 (3 per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bias generator and the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does not compare against a fixed threshold: it compares two axes against each other.</a:t>
            </a:r>
          </a:p>
          <a:p>
            <a:pPr algn="l">
              <a:spcAft>
                <a:spcPts val="900"/>
              </a:spcAft>
            </a:pPr>
            <a:r>
              <a:rPr sz="1300" b="0">
                <a:solidFill>
                  <a:srgbClr val="1C2238"/>
                </a:solidFill>
                <a:latin typeface="Calibri"/>
              </a:rPr>
              <a:t>That is why three comparators serve three axes — X against Y, X against Z, Y against Z. The decoder needs the ORDER of the three, not their values.</a:t>
            </a:r>
          </a:p>
          <a:p>
            <a:pPr algn="l">
              <a:spcAft>
                <a:spcPts val="1100"/>
              </a:spcAft>
            </a:pPr>
            <a:r>
              <a:rPr sz="1300" b="1">
                <a:solidFill>
                  <a:srgbClr val="16256B"/>
                </a:solidFill>
                <a:latin typeface="Calibri"/>
              </a:rPr>
              <a:t>This is where the threshold that had to be corrected lives.</a:t>
            </a:r>
          </a:p>
          <a:p>
            <a:pPr algn="l">
              <a:spcAft>
                <a:spcPts val="900"/>
              </a:spcAft>
            </a:pPr>
            <a:r>
              <a:rPr sz="1300" b="0">
                <a:solidFill>
                  <a:srgbClr val="1C2238"/>
                </a:solidFill>
                <a:latin typeface="Calibri"/>
              </a:rPr>
              <a:t>The second of the three findings at the end came out of this block: the trip point was not where it was believed to be, and the fine sweep measured it.</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compares two axes against each other</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Input threshold</a:t>
                      </a:r>
                    </a:p>
                  </a:txBody>
                  <a:tcPr anchor="ctr">
                    <a:solidFill>
                      <a:srgbClr val="FFFFFF"/>
                    </a:solidFill>
                  </a:tcPr>
                </a:tc>
                <a:tc>
                  <a:txBody>
                    <a:bodyPr/>
                    <a:lstStyle/>
                    <a:p>
                      <a:pPr>
                        <a:defRPr sz="1050">
                          <a:solidFill>
                            <a:srgbClr val="1C2238"/>
                          </a:solidFill>
                          <a:latin typeface="Calibri"/>
                        </a:defRPr>
                      </a:pPr>
                      <a:r>
                        <a:t>+7 µV schematic / +62 µV layout (2.5 V crossing)</a:t>
                      </a:r>
                    </a:p>
                  </a:txBody>
                  <a:tcPr anchor="ctr">
                    <a:solidFill>
                      <a:srgbClr val="FFFFFF"/>
                    </a:solidFill>
                  </a:tcPr>
                </a:tc>
              </a:tr>
              <a:tr h="329184">
                <a:tc>
                  <a:txBody>
                    <a:bodyPr/>
                    <a:lstStyle/>
                    <a:p>
                      <a:pPr>
                        <a:defRPr sz="1050">
                          <a:solidFill>
                            <a:srgbClr val="1C2238"/>
                          </a:solidFill>
                          <a:latin typeface="Calibri"/>
                        </a:defRPr>
                      </a:pPr>
                      <a:r>
                        <a:t>Input for a high output</a:t>
                      </a:r>
                    </a:p>
                  </a:txBody>
                  <a:tcPr anchor="ctr">
                    <a:solidFill>
                      <a:srgbClr val="F3F5FA"/>
                    </a:solidFill>
                  </a:tcPr>
                </a:tc>
                <a:tc>
                  <a:txBody>
                    <a:bodyPr/>
                    <a:lstStyle/>
                    <a:p>
                      <a:pPr>
                        <a:defRPr sz="1050">
                          <a:solidFill>
                            <a:srgbClr val="1C2238"/>
                          </a:solidFill>
                          <a:latin typeface="Calibri"/>
                        </a:defRPr>
                      </a:pPr>
                      <a:r>
                        <a:t>+50 µV schematic / +104 µV layout (&gt;4.5 V)</a:t>
                      </a:r>
                    </a:p>
                  </a:txBody>
                  <a:tcPr anchor="ctr">
                    <a:solidFill>
                      <a:srgbClr val="F3F5FA"/>
                    </a:solidFill>
                  </a:tcPr>
                </a:tc>
              </a:tr>
              <a:tr h="329184">
                <a:tc>
                  <a:txBody>
                    <a:bodyPr/>
                    <a:lstStyle/>
                    <a:p>
                      <a:pPr>
                        <a:defRPr sz="1050">
                          <a:solidFill>
                            <a:srgbClr val="1C2238"/>
                          </a:solidFill>
                          <a:latin typeface="Calibri"/>
                        </a:defRPr>
                      </a:pPr>
                      <a:r>
                        <a:t>Decision delay</a:t>
                      </a:r>
                    </a:p>
                  </a:txBody>
                  <a:tcPr anchor="ctr">
                    <a:solidFill>
                      <a:srgbClr val="FFFFFF"/>
                    </a:solidFill>
                  </a:tcPr>
                </a:tc>
                <a:tc>
                  <a:txBody>
                    <a:bodyPr/>
                    <a:lstStyle/>
                    <a:p>
                      <a:pPr>
                        <a:defRPr sz="1050">
                          <a:solidFill>
                            <a:srgbClr val="1C2238"/>
                          </a:solidFill>
                          <a:latin typeface="Calibri"/>
                        </a:defRPr>
                      </a:pPr>
                      <a:r>
                        <a:t>399 ns mean, 456 ns worst case</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rising and falling (6.2 in layout); a straight ramp over the whole 601 ns edge</a:t>
                      </a:r>
                    </a:p>
                  </a:txBody>
                  <a:tcPr anchor="ctr">
                    <a:solidFill>
                      <a:srgbClr val="F3F5FA"/>
                    </a:solidFill>
                  </a:tcPr>
                </a:tc>
              </a:tr>
              <a:tr h="329184">
                <a:tc>
                  <a:txBody>
                    <a:bodyPr/>
                    <a:lstStyle/>
                    <a:p>
                      <a:pPr>
                        <a:defRPr sz="1050">
                          <a:solidFill>
                            <a:srgbClr val="1C2238"/>
                          </a:solidFill>
                          <a:latin typeface="Calibri"/>
                        </a:defRPr>
                      </a:pPr>
                      <a:r>
                        <a:t>Noise</a:t>
                      </a:r>
                    </a:p>
                  </a:txBody>
                  <a:tcPr anchor="ctr">
                    <a:solidFill>
                      <a:srgbClr val="FFFFFF"/>
                    </a:solidFill>
                  </a:tcPr>
                </a:tc>
                <a:tc>
                  <a:txBody>
                    <a:bodyPr/>
                    <a:lstStyle/>
                    <a:p>
                      <a:pPr>
                        <a:defRPr sz="1050">
                          <a:solidFill>
                            <a:srgbClr val="1C2238"/>
                          </a:solidFill>
                          <a:latin typeface="Calibri"/>
                        </a:defRPr>
                      </a:pPr>
                      <a:r>
                        <a:t>set by the amplifier ahead of it, not by this cell</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12 (3 per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SAME bias generator and its own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XY, XZ, YZ go in. X, Y or Z comes out.</a:t>
            </a:r>
          </a:p>
          <a:p>
            <a:pPr algn="l">
              <a:spcAft>
                <a:spcPts val="900"/>
              </a:spcAft>
            </a:pPr>
            <a:r>
              <a:rPr sz="1300" b="0">
                <a:solidFill>
                  <a:srgbClr val="1C2238"/>
                </a:solidFill>
                <a:latin typeface="Calibri"/>
              </a:rPr>
              <a:t>Pure logic: the three pairwise comparisons determine an order, and the order determines the winner. It is the smallest block in the chain and the lowest-power by three orders of magnitude.</a:t>
            </a:r>
          </a:p>
          <a:p>
            <a:pPr algn="l">
              <a:spcAft>
                <a:spcPts val="1100"/>
              </a:spcAft>
            </a:pPr>
            <a:r>
              <a:rPr sz="1300" b="1">
                <a:solidFill>
                  <a:srgbClr val="16256B"/>
                </a:solidFill>
                <a:latin typeface="Calibri"/>
              </a:rPr>
              <a:t>This is where the Z-axis problem showed up.</a:t>
            </a:r>
          </a:p>
          <a:p>
            <a:pPr algn="l">
              <a:spcAft>
                <a:spcPts val="900"/>
              </a:spcAft>
            </a:pPr>
            <a:r>
              <a:rPr sz="1300" b="0">
                <a:solidFill>
                  <a:srgbClr val="1C2238"/>
                </a:solidFill>
                <a:latin typeface="Calibri"/>
              </a:rPr>
              <a:t>Z could never win. What fixed it was not raising its weight but changing the order within each triple.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three comparisons to one winning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4 (one per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chains hung off the SAME six sensor nodes:</a:t>
            </a:r>
          </a:p>
          <a:p>
            <a:pPr algn="l">
              <a:spcAft>
                <a:spcPts val="900"/>
              </a:spcAft>
            </a:pPr>
            <a:r>
              <a:rPr sz="1700" b="0">
                <a:solidFill>
                  <a:srgbClr val="1C2238"/>
                </a:solidFill>
                <a:latin typeface="Calibri"/>
              </a:rPr>
              <a:t>G2 — the schematic GRADIENT2, with the 40 dB OPAM_LIN</a:t>
            </a:r>
          </a:p>
          <a:p>
            <a:pPr algn="l">
              <a:spcAft>
                <a:spcPts val="900"/>
              </a:spcAft>
            </a:pPr>
            <a:r>
              <a:rPr sz="1700" b="0">
                <a:solidFill>
                  <a:srgbClr val="1C2238"/>
                </a:solidFill>
                <a:latin typeface="Calibri"/>
              </a:rPr>
              <a:t>G4 — the same circuit rebuilt from the v2 layout, with OPAM_LIN_flat and extracted with RC parasitics</a:t>
            </a:r>
          </a:p>
          <a:p>
            <a:pPr algn="l">
              <a:spcAft>
                <a:spcPts val="1100"/>
              </a:spcAft>
            </a:pPr>
            <a:r>
              <a:rPr sz="1700" b="1">
                <a:solidFill>
                  <a:srgbClr val="16256B"/>
                </a:solidFill>
                <a:latin typeface="Calibri"/>
              </a:rPr>
              <a:t>It is the same amplifier drawn two ways.</a:t>
            </a:r>
          </a:p>
          <a:p>
            <a:pPr algn="l">
              <a:spcAft>
                <a:spcPts val="900"/>
              </a:spcAft>
            </a:pPr>
            <a:r>
              <a:rPr sz="1700" b="0">
                <a:solidFill>
                  <a:srgbClr val="1C2238"/>
                </a:solidFill>
                <a:latin typeface="Calibri"/>
              </a:rPr>
              <a:t>So every comparison in this section is layout against schematic, never one amplifier against another.</a:t>
            </a:r>
          </a:p>
          <a:p>
            <a:pPr algn="l">
              <a:spcAft>
                <a:spcPts val="1100"/>
              </a:spcAft>
            </a:pPr>
            <a:r>
              <a:rPr sz="1700" b="1">
                <a:solidFill>
                  <a:srgbClr val="16256B"/>
                </a:solidFill>
                <a:latin typeface="Calibri"/>
              </a:rPr>
              <a:t>What it measures: the three fields are 120° apart, sum to zero, and the vector only changes direction.</a:t>
            </a:r>
          </a:p>
          <a:p>
            <a:pPr algn="l">
              <a:spcAft>
                <a:spcPts val="900"/>
              </a:spcAft>
            </a:pPr>
            <a:r>
              <a:rPr sz="1700" b="0">
                <a:solidFill>
                  <a:srgbClr val="1C2238"/>
                </a:solidFill>
                <a:latin typeface="Calibri"/>
              </a:rPr>
              <a:t>Sweeping 0 to 360° each axis should win a sector of exactly 120°. The figures are how far those three boundaries drift and on what percentage of the sweep the decoded axis is the right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SENSING TRACEABILITY</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One signal, four stages: bridge → amplifier → comparator →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SAME signal is followed through the sensing block's four stages.</a:t>
            </a:r>
          </a:p>
          <a:p>
            <a:pPr algn="l">
              <a:spcAft>
                <a:spcPts val="900"/>
              </a:spcAft>
            </a:pPr>
            <a:r>
              <a:rPr sz="1300" b="0">
                <a:solidFill>
                  <a:srgbClr val="1C2238"/>
                </a:solidFill>
                <a:latin typeface="Calibri"/>
              </a:rPr>
              <a:t>The bench already records every intermediate node, including the ones with no name: the comparator outputs are probed hierarchically.</a:t>
            </a:r>
          </a:p>
          <a:p>
            <a:pPr algn="l">
              <a:spcAft>
                <a:spcPts val="1100"/>
              </a:spcAft>
            </a:pPr>
            <a:r>
              <a:rPr sz="1300" b="1">
                <a:solidFill>
                  <a:srgbClr val="16256B"/>
                </a:solidFill>
                <a:latin typeface="Calibri"/>
              </a:rPr>
              <a:t>At each stage, schematic and layout on top of each other.</a:t>
            </a:r>
          </a:p>
          <a:p>
            <a:pPr algn="l">
              <a:spcAft>
                <a:spcPts val="900"/>
              </a:spcAft>
            </a:pPr>
            <a:r>
              <a:rPr sz="1300" b="0">
                <a:solidFill>
                  <a:srgbClr val="1C2238"/>
                </a:solidFill>
                <a:latin typeface="Calibri"/>
              </a:rPr>
              <a:t>Only the linear amplifier: G2, the schematic, against G4, the layout.</a:t>
            </a:r>
          </a:p>
          <a:p>
            <a:pPr algn="l">
              <a:spcAft>
                <a:spcPts val="1100"/>
              </a:spcAft>
            </a:pPr>
            <a:r>
              <a:rPr sz="1300" b="1">
                <a:solidFill>
                  <a:srgbClr val="16256B"/>
                </a:solidFill>
                <a:latin typeface="Calibri"/>
              </a:rPr>
              <a:t>And at the end, on what percentage of the sweep the decoded axis is the right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patterns — swept PAST saturation on purpose, so these percentages are not the ones elsewhere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48926"/>
            <a:ext cx="11057839" cy="4047115"/>
          </a:xfrm>
          <a:prstGeom prst="rect">
            <a:avLst/>
          </a:prstGeom>
        </p:spPr>
      </p:pic>
      <p:sp>
        <p:nvSpPr>
          <p:cNvPr id="6" name="TextBox 5"/>
          <p:cNvSpPr txBox="1"/>
          <p:nvPr/>
        </p:nvSpPr>
        <p:spPr>
          <a:xfrm>
            <a:off x="566928" y="596919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WHY SOME CASES FAIL AND OTHERS DO NOT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24 cases, grouped by the condition that tells them apart.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692640" cy="1975104"/>
        </p:xfrm>
        <a:graphic>
          <a:graphicData uri="http://schemas.openxmlformats.org/drawingml/2006/table">
            <a:tbl>
              <a:tblPr firstRow="1" bandRow="1">
                <a:tableStyleId>{5C22544A-7EE6-4342-B048-85BDC9FD1C3A}</a:tableStyleId>
              </a:tblPr>
              <a:tblGrid>
                <a:gridCol w="1938528"/>
                <a:gridCol w="1938528"/>
                <a:gridCol w="1938528"/>
                <a:gridCol w="1938528"/>
                <a:gridCol w="1938528"/>
              </a:tblGrid>
              <a:tr h="329184">
                <a:tc>
                  <a:txBody>
                    <a:bodyPr/>
                    <a:lstStyle/>
                    <a:p>
                      <a:pPr>
                        <a:defRPr sz="1200" b="1">
                          <a:solidFill>
                            <a:srgbClr val="FFFFFF"/>
                          </a:solidFill>
                          <a:latin typeface="Calibri"/>
                        </a:defRPr>
                      </a:pPr>
                      <a:r>
                        <a:t>The two contending for smallest</a:t>
                      </a:r>
                    </a:p>
                  </a:txBody>
                  <a:tcPr anchor="ctr">
                    <a:solidFill>
                      <a:srgbClr val="16256B"/>
                    </a:solidFill>
                  </a:tcPr>
                </a:tc>
                <a:tc>
                  <a:txBody>
                    <a:bodyPr/>
                    <a:lstStyle/>
                    <a:p>
                      <a:pPr>
                        <a:defRPr sz="1200" b="1">
                          <a:solidFill>
                            <a:srgbClr val="FFFFFF"/>
                          </a:solidFill>
                          <a:latin typeface="Calibri"/>
                        </a:defRPr>
                      </a:pPr>
                      <a:r>
                        <a:t>Cases</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Reach</a:t>
                      </a:r>
                    </a:p>
                  </a:txBody>
                  <a:tcPr anchor="ctr">
                    <a:solidFill>
                      <a:srgbClr val="16256B"/>
                    </a:solidFill>
                  </a:tcPr>
                </a:tc>
              </a:tr>
              <a:tr h="329184">
                <a:tc>
                  <a:txBody>
                    <a:bodyPr/>
                    <a:lstStyle/>
                    <a:p>
                      <a:pPr>
                        <a:defRPr sz="1200">
                          <a:solidFill>
                            <a:srgbClr val="1C2238"/>
                          </a:solidFill>
                          <a:latin typeface="Calibri"/>
                        </a:defRPr>
                      </a:pPr>
                      <a:r>
                        <a:t>to OPPOSITE rails, larger one at 0.6</a:t>
                      </a:r>
                    </a:p>
                  </a:txBody>
                  <a:tcPr anchor="ctr">
                    <a:solidFill>
                      <a:srgbClr val="F3F5FA"/>
                    </a:solidFill>
                  </a:tcPr>
                </a:tc>
                <a:tc>
                  <a:txBody>
                    <a:bodyPr/>
                    <a:lstStyle/>
                    <a:p>
                      <a:pPr>
                        <a:defRPr sz="1200">
                          <a:solidFill>
                            <a:srgbClr val="1C2238"/>
                          </a:solidFill>
                          <a:latin typeface="Calibri"/>
                        </a:defRPr>
                      </a:pPr>
                      <a:r>
                        <a:t>6</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to OPPOSITE rails, larger one at 1.0</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both heading UP, larger one at 0.6</a:t>
                      </a:r>
                    </a:p>
                  </a:txBody>
                  <a:tcPr anchor="ctr">
                    <a:solidFill>
                      <a:srgbClr val="F3F5FA"/>
                    </a:solidFill>
                  </a:tcPr>
                </a:tc>
                <a:tc>
                  <a:txBody>
                    <a:bodyPr/>
                    <a:lstStyle/>
                    <a:p>
                      <a:pPr>
                        <a:defRPr sz="1200">
                          <a:solidFill>
                            <a:srgbClr val="1C2238"/>
                          </a:solidFill>
                          <a:latin typeface="Calibri"/>
                        </a:defRPr>
                      </a:pPr>
                      <a:r>
                        <a:t>3</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both heading DOWN, larger one at 0.6</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both heading DOWN, larger one at 1.0</a:t>
                      </a:r>
                    </a:p>
                  </a:txBody>
                  <a:tcPr anchor="ctr">
                    <a:solidFill>
                      <a:srgbClr val="F3F5FA"/>
                    </a:solidFill>
                  </a:tcPr>
                </a:tc>
                <a:tc>
                  <a:txBody>
                    <a:bodyPr/>
                    <a:lstStyle/>
                    <a:p>
                      <a:pPr>
                        <a:defRPr sz="1200">
                          <a:solidFill>
                            <a:srgbClr val="1C2238"/>
                          </a:solidFill>
                          <a:latin typeface="Calibri"/>
                        </a:defRPr>
                      </a:pPr>
                      <a:r>
                        <a:t>9</a:t>
                      </a:r>
                    </a:p>
                  </a:txBody>
                  <a:tcPr anchor="ctr">
                    <a:solidFill>
                      <a:srgbClr val="F3F5FA"/>
                    </a:solidFill>
                  </a:tcPr>
                </a:tc>
                <a:tc>
                  <a:txBody>
                    <a:bodyPr/>
                    <a:lstStyle/>
                    <a:p>
                      <a:pPr>
                        <a:defRPr sz="1200">
                          <a:solidFill>
                            <a:srgbClr val="1C2238"/>
                          </a:solidFill>
                          <a:latin typeface="Calibri"/>
                        </a:defRPr>
                      </a:pPr>
                      <a:r>
                        <a:t>86.2 %</a:t>
                      </a:r>
                    </a:p>
                  </a:txBody>
                  <a:tcPr anchor="ctr">
                    <a:solidFill>
                      <a:srgbClr val="F3F5FA"/>
                    </a:solidFill>
                  </a:tcPr>
                </a:tc>
                <a:tc>
                  <a:txBody>
                    <a:bodyPr/>
                    <a:lstStyle/>
                    <a:p>
                      <a:pPr>
                        <a:defRPr sz="1200">
                          <a:solidFill>
                            <a:srgbClr val="1C2238"/>
                          </a:solidFill>
                          <a:latin typeface="Calibri"/>
                        </a:defRPr>
                      </a:pPr>
                      <a:r>
                        <a:t>83.6 %</a:t>
                      </a:r>
                    </a:p>
                  </a:txBody>
                  <a:tcPr anchor="ctr">
                    <a:solidFill>
                      <a:srgbClr val="F3F5FA"/>
                    </a:solidFill>
                  </a:tcPr>
                </a:tc>
                <a:tc>
                  <a:txBody>
                    <a:bodyPr/>
                    <a:lstStyle/>
                    <a:p>
                      <a:pPr>
                        <a:defRPr sz="1200">
                          <a:solidFill>
                            <a:srgbClr val="1C2238"/>
                          </a:solidFill>
                          <a:latin typeface="Calibri"/>
                        </a:defRPr>
                      </a:pPr>
                      <a:r>
                        <a:t>1.38 / 1.26 %</a:t>
                      </a:r>
                    </a:p>
                  </a:txBody>
                  <a:tcPr anchor="ctr">
                    <a:solidFill>
                      <a:srgbClr val="F3F5FA"/>
                    </a:solidFill>
                  </a:tcPr>
                </a:tc>
              </a:tr>
            </a:tbl>
          </a:graphicData>
        </a:graphic>
      </p:graphicFrame>
      <p:sp>
        <p:nvSpPr>
          <p:cNvPr id="6" name="TextBox 5"/>
          <p:cNvSpPr txBox="1"/>
          <p:nvPr/>
        </p:nvSpPr>
        <p:spPr>
          <a:xfrm>
            <a:off x="566928" y="4041648"/>
            <a:ext cx="11057839" cy="231343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The amplifier rests at 0.72 V: 4.24 V of room upward and only 0.68 downward. That is why BOTH conditions have to hold — heading down AND at full scale — for it to fail; with either one alone it is always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 EVERYTHING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2026-09-07 run, with where each figure comes from.</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058400" cy="3291840"/>
        </p:xfrm>
        <a:graphic>
          <a:graphicData uri="http://schemas.openxmlformats.org/drawingml/2006/table">
            <a:tbl>
              <a:tblPr firstRow="1" bandRow="1">
                <a:tableStyleId>{5C22544A-7EE6-4342-B048-85BDC9FD1C3A}</a:tableStyleId>
              </a:tblPr>
              <a:tblGrid>
                <a:gridCol w="2514600"/>
                <a:gridCol w="2514600"/>
                <a:gridCol w="2514600"/>
                <a:gridCol w="2514600"/>
              </a:tblGrid>
              <a:tr h="329184">
                <a:tc>
                  <a:txBody>
                    <a:bodyPr/>
                    <a:lstStyle/>
                    <a:p>
                      <a:pPr>
                        <a:defRPr sz="1200" b="1">
                          <a:solidFill>
                            <a:srgbClr val="FFFFFF"/>
                          </a:solidFill>
                          <a:latin typeface="Calibri"/>
                        </a:defRPr>
                      </a:pPr>
                      <a:r>
                        <a:t>Measurement</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Where it comes from</a:t>
                      </a:r>
                    </a:p>
                  </a:txBody>
                  <a:tcPr anchor="ctr">
                    <a:solidFill>
                      <a:srgbClr val="16256B"/>
                    </a:solidFill>
                  </a:tcPr>
                </a:tc>
              </a:tr>
              <a:tr h="329184">
                <a:tc>
                  <a:txBody>
                    <a:bodyPr/>
                    <a:lstStyle/>
                    <a:p>
                      <a:pPr>
                        <a:defRPr sz="1200">
                          <a:solidFill>
                            <a:srgbClr val="1C2238"/>
                          </a:solidFill>
                          <a:latin typeface="Calibri"/>
                        </a:defRPr>
                      </a:pPr>
                      <a:r>
                        <a:t>Decoded axis correct, rotation sweep</a:t>
                      </a:r>
                    </a:p>
                  </a:txBody>
                  <a:tcPr anchor="ctr">
                    <a:solidFill>
                      <a:srgbClr val="F3F5FA"/>
                    </a:solidFill>
                  </a:tcPr>
                </a:tc>
                <a:tc>
                  <a:txBody>
                    <a:bodyPr/>
                    <a:lstStyle/>
                    <a:p>
                      <a:pPr>
                        <a:defRPr sz="1200">
                          <a:solidFill>
                            <a:srgbClr val="1C2238"/>
                          </a:solidFill>
                          <a:latin typeface="Calibri"/>
                        </a:defRPr>
                      </a:pPr>
                      <a:r>
                        <a:t>95.42 %</a:t>
                      </a:r>
                    </a:p>
                  </a:txBody>
                  <a:tcPr anchor="ctr">
                    <a:solidFill>
                      <a:srgbClr val="F3F5FA"/>
                    </a:solidFill>
                  </a:tcPr>
                </a:tc>
                <a:tc>
                  <a:txBody>
                    <a:bodyPr/>
                    <a:lstStyle/>
                    <a:p>
                      <a:pPr>
                        <a:defRPr sz="1200">
                          <a:solidFill>
                            <a:srgbClr val="1C2238"/>
                          </a:solidFill>
                          <a:latin typeface="Calibri"/>
                        </a:defRPr>
                      </a:pPr>
                      <a:r>
                        <a:t>93.34 %</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Schematic and layout agree</a:t>
                      </a:r>
                    </a:p>
                  </a:txBody>
                  <a:tcPr anchor="ctr">
                    <a:solidFill>
                      <a:srgbClr val="FFFFFF"/>
                    </a:solidFill>
                  </a:tcPr>
                </a:tc>
                <a:tc>
                  <a:txBody>
                    <a:bodyPr/>
                    <a:lstStyle/>
                    <a:p>
                      <a:pPr>
                        <a:defRPr sz="1200">
                          <a:solidFill>
                            <a:srgbClr val="1C2238"/>
                          </a:solidFill>
                          <a:latin typeface="Calibri"/>
                        </a:defRPr>
                      </a:pPr>
                      <a:r>
                        <a:t>97.92 % of the sweep</a:t>
                      </a:r>
                    </a:p>
                  </a:txBody>
                  <a:tcPr anchor="ctr">
                    <a:solidFill>
                      <a:srgbClr val="FFFFFF"/>
                    </a:solidFill>
                  </a:tcPr>
                </a:tc>
                <a:tc>
                  <a:txBody>
                    <a:bodyPr/>
                    <a:lstStyle/>
                    <a:p>
                      <a:pPr>
                        <a:defRPr sz="1200">
                          <a:solidFill>
                            <a:srgbClr val="1C2238"/>
                          </a:solidFill>
                          <a:latin typeface="Calibri"/>
                        </a:defRPr>
                      </a:pPr>
                      <a:r>
                        <a:t>7.5° of disagreement</a:t>
                      </a:r>
                    </a:p>
                  </a:txBody>
                  <a:tcPr anchor="ctr">
                    <a:solidFill>
                      <a:srgbClr val="FFFFFF"/>
                    </a:solidFill>
                  </a:tcPr>
                </a:tc>
                <a:tc>
                  <a:txBody>
                    <a:bodyPr/>
                    <a:lstStyle/>
                    <a:p>
                      <a:pPr>
                        <a:defRPr sz="1200">
                          <a:solidFill>
                            <a:srgbClr val="1C2238"/>
                          </a:solidFill>
                          <a:latin typeface="Calibri"/>
                        </a:defRPr>
                      </a:pPr>
                      <a:r>
                        <a:t>figuras_trazabilidad.py</a:t>
                      </a:r>
                    </a:p>
                  </a:txBody>
                  <a:tcPr anchor="ctr">
                    <a:solidFill>
                      <a:srgbClr val="FFFFFF"/>
                    </a:solidFill>
                  </a:tcPr>
                </a:tc>
              </a:tr>
              <a:tr h="329184">
                <a:tc>
                  <a:txBody>
                    <a:bodyPr/>
                    <a:lstStyle/>
                    <a:p>
                      <a:pPr>
                        <a:defRPr sz="1200">
                          <a:solidFill>
                            <a:srgbClr val="1C2238"/>
                          </a:solidFill>
                          <a:latin typeface="Calibri"/>
                        </a:defRPr>
                      </a:pPr>
                      <a:r>
                        <a:t>Sector boundary error</a:t>
                      </a:r>
                    </a:p>
                  </a:txBody>
                  <a:tcPr anchor="ctr">
                    <a:solidFill>
                      <a:srgbClr val="F3F5FA"/>
                    </a:solidFill>
                  </a:tcPr>
                </a:tc>
                <a:tc>
                  <a:txBody>
                    <a:bodyPr/>
                    <a:lstStyle/>
                    <a:p>
                      <a:pPr>
                        <a:defRPr sz="1200">
                          <a:solidFill>
                            <a:srgbClr val="1C2238"/>
                          </a:solidFill>
                          <a:latin typeface="Calibri"/>
                        </a:defRPr>
                      </a:pPr>
                      <a:r>
                        <a:t>5.25°</a:t>
                      </a:r>
                    </a:p>
                  </a:txBody>
                  <a:tcPr anchor="ctr">
                    <a:solidFill>
                      <a:srgbClr val="F3F5FA"/>
                    </a:solidFill>
                  </a:tcPr>
                </a:tc>
                <a:tc>
                  <a:txBody>
                    <a:bodyPr/>
                    <a:lstStyle/>
                    <a:p>
                      <a:pPr>
                        <a:defRPr sz="1200">
                          <a:solidFill>
                            <a:srgbClr val="1C2238"/>
                          </a:solidFill>
                          <a:latin typeface="Calibri"/>
                        </a:defRPr>
                      </a:pPr>
                      <a:r>
                        <a:t>7.75°</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The 24 octant cases, saturation included</a:t>
                      </a:r>
                    </a:p>
                  </a:txBody>
                  <a:tcPr anchor="ctr">
                    <a:solidFill>
                      <a:srgbClr val="FFFFFF"/>
                    </a:solidFill>
                  </a:tcPr>
                </a:tc>
                <a:tc>
                  <a:txBody>
                    <a:bodyPr/>
                    <a:lstStyle/>
                    <a:p>
                      <a:pPr>
                        <a:defRPr sz="1200">
                          <a:solidFill>
                            <a:srgbClr val="1C2238"/>
                          </a:solidFill>
                          <a:latin typeface="Calibri"/>
                        </a:defRPr>
                      </a:pPr>
                      <a:r>
                        <a:t>94.8 %</a:t>
                      </a:r>
                    </a:p>
                  </a:txBody>
                  <a:tcPr anchor="ctr">
                    <a:solidFill>
                      <a:srgbClr val="FFFFFF"/>
                    </a:solidFill>
                  </a:tcPr>
                </a:tc>
                <a:tc>
                  <a:txBody>
                    <a:bodyPr/>
                    <a:lstStyle/>
                    <a:p>
                      <a:pPr>
                        <a:defRPr sz="1200">
                          <a:solidFill>
                            <a:srgbClr val="1C2238"/>
                          </a:solidFill>
                          <a:latin typeface="Calibri"/>
                        </a:defRPr>
                      </a:pPr>
                      <a:r>
                        <a:t>93.8 %</a:t>
                      </a:r>
                    </a:p>
                  </a:txBody>
                  <a:tcPr anchor="ctr">
                    <a:solidFill>
                      <a:srgbClr val="FFFFFF"/>
                    </a:solidFill>
                  </a:tcPr>
                </a:tc>
                <a:tc>
                  <a:txBody>
                    <a:bodyPr/>
                    <a:lstStyle/>
                    <a:p>
                      <a:pPr>
                        <a:defRPr sz="1200">
                          <a:solidFill>
                            <a:srgbClr val="1C2238"/>
                          </a:solidFill>
                          <a:latin typeface="Calibri"/>
                        </a:defRPr>
                      </a:pPr>
                      <a:r>
                        <a:t>figuras_octantes.py</a:t>
                      </a:r>
                    </a:p>
                  </a:txBody>
                  <a:tcPr anchor="ctr">
                    <a:solidFill>
                      <a:srgbClr val="FFFFFF"/>
                    </a:solidFill>
                  </a:tcPr>
                </a:tc>
              </a:tr>
              <a:tr h="329184">
                <a:tc>
                  <a:txBody>
                    <a:bodyPr/>
                    <a:lstStyle/>
                    <a:p>
                      <a:pPr>
                        <a:defRPr sz="1200">
                          <a:solidFill>
                            <a:srgbClr val="1C2238"/>
                          </a:solidFill>
                          <a:latin typeface="Calibri"/>
                        </a:defRPr>
                      </a:pPr>
                      <a:r>
                        <a:t>Reach in dR/R outside the bad corner</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figuras_limite.py</a:t>
                      </a:r>
                    </a:p>
                  </a:txBody>
                  <a:tcPr anchor="ctr">
                    <a:solidFill>
                      <a:srgbClr val="F3F5FA"/>
                    </a:solidFill>
                  </a:tcPr>
                </a:tc>
              </a:tr>
              <a:tr h="329184">
                <a:tc>
                  <a:txBody>
                    <a:bodyPr/>
                    <a:lstStyle/>
                    <a:p>
                      <a:pPr>
                        <a:defRPr sz="1200">
                          <a:solidFill>
                            <a:srgbClr val="1C2238"/>
                          </a:solidFill>
                          <a:latin typeface="Calibri"/>
                        </a:defRPr>
                      </a:pPr>
                      <a:r>
                        <a:t>… and inside it</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c>
                  <a:txBody>
                    <a:bodyPr/>
                    <a:lstStyle/>
                    <a:p>
                      <a:pPr>
                        <a:defRPr sz="1200">
                          <a:solidFill>
                            <a:srgbClr val="1C2238"/>
                          </a:solidFill>
                          <a:latin typeface="Calibri"/>
                        </a:defRPr>
                      </a:pPr>
                      <a:r>
                        <a:t>figuras_limite.py</a:t>
                      </a:r>
                    </a:p>
                  </a:txBody>
                  <a:tcPr anchor="ctr">
                    <a:solidFill>
                      <a:srgbClr val="FFFFFF"/>
                    </a:solidFill>
                  </a:tcPr>
                </a:tc>
              </a:tr>
              <a:tr h="329184">
                <a:tc>
                  <a:txBody>
                    <a:bodyPr/>
                    <a:lstStyle/>
                    <a:p>
                      <a:pPr>
                        <a:defRPr sz="1200">
                          <a:solidFill>
                            <a:srgbClr val="1C2238"/>
                          </a:solidFill>
                          <a:latin typeface="Calibri"/>
                        </a:defRPr>
                      </a:pPr>
                      <a:r>
                        <a:t>Noise floor of the amplifier</a:t>
                      </a:r>
                    </a:p>
                  </a:txBody>
                  <a:tcPr anchor="ctr">
                    <a:solidFill>
                      <a:srgbClr val="F3F5FA"/>
                    </a:solidFill>
                  </a:tcPr>
                </a:tc>
                <a:tc>
                  <a:txBody>
                    <a:bodyPr/>
                    <a:lstStyle/>
                    <a:p>
                      <a:pPr>
                        <a:defRPr sz="1200">
                          <a:solidFill>
                            <a:srgbClr val="1C2238"/>
                          </a:solidFill>
                          <a:latin typeface="Calibri"/>
                        </a:defRPr>
                      </a:pPr>
                      <a:r>
                        <a:t>44.4 ppm of dR/R</a:t>
                      </a:r>
                    </a:p>
                  </a:txBody>
                  <a:tcPr anchor="ctr">
                    <a:solidFill>
                      <a:srgbClr val="F3F5FA"/>
                    </a:solidFill>
                  </a:tcPr>
                </a:tc>
                <a:tc>
                  <a:txBody>
                    <a:bodyPr/>
                    <a:lstStyle/>
                    <a:p>
                      <a:pPr>
                        <a:defRPr sz="1200">
                          <a:solidFill>
                            <a:srgbClr val="1C2238"/>
                          </a:solidFill>
                          <a:latin typeface="Calibri"/>
                        </a:defRPr>
                      </a:pPr>
                      <a:r>
                        <a:t>222 µVrms input referred</a:t>
                      </a:r>
                    </a:p>
                  </a:txBody>
                  <a:tcPr anchor="ctr">
                    <a:solidFill>
                      <a:srgbClr val="F3F5FA"/>
                    </a:solidFill>
                  </a:tcPr>
                </a:tc>
                <a:tc>
                  <a:txBody>
                    <a:bodyPr/>
                    <a:lstStyle/>
                    <a:p>
                      <a:pPr>
                        <a:defRPr sz="1200">
                          <a:solidFill>
                            <a:srgbClr val="1C2238"/>
                          </a:solidFill>
                          <a:latin typeface="Calibri"/>
                        </a:defRPr>
                      </a:pPr>
                      <a:r>
                        <a:t>figuras_campo.py</a:t>
                      </a:r>
                    </a:p>
                  </a:txBody>
                  <a:tcPr anchor="ctr">
                    <a:solidFill>
                      <a:srgbClr val="F3F5FA"/>
                    </a:solidFill>
                  </a:tcPr>
                </a:tc>
              </a:tr>
              <a:tr h="329184">
                <a:tc>
                  <a:txBody>
                    <a:bodyPr/>
                    <a:lstStyle/>
                    <a:p>
                      <a:pPr>
                        <a:defRPr sz="1200">
                          <a:solidFill>
                            <a:srgbClr val="1C2238"/>
                          </a:solidFill>
                          <a:latin typeface="Calibri"/>
                        </a:defRPr>
                      </a:pPr>
                      <a:r>
                        <a:t>Amplifier: gain and quiescent output</a:t>
                      </a:r>
                    </a:p>
                  </a:txBody>
                  <a:tcPr anchor="ctr">
                    <a:solidFill>
                      <a:srgbClr val="FFFFFF"/>
                    </a:solidFill>
                  </a:tcPr>
                </a:tc>
                <a:tc>
                  <a:txBody>
                    <a:bodyPr/>
                    <a:lstStyle/>
                    <a:p>
                      <a:pPr>
                        <a:defRPr sz="1200">
                          <a:solidFill>
                            <a:srgbClr val="1C2238"/>
                          </a:solidFill>
                          <a:latin typeface="Calibri"/>
                        </a:defRPr>
                      </a:pPr>
                      <a:r>
                        <a:t>494 V/V on dR/R</a:t>
                      </a:r>
                    </a:p>
                  </a:txBody>
                  <a:tcPr anchor="ctr">
                    <a:solidFill>
                      <a:srgbClr val="FFFFFF"/>
                    </a:solidFill>
                  </a:tcPr>
                </a:tc>
                <a:tc>
                  <a:txBody>
                    <a:bodyPr/>
                    <a:lstStyle/>
                    <a:p>
                      <a:pPr>
                        <a:defRPr sz="1200">
                          <a:solidFill>
                            <a:srgbClr val="1C2238"/>
                          </a:solidFill>
                          <a:latin typeface="Calibri"/>
                        </a:defRPr>
                      </a:pPr>
                      <a:r>
                        <a:t>0.72 V (4.24 ↑ / 0.68 ↓)</a:t>
                      </a:r>
                    </a:p>
                  </a:txBody>
                  <a:tcPr anchor="ctr">
                    <a:solidFill>
                      <a:srgbClr val="FFFFFF"/>
                    </a:solidFill>
                  </a:tcPr>
                </a:tc>
                <a:tc>
                  <a:txBody>
                    <a:bodyPr/>
                    <a:lstStyle/>
                    <a:p>
                      <a:pPr>
                        <a:defRPr sz="1200">
                          <a:solidFill>
                            <a:srgbClr val="1C2238"/>
                          </a:solidFill>
                          <a:latin typeface="Calibri"/>
                        </a:defRPr>
                      </a:pPr>
                      <a:r>
                        <a:t>oct_*.txt</a:t>
                      </a:r>
                    </a:p>
                  </a:txBody>
                  <a:tcPr anchor="ctr">
                    <a:solidFill>
                      <a:srgbClr val="FFFFFF"/>
                    </a:solidFill>
                  </a:tcPr>
                </a:tc>
              </a:tr>
              <a:tr h="329184">
                <a:tc>
                  <a:txBody>
                    <a:bodyPr/>
                    <a:lstStyle/>
                    <a:p>
                      <a:pPr>
                        <a:defRPr sz="1200">
                          <a:solidFill>
                            <a:srgbClr val="1C2238"/>
                          </a:solidFill>
                          <a:latin typeface="Calibri"/>
                        </a:defRPr>
                      </a:pPr>
                      <a:r>
                        <a:t>Chain power, fine window</a:t>
                      </a:r>
                    </a:p>
                  </a:txBody>
                  <a:tcPr anchor="ctr">
                    <a:solidFill>
                      <a:srgbClr val="F3F5FA"/>
                    </a:solidFill>
                  </a:tcPr>
                </a:tc>
                <a:tc>
                  <a:txBody>
                    <a:bodyPr/>
                    <a:lstStyle/>
                    <a:p>
                      <a:pPr>
                        <a:defRPr sz="1200">
                          <a:solidFill>
                            <a:srgbClr val="1C2238"/>
                          </a:solidFill>
                          <a:latin typeface="Calibri"/>
                        </a:defRPr>
                      </a:pPr>
                      <a:r>
                        <a:t>17.851 mW</a:t>
                      </a:r>
                    </a:p>
                  </a:txBody>
                  <a:tcPr anchor="ctr">
                    <a:solidFill>
                      <a:srgbClr val="F3F5FA"/>
                    </a:solidFill>
                  </a:tcPr>
                </a:tc>
                <a:tc>
                  <a:txBody>
                    <a:bodyPr/>
                    <a:lstStyle/>
                    <a:p>
                      <a:pPr>
                        <a:defRPr sz="1200">
                          <a:solidFill>
                            <a:srgbClr val="1C2238"/>
                          </a:solidFill>
                          <a:latin typeface="Calibri"/>
                        </a:defRPr>
                      </a:pPr>
                      <a:r>
                        <a:t>17.286 mW</a:t>
                      </a:r>
                    </a:p>
                  </a:txBody>
                  <a:tcPr anchor="ctr">
                    <a:solidFill>
                      <a:srgbClr val="F3F5FA"/>
                    </a:solidFill>
                  </a:tcPr>
                </a:tc>
                <a:tc>
                  <a:txBody>
                    <a:bodyPr/>
                    <a:lstStyle/>
                    <a:p>
                      <a:pPr>
                        <a:defRPr sz="1200">
                          <a:solidFill>
                            <a:srgbClr val="1C2238"/>
                          </a:solidFill>
                          <a:latin typeface="Calibri"/>
                        </a:defRPr>
                      </a:pPr>
                      <a:r>
                        <a:t>analizar.py</a:t>
                      </a:r>
                    </a:p>
                  </a:txBody>
                  <a:tcPr anchor="ctr">
                    <a:solidFill>
                      <a:srgbClr val="F3F5FA"/>
                    </a:solidFill>
                  </a:tcPr>
                </a:tc>
              </a:tr>
            </a:tbl>
          </a:graphicData>
        </a:graphic>
      </p:graphicFrame>
      <p:sp>
        <p:nvSpPr>
          <p:cNvPr id="6" name="TextBox 5"/>
          <p:cNvSpPr txBox="1"/>
          <p:nvPr/>
        </p:nvSpPr>
        <p:spPr>
          <a:xfrm>
            <a:off x="566928" y="5321807"/>
            <a:ext cx="11057839" cy="1033273"/>
          </a:xfrm>
          <a:prstGeom prst="rect">
            <a:avLst/>
          </a:prstGeom>
          <a:noFill/>
        </p:spPr>
        <p:txBody>
          <a:bodyPr wrap="square" lIns="0" rIns="0" tIns="0" bIns="0" anchor="ctr">
            <a:spAutoFit/>
          </a:bodyPr>
          <a:lstStyle/>
          <a:p>
            <a:pPr algn="l">
              <a:spcAft>
                <a:spcPts val="900"/>
              </a:spcAft>
            </a:pPr>
            <a:r>
              <a:rPr sz="1200" b="0">
                <a:solidFill>
                  <a:srgbClr val="1C2238"/>
                </a:solidFill>
                <a:latin typeface="Calibri"/>
              </a:rPr>
              <a:t>That last column matters: these come from different scripts with different denominators. The 95.42 % counts the whole sweep; the 94.8 % counts 24 amplitude cases; the reach is the dR/R up to which it never fails once. Mixing them silently is how two things that do not compare end up compared.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 bench built to push that one failure to its limit, and nothing else.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_sensado.png"/>
          <p:cNvPicPr>
            <a:picLocks noChangeAspect="1"/>
          </p:cNvPicPr>
          <p:nvPr/>
        </p:nvPicPr>
        <p:blipFill>
          <a:blip r:embed="rId2"/>
          <a:stretch>
            <a:fillRect/>
          </a:stretch>
        </p:blipFill>
        <p:spPr>
          <a:xfrm>
            <a:off x="1432517" y="1572768"/>
            <a:ext cx="9326661" cy="3566160"/>
          </a:xfrm>
          <a:prstGeom prst="rect">
            <a:avLst/>
          </a:prstGeom>
        </p:spPr>
      </p:pic>
      <p:sp>
        <p:nvSpPr>
          <p:cNvPr id="6" name="TextBox 5"/>
          <p:cNvSpPr txBox="1"/>
          <p:nvPr/>
        </p:nvSpPr>
        <p:spPr>
          <a:xfrm>
            <a:off x="566928" y="52120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test_GRADIENT.sch, bloque LIMIT CASES — 12 corridas</a:t>
            </a:r>
          </a:p>
        </p:txBody>
      </p:sp>
      <p:sp>
        <p:nvSpPr>
          <p:cNvPr id="7" name="TextBox 6"/>
          <p:cNvSpPr txBox="1"/>
          <p:nvPr/>
        </p:nvSpPr>
        <p:spPr>
          <a:xfrm>
            <a:off x="566928" y="5230368"/>
            <a:ext cx="11057839" cy="1124712"/>
          </a:xfrm>
          <a:prstGeom prst="rect">
            <a:avLst/>
          </a:prstGeom>
          <a:noFill/>
        </p:spPr>
        <p:txBody>
          <a:bodyPr wrap="square" lIns="0" rIns="0" tIns="0" bIns="0" anchor="ctr">
            <a:spAutoFit/>
          </a:bodyPr>
          <a:lstStyle/>
          <a:p>
            <a:pPr algn="l">
              <a:spcAft>
                <a:spcPts val="900"/>
              </a:spcAft>
            </a:pPr>
            <a:r>
              <a:rPr sz="1150" b="0">
                <a:solidFill>
                  <a:srgbClr val="1C2238"/>
                </a:solidFill>
                <a:latin typeface="Calibri"/>
              </a:rPr>
              <a:t>Three families with the SAME margin between the two contenders and the third reading parked where it cannot compete: A pair down at full scale, B pair down at half, C pair up at half. A against B separates the rail from the size; B against C separates the two rails at equal size.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vote counter: four chains vote, one axis sums.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Four inputs of EQUAL weight, one output.</a:t>
            </a:r>
          </a:p>
          <a:p>
            <a:pPr algn="l">
              <a:spcAft>
                <a:spcPts val="900"/>
              </a:spcAft>
            </a:pPr>
            <a:r>
              <a:rPr sz="1300" b="0">
                <a:solidFill>
                  <a:srgbClr val="1C2238"/>
                </a:solidFill>
                <a:latin typeface="Calibri"/>
              </a:rPr>
              <a:t>Each of the four GRADIENT2 chains votes on this axis, and the block counts the votes in current mode: the branches add by joining wires, so counting costs no extra stage. All four carry the same ~170 µA: what comes out depends on HOW MANY vote, not on which.</a:t>
            </a:r>
          </a:p>
          <a:p>
            <a:pPr algn="l">
              <a:spcAft>
                <a:spcPts val="1100"/>
              </a:spcAft>
            </a:pPr>
            <a:r>
              <a:rPr sz="1300" b="1">
                <a:solidFill>
                  <a:srgbClr val="16256B"/>
                </a:solidFill>
                <a:latin typeface="Calibri"/>
              </a:rPr>
              <a:t>The axis is claimed from 2 of 4 votes on.</a:t>
            </a:r>
          </a:p>
          <a:p>
            <a:pPr algn="l">
              <a:spcAft>
                <a:spcPts val="900"/>
              </a:spcAft>
            </a:pPr>
            <a:r>
              <a:rPr sz="1300" b="0">
                <a:solidFill>
                  <a:srgbClr val="1C2238"/>
                </a:solidFill>
                <a:latin typeface="Calibri"/>
              </a:rPr>
              <a:t>A FIFTH branch does that: an exact copy of the others with its gate tied to VDD. Always adding one, N real votes read as N+1 and the trip drops from 3 of 4 to 2 of 4, which is the decision the chip has to make with four chains and three axes.</a:t>
            </a:r>
          </a:p>
          <a:p>
            <a:pPr algn="l">
              <a:spcAft>
                <a:spcPts val="1100"/>
              </a:spcAft>
            </a:pPr>
            <a:r>
              <a:rPr sz="1300" b="1">
                <a:solidFill>
                  <a:srgbClr val="16256B"/>
                </a:solidFill>
                <a:latin typeface="Calibri"/>
              </a:rPr>
              <a:t>It is a leaf: no sub-blocks.</a:t>
            </a:r>
          </a:p>
          <a:p>
            <a:pPr algn="l">
              <a:spcAft>
                <a:spcPts val="900"/>
              </a:spcAft>
            </a:pPr>
            <a:r>
              <a:rPr sz="1300" b="0">
                <a:solidFill>
                  <a:srgbClr val="1C2238"/>
                </a:solidFill>
                <a:latin typeface="Calibri"/>
              </a:rPr>
              <a:t>17 n devices and 2 p, drawn by hand. The WE output is the summing node, and it is what leaves through the X, Y or Z analogue pad.</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sums the four votes of one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Devices</a:t>
                      </a:r>
                    </a:p>
                  </a:txBody>
                  <a:tcPr anchor="ctr">
                    <a:solidFill>
                      <a:srgbClr val="FFFFFF"/>
                    </a:solidFill>
                  </a:tcPr>
                </a:tc>
                <a:tc>
                  <a:txBody>
                    <a:bodyPr/>
                    <a:lstStyle/>
                    <a:p>
                      <a:pPr>
                        <a:defRPr sz="1050">
                          <a:solidFill>
                            <a:srgbClr val="1C2238"/>
                          </a:solidFill>
                          <a:latin typeface="Calibri"/>
                        </a:defRPr>
                      </a:pPr>
                      <a:r>
                        <a:t>17 nfet_06v0 + 2 pfet_06v0 (five branches: four votes and one fixed)</a:t>
                      </a:r>
                    </a:p>
                  </a:txBody>
                  <a:tcPr anchor="ctr">
                    <a:solidFill>
                      <a:srgbClr val="FFFFFF"/>
                    </a:solidFill>
                  </a:tcPr>
                </a:tc>
              </a:tr>
              <a:tr h="329184">
                <a:tc>
                  <a:txBody>
                    <a:bodyPr/>
                    <a:lstStyle/>
                    <a:p>
                      <a:pPr>
                        <a:defRPr sz="1050">
                          <a:solidFill>
                            <a:srgbClr val="1C2238"/>
                          </a:solidFill>
                          <a:latin typeface="Calibri"/>
                        </a:defRPr>
                      </a:pPr>
                      <a:r>
                        <a:t>Decision threshold</a:t>
                      </a:r>
                    </a:p>
                  </a:txBody>
                  <a:tcPr anchor="ctr">
                    <a:solidFill>
                      <a:srgbClr val="F3F5FA"/>
                    </a:solidFill>
                  </a:tcPr>
                </a:tc>
                <a:tc>
                  <a:txBody>
                    <a:bodyPr/>
                    <a:lstStyle/>
                    <a:p>
                      <a:pPr>
                        <a:defRPr sz="1050">
                          <a:solidFill>
                            <a:srgbClr val="1C2238"/>
                          </a:solidFill>
                          <a:latin typeface="Calibri"/>
                        </a:defRPr>
                      </a:pPr>
                      <a:r>
                        <a:t>2 of 4 votes</a:t>
                      </a:r>
                    </a:p>
                  </a:txBody>
                  <a:tcPr anchor="ctr">
                    <a:solidFill>
                      <a:srgbClr val="F3F5FA"/>
                    </a:solidFill>
                  </a:tcPr>
                </a:tc>
              </a:tr>
              <a:tr h="329184">
                <a:tc>
                  <a:txBody>
                    <a:bodyPr/>
                    <a:lstStyle/>
                    <a:p>
                      <a:pPr>
                        <a:defRPr sz="1050">
                          <a:solidFill>
                            <a:srgbClr val="1C2238"/>
                          </a:solidFill>
                          <a:latin typeface="Calibri"/>
                        </a:defRPr>
                      </a:pPr>
                      <a:r>
                        <a:t>Branch current</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45.34 × 25.00 µm = 0.0011 mm² (WEIGHT_COMP cell, with COMP_OUT)</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3 (one per axis)</a:t>
                      </a:r>
                    </a:p>
                  </a:txBody>
                  <a:tcPr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output stage: three inverters and the axis's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takes the summing node up to digital levels.</a:t>
            </a:r>
          </a:p>
          <a:p>
            <a:pPr algn="l">
              <a:spcAft>
                <a:spcPts val="900"/>
              </a:spcAft>
            </a:pPr>
            <a:r>
              <a:rPr sz="1300" b="0">
                <a:solidFill>
                  <a:srgbClr val="1C2238"/>
                </a:solidFill>
                <a:latin typeface="Calibri"/>
              </a:rPr>
              <a:t>Three inverters in a chain: the first decides, the rest give edge rate and drive. Out of it come the axis's two signals, the direct one and its complement.</a:t>
            </a:r>
          </a:p>
          <a:p>
            <a:pPr algn="l">
              <a:spcAft>
                <a:spcPts val="1100"/>
              </a:spcAft>
            </a:pPr>
            <a:r>
              <a:rPr sz="1300" b="1">
                <a:solidFill>
                  <a:srgbClr val="16256B"/>
                </a:solidFill>
                <a:latin typeface="Calibri"/>
              </a:rPr>
              <a:t>That is why the outputs come in pairs.</a:t>
            </a:r>
          </a:p>
          <a:p>
            <a:pPr algn="l">
              <a:spcAft>
                <a:spcPts val="900"/>
              </a:spcAft>
            </a:pPr>
            <a:r>
              <a:rPr sz="1300" b="0">
                <a:solidFill>
                  <a:srgbClr val="1C2238"/>
                </a:solidFill>
                <a:latin typeface="Calibri"/>
              </a:rPr>
              <a:t>XP/XN, YP/YN, ZP/ZN reach the pad rail to rail, which is why they take a digital pad and not an analogue one.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buffers the vote and gives its complement</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Sub-blocks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shared with WEIGHT in the WEIGHT_COMP cell</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3 (one per axis)</a:t>
                      </a:r>
                    </a:p>
                  </a:txBody>
                  <a:tcPr anchor="ctr">
                    <a:solidFill>
                      <a:srgbClr val="F3F5FA"/>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COMP_OUT's sub-block: the inverter.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SECONDARY PROTECTION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Eleven instances, one per analogue pad.</a:t>
            </a:r>
          </a:p>
          <a:p>
            <a:pPr algn="l">
              <a:spcAft>
                <a:spcPts val="900"/>
              </a:spcAft>
            </a:pPr>
            <a:r>
              <a:rPr sz="1300" b="0">
                <a:solidFill>
                  <a:srgbClr val="1C2238"/>
                </a:solidFill>
                <a:latin typeface="Calibri"/>
              </a:rPr>
              <a:t>The PDK's analogue pads carry HBM diodes only, so the CDM network — a series poly resistor plus diodes — is ours to add, and it goes BESIDE the pad: whatever sits between pad and clamp is unprotected.</a:t>
            </a:r>
          </a:p>
          <a:p>
            <a:pPr algn="l">
              <a:spcAft>
                <a:spcPts val="1100"/>
              </a:spcAft>
            </a:pPr>
            <a:r>
              <a:rPr sz="1300" b="1">
                <a:solidFill>
                  <a:srgbClr val="16256B"/>
                </a:solidFill>
                <a:latin typeface="Calibri"/>
              </a:rPr>
              <a:t>The circuit is the organisers'; the drawing is ours.</a:t>
            </a:r>
          </a:p>
          <a:p>
            <a:pPr algn="l">
              <a:spcAft>
                <a:spcPts val="900"/>
              </a:spcAft>
            </a:pPr>
            <a:r>
              <a:rPr sz="1300" b="0">
                <a:solidFill>
                  <a:srgbClr val="1C2238"/>
                </a:solidFill>
                <a:latin typeface="Calibri"/>
              </a:rPr>
              <a:t>All three of their published cells violate MSLOT.1, and nobody had seen it because the PDK's mslot table crashes before reaching them. Ours is 1762 µm² against 6457: about 52,000 µm² of user area back.</a:t>
            </a:r>
          </a:p>
          <a:p>
            <a:pPr algn="l">
              <a:spcAft>
                <a:spcPts val="1100"/>
              </a:spcAft>
            </a:pPr>
            <a:r>
              <a:rPr sz="1300" b="1">
                <a:solidFill>
                  <a:srgbClr val="16256B"/>
                </a:solidFill>
                <a:latin typeface="Calibri"/>
              </a:rPr>
              <a:t>This is where the n-wells were merged.</a:t>
            </a:r>
          </a:p>
          <a:p>
            <a:pPr algn="l">
              <a:spcAft>
                <a:spcPts val="900"/>
              </a:spcAft>
            </a:pPr>
            <a:r>
              <a:rPr sz="1300" b="0">
                <a:solidFill>
                  <a:srgbClr val="1C2238"/>
                </a:solidFill>
                <a:latin typeface="Calibri"/>
              </a:rPr>
              <a:t>The four wells sat 1.330 µm apart, which is fine only if the checker knows they are equipotential. They are one well now and it passes in both modes.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FULL-SYSTEM RESULTS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whole system, always layout against schematic.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navigators on the same eight sensor nodes:</a:t>
            </a:r>
          </a:p>
          <a:p>
            <a:pPr algn="l">
              <a:spcAft>
                <a:spcPts val="900"/>
              </a:spcAft>
            </a:pPr>
            <a:r>
              <a:rPr sz="1700" b="0">
                <a:solidFill>
                  <a:srgbClr val="1C2238"/>
                </a:solidFill>
                <a:latin typeface="Calibri"/>
              </a:rPr>
              <a:t>N_esq — the schematic GRADIENT_NAV2, supply VDDS</a:t>
            </a:r>
          </a:p>
          <a:p>
            <a:pPr algn="l">
              <a:spcAft>
                <a:spcPts val="900"/>
              </a:spcAft>
            </a:pPr>
            <a:r>
              <a:rPr sz="1700" b="0">
                <a:solidFill>
                  <a:srgbClr val="1C2238"/>
                </a:solidFill>
                <a:latin typeface="Calibri"/>
              </a:rPr>
              <a:t>N_lay — the same circuit rebuilt from the v2 layout and extracted WITH RC PARASITICS, supply VDDR</a:t>
            </a:r>
          </a:p>
          <a:p>
            <a:pPr algn="l">
              <a:spcAft>
                <a:spcPts val="1100"/>
              </a:spcAft>
            </a:pPr>
            <a:r>
              <a:rPr sz="1700" b="1">
                <a:solidFill>
                  <a:srgbClr val="16256B"/>
                </a:solidFill>
                <a:latin typeface="Calibri"/>
              </a:rPr>
              <a:t>Four sensors at 0, 90, 180 and 270°, and the field turning from 0 to 360°.</a:t>
            </a:r>
          </a:p>
          <a:p>
            <a:pPr algn="l">
              <a:spcAft>
                <a:spcPts val="900"/>
              </a:spcAft>
            </a:pPr>
            <a:r>
              <a:rPr sz="1700" b="0">
                <a:solidFill>
                  <a:srgbClr val="1C2238"/>
                </a:solidFill>
                <a:latin typeface="Calibri"/>
              </a:rPr>
              <a:t>Each of the four chains reads THREE of the four sensors, in different combinations, and the three weights combine their outputs.</a:t>
            </a:r>
          </a:p>
          <a:p>
            <a:pPr algn="l">
              <a:spcAft>
                <a:spcPts val="1100"/>
              </a:spcAft>
            </a:pPr>
            <a:r>
              <a:rPr sz="1700" b="1">
                <a:solidFill>
                  <a:srgbClr val="16256B"/>
                </a:solidFill>
                <a:latin typeface="Calibri"/>
              </a:rPr>
              <a:t>What it measures: on what percentage of the sweep the nine schematic outputs agree with the layout ones, and where they do not, how many degrees wide the disagreement is.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points from 0 to 360°. The dashed orange is the layout extracted with parasitics.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six digital outputs agree on 99.58 % of the sweep.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The six digital outputs agree on 99.58 % of the sweep.</a:t>
            </a:r>
          </a:p>
          <a:p>
            <a:pPr algn="l">
              <a:spcAft>
                <a:spcPts val="900"/>
              </a:spcAft>
            </a:pPr>
            <a:r>
              <a:rPr sz="1700" b="0">
                <a:solidFill>
                  <a:srgbClr val="1C2238"/>
                </a:solidFill>
                <a:latin typeface="Calibri"/>
              </a:rPr>
              <a:t>The layout's four GRADIENT2 blocks, extracted with RC parasitics, decide what the schematic's do. The whole analogue chain - amplifier, comparator, decoder - reproduces the schematic.</a:t>
            </a:r>
          </a:p>
          <a:p>
            <a:pPr algn="l">
              <a:spcAft>
                <a:spcPts val="1100"/>
              </a:spcAft>
            </a:pPr>
            <a:r>
              <a:rPr sz="1700" b="1">
                <a:solidFill>
                  <a:srgbClr val="16256B"/>
                </a:solidFill>
                <a:latin typeface="Calibri"/>
              </a:rPr>
              <a:t>All three axes level: 99.72 % each.</a:t>
            </a:r>
          </a:p>
          <a:p>
            <a:pPr algn="l">
              <a:spcAft>
                <a:spcPts val="900"/>
              </a:spcAft>
            </a:pPr>
            <a:r>
              <a:rPr sz="1700" b="0">
                <a:solidFill>
                  <a:srgbClr val="1C2238"/>
                </a:solidFill>
                <a:latin typeface="Calibri"/>
              </a:rPr>
              <a:t>In the earlier version they were 99.45 % on X and Y and 98.89 % on Z - Z lagged. With the v3 port order the three come level, and the disagreement drops from 2-4 degrees to 1.5, all of it on the sector boundaries where the decision is on a knife edge.</a:t>
            </a:r>
          </a:p>
          <a:p>
            <a:pPr algn="l">
              <a:spcAft>
                <a:spcPts val="1100"/>
              </a:spcAft>
            </a:pPr>
            <a:r>
              <a:rPr sz="1700" b="1">
                <a:solidFill>
                  <a:srgbClr val="16256B"/>
                </a:solidFill>
                <a:latin typeface="Calibri"/>
              </a:rPr>
              <a:t>Worst-case deviation at the counter node: 693.8 mV.</a:t>
            </a:r>
          </a:p>
          <a:p>
            <a:pPr algn="l">
              <a:spcAft>
                <a:spcPts val="900"/>
              </a:spcAft>
            </a:pPr>
            <a:r>
              <a:rPr sz="1700" b="0">
                <a:solidFill>
                  <a:srgbClr val="1C2238"/>
                </a:solidFill>
                <a:latin typeface="Calibri"/>
              </a:rPr>
              <a:t>Power: 74.85 mW schematic, 74.82 mW layout. Three hundredths apart: the RC parasitics do not move the operating point appreciably.</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64626"/>
            <a:ext cx="5391759" cy="2117668"/>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2651" y="1572768"/>
            <a:ext cx="550639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digital pins: three decisions and their complements.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high means «this axis wins». XN is its inverse, not «the other sense».</a:t>
            </a:r>
          </a:p>
          <a:p>
            <a:pPr algn="l">
              <a:spcAft>
                <a:spcPts val="900"/>
              </a:spcAft>
            </a:pPr>
            <a:r>
              <a:rPr sz="1700" b="0">
                <a:solidFill>
                  <a:srgbClr val="1C2238"/>
                </a:solidFill>
                <a:latin typeface="Calibri"/>
              </a:rPr>
              <a:t>COMP_OUT is OUT = buffer(IN) and OUT_N = NOT(IN), instantiated as x8 VDD XN X XP VSS. The pair is redundant by construction: reading XP is enough, and XN is there to drive the H-bridge directly.</a:t>
            </a:r>
          </a:p>
          <a:p>
            <a:pPr algn="l">
              <a:spcAft>
                <a:spcPts val="1100"/>
              </a:spcAft>
            </a:pPr>
            <a:r>
              <a:rPr sz="1700" b="1">
                <a:solidFill>
                  <a:srgbClr val="16256B"/>
                </a:solidFill>
                <a:latin typeface="Calibri"/>
              </a:rPr>
              <a:t>The chip answers WHICH AXIS, not which way along it.</a:t>
            </a:r>
          </a:p>
          <a:p>
            <a:pPr algn="l">
              <a:spcAft>
                <a:spcPts val="900"/>
              </a:spcAft>
            </a:pPr>
            <a:r>
              <a:rPr sz="1700" b="0">
                <a:solidFill>
                  <a:srgbClr val="1C2238"/>
                </a:solidFill>
                <a:latin typeface="Calibri"/>
              </a:rPr>
              <a:t>The decoder puts out the axis whose bridge reads LEAST, the vertex upstream of the gradient. That identifies one axis out of three, not one sense out of six.</a:t>
            </a:r>
          </a:p>
          <a:p>
            <a:pPr algn="l">
              <a:spcAft>
                <a:spcPts val="1100"/>
              </a:spcAft>
            </a:pPr>
            <a:r>
              <a:rPr sz="1700" b="1">
                <a:solidFill>
                  <a:srgbClr val="16256B"/>
                </a:solidFill>
                <a:latin typeface="Calibri"/>
              </a:rPr>
              <a:t>Telling +X from −X needs one more comparison.</a:t>
            </a:r>
          </a:p>
          <a:p>
            <a:pPr algn="l">
              <a:spcAft>
                <a:spcPts val="900"/>
              </a:spcAft>
            </a:pPr>
            <a:r>
              <a:rPr sz="1700" b="0">
                <a:solidFill>
                  <a:srgbClr val="1C2238"/>
                </a:solidFill>
                <a:latin typeface="Calibri"/>
              </a:rPr>
              <a:t>That is what GRADIENT_NAV3 adds, comparing components instead of readings, and it does give the six senses. It is not instantiated on this die.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sweep, with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the same stimulus, GRADIENT_NAV2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 —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 — EARLIER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four sensors sit at the vertices of the tetrahedron inscribed in a box Lxy × Lxy × Lz.</a:t>
            </a:r>
          </a:p>
          <a:p>
            <a:pPr algn="l">
              <a:spcAft>
                <a:spcPts val="900"/>
              </a:spcAft>
            </a:pPr>
            <a:r>
              <a:rPr sz="1300" b="0">
                <a:solidFill>
                  <a:srgbClr val="1C2238"/>
                </a:solidFill>
                <a:latin typeface="Calibri"/>
              </a:rPr>
              <a:t>Six combinations: Lxy of 1000, 2000 and 3000 µm, and Lz of 500 and 1000 µm.</a:t>
            </a:r>
          </a:p>
          <a:p>
            <a:pPr algn="l">
              <a:spcAft>
                <a:spcPts val="1100"/>
              </a:spcAft>
            </a:pPr>
            <a:r>
              <a:rPr sz="1300" b="1">
                <a:solidFill>
                  <a:srgbClr val="16256B"/>
                </a:solidFill>
                <a:latin typeface="Calibri"/>
              </a:rPr>
              <a:t>1 · Resolution.</a:t>
            </a:r>
          </a:p>
          <a:p>
            <a:pPr algn="l">
              <a:spcAft>
                <a:spcPts val="900"/>
              </a:spcAft>
            </a:pPr>
            <a:r>
              <a:rPr sz="1300" b="0">
                <a:solidFill>
                  <a:srgbClr val="1C2238"/>
                </a:solidFill>
                <a:latin typeface="Calibri"/>
              </a:rPr>
              <a:t>For each box and each gradient level the direction is swept 360° and we count on what fraction it gets the axis right. From that curve comes one number: the smallest gradient at which accuracy reaches 95 %. It captures both limits at once — from below the comparator offset, from above the amplifier's saturation — without depending on any borrowed definition.</a:t>
            </a:r>
          </a:p>
          <a:p>
            <a:pPr algn="l">
              <a:spcAft>
                <a:spcPts val="1100"/>
              </a:spcAft>
            </a:pPr>
            <a:r>
              <a:rPr sz="1300" b="1">
                <a:solidFill>
                  <a:srgbClr val="16256B"/>
                </a:solidFill>
                <a:latin typeface="Calibri"/>
              </a:rPr>
              <a:t>2 · The same in the X-Y plane, where Lz plays no part.</a:t>
            </a:r>
          </a:p>
          <a:p>
            <a:pPr algn="l">
              <a:spcAft>
                <a:spcPts val="900"/>
              </a:spcAft>
            </a:pPr>
            <a:r>
              <a:rPr sz="1300" b="0">
                <a:solidFill>
                  <a:srgbClr val="1C2238"/>
                </a:solidFill>
                <a:latin typeface="Calibri"/>
              </a:rPr>
              <a:t>It separates the x-y resolution from the z one.</a:t>
            </a:r>
          </a:p>
          <a:p>
            <a:pPr algn="l">
              <a:spcAft>
                <a:spcPts val="1100"/>
              </a:spcAft>
            </a:pPr>
            <a:r>
              <a:rPr sz="1300" b="1">
                <a:solidFill>
                  <a:srgbClr val="16256B"/>
                </a:solidFill>
                <a:latin typeface="Calibri"/>
              </a:rPr>
              <a:t>3 · Background.</a:t>
            </a:r>
          </a:p>
          <a:p>
            <a:pPr algn="l">
              <a:spcAft>
                <a:spcPts val="900"/>
              </a:spcAft>
            </a:pPr>
            <a:r>
              <a:rPr sz="1300" b="0">
                <a:solidFill>
                  <a:srgbClr val="1C2238"/>
                </a:solidFill>
                <a:latin typeface="Calibri"/>
              </a:rPr>
              <a:t>Earth's field is common to all four sensors, so it cancels in the comparison but NOT in the amplifier, which sees all of it. It is swept to find the level at which the measurement is lost.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XSCHEM_v3/test_NAV3_geo.sch — las dos versiones sobre el mismo estímulo</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Box Lxy × Lz [µm]</a:t>
                      </a:r>
                    </a:p>
                  </a:txBody>
                  <a:tcPr anchor="ctr">
                    <a:solidFill>
                      <a:srgbClr val="16256B"/>
                    </a:solidFill>
                  </a:tcPr>
                </a:tc>
                <a:tc>
                  <a:txBody>
                    <a:bodyPr/>
                    <a:lstStyle/>
                    <a:p>
                      <a:pPr>
                        <a:defRPr sz="1200" b="1">
                          <a:solidFill>
                            <a:srgbClr val="FFFFFF"/>
                          </a:solidFill>
                          <a:latin typeface="Calibri"/>
                        </a:defRPr>
                      </a:pPr>
                      <a:r>
                        <a:t>Low gradient</a:t>
                      </a:r>
                    </a:p>
                  </a:txBody>
                  <a:tcPr anchor="ctr">
                    <a:solidFill>
                      <a:srgbClr val="16256B"/>
                    </a:solidFill>
                  </a:tcPr>
                </a:tc>
                <a:tc>
                  <a:txBody>
                    <a:bodyPr/>
                    <a:lstStyle/>
                    <a:p>
                      <a:pPr>
                        <a:defRPr sz="1200" b="1">
                          <a:solidFill>
                            <a:srgbClr val="FFFFFF"/>
                          </a:solidFill>
                          <a:latin typeface="Calibri"/>
                        </a:defRPr>
                      </a:pPr>
                      <a:r>
                        <a:t>High gradient</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At high gradient the 1000 × 1000 box reaches 97.8 %. Flattening the box (Lz 500) always costs accuracy, because the z axis ends up worse resolved than x-y.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Everything so far imposed a uniform gradient in a direction. Here the field comes from a source sitting somewhere and each sensor reads the magnitude at its own vertex.</a:t>
            </a:r>
          </a:p>
          <a:p>
            <a:pPr algn="l">
              <a:spcAft>
                <a:spcPts val="1100"/>
              </a:spcAft>
            </a:pPr>
            <a:r>
              <a:rPr sz="1300" b="1">
                <a:solidFill>
                  <a:srgbClr val="16256B"/>
                </a:solidFill>
                <a:latin typeface="Calibri"/>
              </a:rPr>
              <a:t>Two models, and the pair is the method:</a:t>
            </a:r>
          </a:p>
          <a:p>
            <a:pPr algn="l">
              <a:spcAft>
                <a:spcPts val="900"/>
              </a:spcAft>
            </a:pPr>
            <a:r>
              <a:rPr sz="1300" b="0">
                <a:solidFill>
                  <a:srgbClr val="1C2238"/>
                </a:solidFill>
                <a:latin typeface="Calibri"/>
              </a:rPr>
              <a:t>SYMMETRIC — |B| depends on distance only, so grad|B| points EXACTLY at the source. Whatever error comes out is the chip's.</a:t>
            </a:r>
          </a:p>
          <a:p>
            <a:pPr algn="l">
              <a:spcAft>
                <a:spcPts val="900"/>
              </a:spcAft>
            </a:pPr>
            <a:r>
              <a:rPr sz="1300" b="0">
                <a:solidFill>
                  <a:srgbClr val="1C2238"/>
                </a:solidFill>
                <a:latin typeface="Calibri"/>
              </a:rPr>
              <a:t>REAL DIPOLE — axis along +z. |B| depends on the angle too, and grad|B| does NOT point exactly at the source, not even with a perfect chip.</a:t>
            </a:r>
          </a:p>
          <a:p>
            <a:pPr algn="l">
              <a:spcAft>
                <a:spcPts val="1100"/>
              </a:spcAft>
            </a:pPr>
            <a:r>
              <a:rPr sz="1300" b="1">
                <a:solidFill>
                  <a:srgbClr val="16256B"/>
                </a:solidFill>
                <a:latin typeface="Calibri"/>
              </a:rPr>
              <a:t>The difference between the two numbers separates the error of the circuit from the error of the physics.</a:t>
            </a:r>
          </a:p>
          <a:p>
            <a:pPr algn="l">
              <a:spcAft>
                <a:spcPts val="900"/>
              </a:spcAft>
            </a:pPr>
            <a:r>
              <a:rPr sz="1300" b="0">
                <a:solidFill>
                  <a:srgbClr val="1C2238"/>
                </a:solidFill>
                <a:latin typeface="Calibri"/>
              </a:rPr>
              <a:t>Which is what you need before believing anything measured with a real magnet.</a:t>
            </a:r>
          </a:p>
          <a:p>
            <a:pPr algn="l">
              <a:spcAft>
                <a:spcPts val="900"/>
              </a:spcAft>
            </a:pPr>
            <a:r>
              <a:rPr sz="1300" b="0">
                <a:solidFill>
                  <a:srgbClr val="1C2238"/>
                </a:solidFill>
                <a:latin typeface="Calibri"/>
              </a:rPr>
              <a:t>42 sweeps: three distances, seven azimuths, both models.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FUENTE.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Accuracy falls with distance, as expected: the gradient weakens and the comparator offset weighs more.</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a:t>
                      </a:r>
                    </a:p>
                  </a:txBody>
                  <a:tcPr anchor="ctr">
                    <a:solidFill>
                      <a:srgbClr val="16256B"/>
                    </a:solidFill>
                  </a:tcPr>
                </a:tc>
                <a:tc>
                  <a:txBody>
                    <a:bodyPr/>
                    <a:lstStyle/>
                    <a:p>
                      <a:pPr>
                        <a:defRPr sz="1200" b="1">
                          <a:solidFill>
                            <a:srgbClr val="FFFFFF"/>
                          </a:solidFill>
                          <a:latin typeface="Calibri"/>
                        </a:defRPr>
                      </a:pPr>
                      <a:r>
                        <a:t>Distance</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Accuracy</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Read the LAST degrees column, not the first two. «Chip» is the angle out of the four simulated bridge voltages; «Ideal» is the same computation on analytical readings, with no circuit. Neither is zero, and the circuit is not why: the chip does not measure the gradient at a point, it takes a FINITE DIFFERENCE over a 1 mm box, and 3 mm from the source the field curves so sharply across that box that a perfect chip already misses by 14°. What the circuit adds is the difference: +0.25° at 3 mm, +7.48° at 12 mm.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PHYSICAL VERIFICATION</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connectivity and current density on the file that ships.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PHYSICAL VERIFICATION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Check</a:t>
                      </a:r>
                    </a:p>
                  </a:txBody>
                  <a:tcPr anchor="ctr">
                    <a:solidFill>
                      <a:srgbClr val="16256B"/>
                    </a:solidFill>
                  </a:tcPr>
                </a:tc>
                <a:tc>
                  <a:txBody>
                    <a:bodyPr/>
                    <a:lstStyle/>
                    <a:p>
                      <a:pPr>
                        <a:defRPr sz="1200" b="1">
                          <a:solidFill>
                            <a:srgbClr val="FFFFFF"/>
                          </a:solidFill>
                          <a:latin typeface="Calibri"/>
                        </a:defRPr>
                      </a:pPr>
                      <a:r>
                        <a:t>Result</a:t>
                      </a:r>
                    </a:p>
                  </a:txBody>
                  <a:tcPr anchor="ctr">
                    <a:solidFill>
                      <a:srgbClr val="16256B"/>
                    </a:solidFill>
                  </a:tcPr>
                </a:tc>
              </a:tr>
              <a:tr h="329184">
                <a:tc>
                  <a:txBody>
                    <a:bodyPr/>
                    <a:lstStyle/>
                    <a:p>
                      <a:pPr>
                        <a:defRPr sz="1200">
                          <a:solidFill>
                            <a:srgbClr val="1C2238"/>
                          </a:solidFill>
                          <a:latin typeface="Calibri"/>
                        </a:defRPr>
                      </a:pPr>
                      <a:r>
                        <a:t>Split-table DRC, 63 tables</a:t>
                      </a:r>
                    </a:p>
                  </a:txBody>
                  <a:tcPr anchor="ctr">
                    <a:solidFill>
                      <a:srgbClr val="F3F5FA"/>
                    </a:solidFill>
                  </a:tcPr>
                </a:tc>
                <a:tc>
                  <a:txBody>
                    <a:bodyPr/>
                    <a:lstStyle/>
                    <a:p>
                      <a:pPr>
                        <a:defRPr sz="1200">
                          <a:solidFill>
                            <a:srgbClr val="1C2238"/>
                          </a:solidFill>
                          <a:latin typeface="Calibri"/>
                        </a:defRPr>
                      </a:pPr>
                      <a:r>
                        <a:t>63 tables, 0 violations</a:t>
                      </a:r>
                    </a:p>
                  </a:txBody>
                  <a:tcPr anchor="ctr">
                    <a:solidFill>
                      <a:srgbClr val="F3F5FA"/>
                    </a:solidFill>
                  </a:tcPr>
                </a:tc>
              </a:tr>
              <a:tr h="329184">
                <a:tc>
                  <a:txBody>
                    <a:bodyPr/>
                    <a:lstStyle/>
                    <a:p>
                      <a:pPr>
                        <a:defRPr sz="1200">
                          <a:solidFill>
                            <a:srgbClr val="1C2238"/>
                          </a:solidFill>
                          <a:latin typeface="Calibri"/>
                        </a:defRPr>
                      </a:pPr>
                      <a:r>
                        <a:t>Density fill</a:t>
                      </a:r>
                    </a:p>
                  </a:txBody>
                  <a:tcPr anchor="ctr">
                    <a:solidFill>
                      <a:srgbClr val="FFFFFF"/>
                    </a:solidFill>
                  </a:tcPr>
                </a:tc>
                <a:tc>
                  <a:txBody>
                    <a:bodyPr/>
                    <a:lstStyle/>
                    <a:p>
                      <a:pPr>
                        <a:defRPr sz="1200">
                          <a:solidFill>
                            <a:srgbClr val="1C2238"/>
                          </a:solidFill>
                          <a:latin typeface="Calibri"/>
                        </a:defRPr>
                      </a:pPr>
                      <a:r>
                        <a:t>all 7 layers pass</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Connectivity</a:t>
                      </a:r>
                    </a:p>
                  </a:txBody>
                  <a:tcPr anchor="ctr">
                    <a:solidFill>
                      <a:srgbClr val="F3F5FA"/>
                    </a:solidFill>
                  </a:tcPr>
                </a:tc>
                <a:tc>
                  <a:txBody>
                    <a:bodyPr/>
                    <a:lstStyle/>
                    <a:p>
                      <a:pPr>
                        <a:defRPr sz="1200">
                          <a:solidFill>
                            <a:srgbClr val="1C2238"/>
                          </a:solidFill>
                          <a:latin typeface="Calibri"/>
                        </a:defRPr>
                      </a:pPr>
                      <a:r>
                        <a:t>17 of 17 signals, 11 through their clamp</a:t>
                      </a:r>
                    </a:p>
                  </a:txBody>
                  <a:tcPr anchor="ctr">
                    <a:solidFill>
                      <a:srgbClr val="F3F5FA"/>
                    </a:solidFill>
                  </a:tcPr>
                </a:tc>
              </a:tr>
              <a:tr h="329184">
                <a:tc>
                  <a:txBody>
                    <a:bodyPr/>
                    <a:lstStyle/>
                    <a:p>
                      <a:pPr>
                        <a:defRPr sz="1200">
                          <a:solidFill>
                            <a:srgbClr val="1C2238"/>
                          </a:solidFill>
                          <a:latin typeface="Calibri"/>
                        </a:defRPr>
                      </a:pPr>
                      <a:r>
                        <a:t>Tie-offs and supplies</a:t>
                      </a:r>
                    </a:p>
                  </a:txBody>
                  <a:tcPr anchor="ctr">
                    <a:solidFill>
                      <a:srgbClr val="FFFFFF"/>
                    </a:solidFill>
                  </a:tcPr>
                </a:tc>
                <a:tc>
                  <a:txBody>
                    <a:bodyPr/>
                    <a:lstStyle/>
                    <a:p>
                      <a:pPr>
                        <a:defRPr sz="1200">
                          <a:solidFill>
                            <a:srgbClr val="1C2238"/>
                          </a:solidFill>
                          <a:latin typeface="Calibri"/>
                        </a:defRPr>
                      </a:pPr>
                      <a:r>
                        <a:t>50 of 50 on the right rail</a:t>
                      </a:r>
                    </a:p>
                  </a:txBody>
                  <a:tcPr anchor="ctr">
                    <a:solidFill>
                      <a:srgbClr val="FFFFFF"/>
                    </a:solidFill>
                  </a:tcPr>
                </a:tc>
              </a:tr>
              <a:tr h="329184">
                <a:tc>
                  <a:txBody>
                    <a:bodyPr/>
                    <a:lstStyle/>
                    <a:p>
                      <a:pPr>
                        <a:defRPr sz="1200">
                          <a:solidFill>
                            <a:srgbClr val="1C2238"/>
                          </a:solidFill>
                          <a:latin typeface="Calibri"/>
                        </a:defRPr>
                      </a:pPr>
                      <a:r>
                        <a:t>Current density at 31 mA</a:t>
                      </a:r>
                    </a:p>
                  </a:txBody>
                  <a:tcPr anchor="ctr">
                    <a:solidFill>
                      <a:srgbClr val="F3F5FA"/>
                    </a:solidFill>
                  </a:tcPr>
                </a:tc>
                <a:tc>
                  <a:txBody>
                    <a:bodyPr/>
                    <a:lstStyle/>
                    <a:p>
                      <a:pPr>
                        <a:defRPr sz="1200">
                          <a:solidFill>
                            <a:srgbClr val="1C2238"/>
                          </a:solidFill>
                          <a:latin typeface="Calibri"/>
                        </a:defRPr>
                      </a:pPr>
                      <a:r>
                        <a:t>all 4 conductors, at the worst cut</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exactly one</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All of it measured on B26_A_filled4.gds, the file that ships, and archived under its own name. The sign-off DRC in both connectivity modes was run on the previous version, _filled3, and has NOT been re-run on this one: what is on _filled4 is the split-table deck, 63 tables, 0 violations.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Expected against measured, including what did not close.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EXPECTED AGAINST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Three things simulation found and the design corrected.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XP and XN were expected to match their names. They did not.</a:t>
            </a:r>
          </a:p>
          <a:p>
            <a:pPr algn="l">
              <a:spcAft>
                <a:spcPts val="900"/>
              </a:spcAft>
            </a:pPr>
            <a:r>
              <a:rPr sz="1300" b="0">
                <a:solidFill>
                  <a:srgbClr val="1C2238"/>
                </a:solidFill>
                <a:latin typeface="Calibri"/>
              </a:rPr>
              <a:t>The bench uncovered that they were swapped with respect to the label. Corrected in the schematic.</a:t>
            </a:r>
          </a:p>
          <a:p>
            <a:pPr algn="l">
              <a:spcAft>
                <a:spcPts val="1100"/>
              </a:spcAft>
            </a:pPr>
            <a:r>
              <a:rPr sz="1300" b="1">
                <a:solidFill>
                  <a:srgbClr val="16256B"/>
                </a:solidFill>
                <a:latin typeface="Calibri"/>
              </a:rPr>
              <a:t>2 · The decision threshold was expected to be centred. It was misplaced.</a:t>
            </a:r>
          </a:p>
          <a:p>
            <a:pPr algn="l">
              <a:spcAft>
                <a:spcPts val="900"/>
              </a:spcAft>
            </a:pPr>
            <a:r>
              <a:rPr sz="1300" b="0">
                <a:solidFill>
                  <a:srgbClr val="1C2238"/>
                </a:solidFill>
                <a:latin typeface="Calibri"/>
              </a:rPr>
              <a:t>The trip sweep measured it and it was readjusted.</a:t>
            </a:r>
          </a:p>
          <a:p>
            <a:pPr algn="l">
              <a:spcAft>
                <a:spcPts val="1100"/>
              </a:spcAft>
            </a:pPr>
            <a:r>
              <a:rPr sz="1300" b="1">
                <a:solidFill>
                  <a:srgbClr val="16256B"/>
                </a:solidFill>
                <a:latin typeface="Calibri"/>
              </a:rPr>
              <a:t>3 · The three axes were expected to compete on equal terms. Z could never win.</a:t>
            </a:r>
          </a:p>
          <a:p>
            <a:pPr algn="l">
              <a:spcAft>
                <a:spcPts val="900"/>
              </a:spcAft>
            </a:pPr>
            <a:r>
              <a:rPr sz="1300" b="0">
                <a:solidFill>
                  <a:srgbClr val="1C2238"/>
                </a:solidFill>
                <a:latin typeface="Calibri"/>
              </a:rPr>
              <a:t>And its own WEIGHT did not fix it: what fixed it was changing the order within each triple.</a:t>
            </a:r>
          </a:p>
          <a:p>
            <a:pPr algn="l">
              <a:spcAft>
                <a:spcPts val="1100"/>
              </a:spcAft>
            </a:pPr>
            <a:r>
              <a:rPr sz="1300" b="1">
                <a:solidFill>
                  <a:srgbClr val="16256B"/>
                </a:solidFill>
                <a:latin typeface="Calibri"/>
              </a:rPr>
              <a:t>All three were found by simulating, not by reviewing. That is the argument for the benches.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WHAT DID NOT CLOSE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Said as plainly as what went right.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KLayout LVS on the top does not finish the extraction.</a:t>
            </a:r>
          </a:p>
          <a:p>
            <a:pPr algn="l">
              <a:spcAft>
                <a:spcPts val="900"/>
              </a:spcAft>
            </a:pPr>
            <a:r>
              <a:rPr sz="1300" b="0">
                <a:solidFill>
                  <a:srgbClr val="1C2238"/>
                </a:solidFill>
                <a:latin typeface="Calibri"/>
              </a:rPr>
              <a:t>Three attempts on a 31 GB machine: 2h33m on the filled GDS, then 1h04m and 30m52 on the unfilled one. None reached the compare stage.</a:t>
            </a:r>
          </a:p>
          <a:p>
            <a:pPr algn="l">
              <a:spcAft>
                <a:spcPts val="1100"/>
              </a:spcAft>
            </a:pPr>
            <a:r>
              <a:rPr sz="1300" b="1">
                <a:solidFill>
                  <a:srgbClr val="16256B"/>
                </a:solidFill>
                <a:latin typeface="Calibri"/>
              </a:rPr>
              <a:t>Not a memory problem: each process sat at ~540 MB with 31 GB free.</a:t>
            </a:r>
          </a:p>
          <a:p>
            <a:pPr algn="l">
              <a:spcAft>
                <a:spcPts val="900"/>
              </a:spcAft>
            </a:pPr>
            <a:r>
              <a:rPr sz="1300" b="0">
                <a:solidFill>
                  <a:srgbClr val="1C2238"/>
                </a:solidFill>
                <a:latin typeface="Calibri"/>
              </a:rPr>
              <a:t>It is net count, not machine size.</a:t>
            </a:r>
          </a:p>
          <a:p>
            <a:pPr algn="l">
              <a:spcAft>
                <a:spcPts val="1100"/>
              </a:spcAft>
            </a:pPr>
            <a:r>
              <a:rPr sz="1300" b="1">
                <a:solidFill>
                  <a:srgbClr val="16256B"/>
                </a:solidFill>
                <a:latin typeface="Calibri"/>
              </a:rPr>
              <a:t>What does match: netgen says Circuits match uniquely on the same 1442 devices, class by class.</a:t>
            </a:r>
          </a:p>
          <a:p>
            <a:pPr algn="l">
              <a:spcAft>
                <a:spcPts val="900"/>
              </a:spcAft>
            </a:pPr>
            <a:r>
              <a:rPr sz="1300" b="0">
                <a:solidFill>
                  <a:srgbClr val="1C2238"/>
                </a:solidFill>
                <a:latin typeface="Calibri"/>
              </a:rPr>
              <a:t>It matters for the submission because the chipathon's external LVS runs the KLayout deck, not netgen.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Reordering the sensor ports: 76.2 % to 90.7 %, without touching a single cell. It is the core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STATUS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chip is finished and verified. DRC clean, netgen LVS matching uniquely over 1442 devices and 894 nets, 17 of 17 pins conducting, and all four supply conductors carrying 31 mA — double the measured peak — at the WORST cut of each axis, not at the middle. Deliverable: B26_A_filled4.gds, sha 543d31ff, archived under integration/gds/2026-09-08_01. It is what lvs_config.json and info.yaml point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