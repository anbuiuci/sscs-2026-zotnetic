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2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3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image" Target="../media/image72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8103A"/>
              </a:gs>
              <a:gs pos="100000">
                <a:srgbClr val="16256B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965960"/>
            <a:ext cx="1105783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4600" b="1">
                <a:solidFill>
                  <a:srgbClr val="FFFFFF"/>
                </a:solidFill>
                <a:latin typeface="Consolas"/>
              </a:rPr>
              <a:t>T E A M   Z O T N E T I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20040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0">
                <a:solidFill>
                  <a:srgbClr val="FFFFFF"/>
                </a:solidFill>
                <a:latin typeface="Calibri"/>
              </a:rPr>
              <a:t>B26 · Navegador de gradiente magnético en GF180MCU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0"/>
            <a:ext cx="11057839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SSCS Chipathon 2026 · UCI Samueli School of Engineering</a:t>
            </a:r>
          </a:p>
          <a:p>
            <a:pPr algn="ctr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Líder: Juan Sánchez · An Bui · Enzo Li · Akam Khinda · Aysha Hussaini</a:t>
            </a:r>
          </a:p>
          <a:p>
            <a:pPr algn="ctr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Reporte de diseño, simulación y verificación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8103A"/>
              </a:gs>
              <a:gs pos="100000">
                <a:srgbClr val="16256B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" y="2468880"/>
            <a:ext cx="992398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08A1E"/>
                </a:solidFill>
                <a:latin typeface="Consola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063240"/>
            <a:ext cx="9923983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Consolas"/>
              </a:rPr>
              <a:t>QUÉ HACE EL CHIP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4206240"/>
            <a:ext cx="935705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Cuatro sensores leen el módulo del campo. El chip deduce hacia dónde crece.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EL PRINCIPIO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Los sensores no miden un vector: miden módulo. Esa distinción es el diseño entero.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536889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400" b="1">
                <a:solidFill>
                  <a:srgbClr val="16256B"/>
                </a:solidFill>
                <a:latin typeface="Calibri"/>
              </a:rPr>
              <a:t>Cuatro puentes magnetorresistivos leen |B| en los vértices de un tetraedro.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C2238"/>
                </a:solidFill>
                <a:latin typeface="Calibri"/>
              </a:rPr>
              <a:t>Cada puente da una tensión proporcional a dR/R, es decir al módulo del campo en su vértice, no a su dirección.</a:t>
            </a:r>
          </a:p>
          <a:p>
            <a:pPr algn="l">
              <a:spcAft>
                <a:spcPts val="1100"/>
              </a:spcAft>
            </a:pPr>
            <a:r>
              <a:rPr sz="1400" b="1">
                <a:solidFill>
                  <a:srgbClr val="16256B"/>
                </a:solidFill>
                <a:latin typeface="Calibri"/>
              </a:rPr>
              <a:t>Comparando los cuatro módulos se reconstruye grad|B|.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C2238"/>
                </a:solidFill>
                <a:latin typeface="Calibri"/>
              </a:rPr>
              <a:t>El gradiente del módulo apunta hacia donde el campo crece, y el campo crece hacia la fuente. Por eso el chip puede señalar un imán sin medir nunca un vector.</a:t>
            </a:r>
          </a:p>
          <a:p>
            <a:pPr algn="l">
              <a:spcAft>
                <a:spcPts val="1100"/>
              </a:spcAft>
            </a:pPr>
            <a:r>
              <a:rPr sz="1400" b="1">
                <a:solidFill>
                  <a:srgbClr val="16256B"/>
                </a:solidFill>
                <a:latin typeface="Calibri"/>
              </a:rPr>
              <a:t>La salida es un signo por eje: XP/XN, YP/YN, ZP/ZN.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C2238"/>
                </a:solidFill>
                <a:latin typeface="Calibri"/>
              </a:rPr>
              <a:t>Seis salidas digitales. No dice cuánto, dice hacia dónde.</a:t>
            </a:r>
          </a:p>
        </p:txBody>
      </p:sp>
      <p:pic>
        <p:nvPicPr>
          <p:cNvPr id="6" name="Picture 5" descr="diag_sensor_cu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4650" y="1572768"/>
            <a:ext cx="3711332" cy="46451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55867" y="6291072"/>
            <a:ext cx="53688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four sensors at the vertices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ARQUITECTURA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Del sensor al actuador, y qué parte de eso es este chip.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ch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8465" y="1572768"/>
            <a:ext cx="5994764" cy="37307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37667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block diagram of the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440680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Cuatro sensores de gradiente, un calculador de pesos, un puente en 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ESPECIFICACIONES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Lo que entra, lo que sale y lo que cuesta.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1042416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2080"/>
                <a:gridCol w="5212080"/>
              </a:tblGrid>
              <a:tr h="329184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Parámetro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Tecnología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GF180MCU-D, dispositivos de 6 V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Alimentación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5.0 V (VDD / VSS), medida a 5.0 V en todos los bancos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Consumo total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74.02 mW esquemático · 74.03 mW layout (14.81 mA)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Área entregada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1110 × 1110 µm = 1.232 mm² (área de usuario B26_A)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Área del navegador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460.9 × 387.0 µm = 0.178 mm² (GRADIENT_NAV2)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Entradas analógicas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8 — S1P/S1N … S4P/S4N, cuatro puentes magnetorresistivos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Puntos de prueba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 — X, Y, Z, contadores de votos entre 1.814 y 3.035 V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Salidas digitales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6 — XP/XN, YP/YN, ZP/ZN, de raíl a raíl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Pads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11 analógicos + 6 digitales + 2 de alimentación = 19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Tipo de pad analógico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analog, con ESD secundaria propia (ESD_CDM)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Tipo de pad digital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bidirectional, permanentemente en salida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ESD secundaria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ESD_CDM, 63.2 × 27.9 µm, 8 diodos + 87.5 Ω de poly, 11 instancias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6016752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100" b="0">
                <a:solidFill>
                  <a:srgbClr val="1C2238"/>
                </a:solidFill>
                <a:latin typeface="Calibri"/>
              </a:rPr>
              <a:t>Los 6 V son la clase de dispositivo, no el punto de trabajo: todo se simula y se mide a 5.0 V.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ESPECIFICACIONES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The same range in teslas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eld_real_1_ran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08018"/>
            <a:ext cx="11057839" cy="30384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8103A"/>
              </a:gs>
              <a:gs pos="100000">
                <a:srgbClr val="16256B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" y="2468880"/>
            <a:ext cx="992398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08A1E"/>
                </a:solidFill>
                <a:latin typeface="Consolas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063240"/>
            <a:ext cx="9923983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Consolas"/>
              </a:rPr>
              <a:t>LOS TRES BLOQUES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4206240"/>
            <a:ext cx="935705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GRADIENT_NAV2 por dentro: cada bloque con su diagrama, su esquemático, su layout y sus simulaciones.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GRADIENT_NAV2 POR DENTRO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4 × GRADIENT2  →  3 × WEIGHT  →  3 × COMP_OUT.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GRADIENT_NA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2873" y="1572768"/>
            <a:ext cx="8365948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internal block diagram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GRADIENT_NAV2_V3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4 × GRADIENT2  →  3 × WEIGHT  →  3 × COMP_OUT.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GRADIENT_NAV2_V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schematic</a:t>
            </a:r>
          </a:p>
        </p:txBody>
      </p:sp>
      <p:pic>
        <p:nvPicPr>
          <p:cNvPr id="7" name="Picture 6" descr="layout_GRADIENT_NAV2_V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8682" y="1572768"/>
            <a:ext cx="5260409" cy="44165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606247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layout — 460.90 × 386.99 µm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LA ALIMENTACIÓN DEL BLOQUE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Dimensionada al doble del pico medido: 31 mA contra 15.50 mA.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87782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926080"/>
                <a:gridCol w="2926080"/>
              </a:tblGrid>
              <a:tr h="32918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Conductor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Sección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Capacidad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Metal4 vertical · VDD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48.08 µm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32.21 mA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Metal4 vertical · VSS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46.89 µm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31.42 mA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Metal5 horizontal · VDD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39.95 µm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59.92 mA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Metal5 horizontal · VSS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78.14 µm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117.21 mA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Pin del bloque · VDD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 puertos, 29.95 µm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44.92 mA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Pin del bloque · VSS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 puertos, 39.07 µm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58.61 mA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Vías Metal3–Metal4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960–1130 cortes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173–203 mA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Vías Metal4–Metal5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4704–5742 cortes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847–1034 mA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590288"/>
            <a:ext cx="11057839" cy="1764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Las filas van espejadas, así que cada canal lleva un solo net y los raíles abutan: la separación entre VDD y VSS pasa de 2 µm a 43.46 µm. Los límites salen del tech-LEF del PDK y ninguna regla del DRC los comprueba.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BLOQUE 1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GRADIENT2 — tres amplificadores, tres comparadores y un decodificador.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GRADIEN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3182" y="1572768"/>
            <a:ext cx="5765330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438912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internal block diagram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453128"/>
            <a:ext cx="11057839" cy="1901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250" b="1">
                <a:solidFill>
                  <a:srgbClr val="16256B"/>
                </a:solidFill>
                <a:latin typeface="Calibri"/>
              </a:rPr>
              <a:t>Un bloque de sensado lee tres puentes y decide un eje.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1C2238"/>
                </a:solidFill>
                <a:latin typeface="Calibri"/>
              </a:rPr>
              <a:t>Los tres OPAM_LIN amplifican las tres diferencias de puente. Los tres COMP las comparan POR PARES — X con Y, X con Z, Y con Z — y el DECODER convierte ese orden en un eje ganador.</a:t>
            </a:r>
          </a:p>
          <a:p>
            <a:pPr algn="l">
              <a:spcAft>
                <a:spcPts val="1100"/>
              </a:spcAft>
            </a:pPr>
            <a:r>
              <a:rPr sz="1250" b="1">
                <a:solidFill>
                  <a:srgbClr val="16256B"/>
                </a:solidFill>
                <a:latin typeface="Calibri"/>
              </a:rPr>
              <a:t>Comparar por pares, y no contra un umbral, es la decisión de diseño.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1C2238"/>
                </a:solidFill>
                <a:latin typeface="Calibri"/>
              </a:rPr>
              <a:t>El decodificador no necesita saber cuánto vale cada eje, solo cuál es mayor. Eso hace la decisión inmune a la ganancia absoluta y al offset común de los tres canales.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GRADIENT2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GRADIENT2 — tres amplificadores, tres comparadores y un decodificador.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GRADIEN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519" y="1572768"/>
            <a:ext cx="861665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XSCHEM/COMBINATION/GRADIENT2.sch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OPAM_LIN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Amplificador lineal de 40 dB. El primer bloque de la cadena.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536889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Amplifica la diferencia de un puente, y nada más.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Entra el par SkP/SkN de un sensor y sale una sola tensión proporcional a dR/R. Es el único bloque de la cadena que trabaja en pequeña señal, así que su linealidad fija la del sistema.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Por qué 40 dB.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La ganancia se eligió por medida, no por gusto: es la que mantiene la celda dentro de su rango lineal para el margen de entrada que dan los puentes. Más ganancia satura antes y pierde los cruces, que es lo único que la decisión necesita.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El modo común no se mueve con la señal.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Que el puente entregue Vcm = VEXC/2 constante es lo que permite leer estas curvas sin confundir señal con sensibilidad en modo común.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55867" y="1572768"/>
          <a:ext cx="5368899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4449"/>
                <a:gridCol w="2684450"/>
              </a:tblGrid>
              <a:tr h="32918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Parámetro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Función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amplifica la diferencia de un puente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Alimentación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5.0 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Consumo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2.55 mW esquemático / 2.45 mW layout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Ganancia DC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40.1 dB (103 V/V)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Ancho de banda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338 kHz a −3 dB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Margen de fase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74° (ganancia unidad a 36.9 MHz)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Slew rate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no lo limita: un escalón de 2 V sube a 102 V/µs (esq.) y 562 V/µs (layout), y el techo que impone el ancho de banda por sí solo son 456 V/µs — manda la banda, no la corriente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Linealidad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INL 0.10 % sobre 1–4 V de salida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Ruido a la entrada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1.95 µV/√Hz a 1 kHz · 222 µVrms en 338 kHz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Área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95.88 × 48.05 µm = 0.0046 mm²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Instancias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12 (3 por cada GRADIENT2)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OPAM_LIN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Amplificador lineal de 40 dB. El primer bloque de la cadena.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OPAM_LIN_fl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schematic</a:t>
            </a:r>
          </a:p>
        </p:txBody>
      </p:sp>
      <p:pic>
        <p:nvPicPr>
          <p:cNvPr id="7" name="Picture 6" descr="layout_OPAM_LIN_fl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429734"/>
            <a:ext cx="5391759" cy="270261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205505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layout — 95.88 × 48.05 µm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OPAM_LIN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input against output, and the slope that is the gain  ·  supply power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OPAM_LIN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77456"/>
            <a:ext cx="5391759" cy="44071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057784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input against output, and the slope that is the gain</a:t>
            </a:r>
          </a:p>
        </p:txBody>
      </p:sp>
      <p:pic>
        <p:nvPicPr>
          <p:cNvPr id="7" name="Picture 6" descr="blk_OPAM_LIN_pow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570930"/>
            <a:ext cx="5391759" cy="242022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064309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supply power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OPAM_LIN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frequency response  ·  rejection and noise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OPAM_LIN_b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78835"/>
            <a:ext cx="5391759" cy="44044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056405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frequency response</a:t>
            </a:r>
          </a:p>
        </p:txBody>
      </p:sp>
      <p:pic>
        <p:nvPicPr>
          <p:cNvPr id="7" name="Picture 6" descr="blk_OPAM_LIN_reje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0643" y="1572768"/>
            <a:ext cx="4716487" cy="44165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606247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rejection and noise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OPAM_LIN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linearity error  ·  large-signal step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OPAM_LIN_line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570311"/>
            <a:ext cx="5391759" cy="24214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064928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linearity error</a:t>
            </a:r>
          </a:p>
        </p:txBody>
      </p:sp>
      <p:pic>
        <p:nvPicPr>
          <p:cNvPr id="7" name="Picture 6" descr="blk_OPAM_LIN_sl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786297"/>
            <a:ext cx="5391758" cy="198949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4848943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large-signal step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OPAM_LIN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device-mismatch Monte Carlo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OPAM_LIN_mism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2456" y="1572768"/>
            <a:ext cx="8266782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XSCHEM/TEST — schematic vs layout v2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OPAM_LIN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Por dentro: el generador de polarización y el par diferencial.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b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bias generator</a:t>
            </a:r>
          </a:p>
        </p:txBody>
      </p:sp>
      <p:pic>
        <p:nvPicPr>
          <p:cNvPr id="7" name="Picture 6" descr="sch_sub_di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342027"/>
            <a:ext cx="5391759" cy="287803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differential pair (sub_diff_2_LIN)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Comparador. Convierte la comparación entre dos ejes en un nivel.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536889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No compara contra un umbral fijo: compara dos ejes entre sí.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Por eso hay tres comparadores para tres ejes — X contra Y, X contra Z, Y contra Z. Al decodificador le hace falta el ORDEN de los tres, no su valor.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Aquí vive el umbral que hubo que corregir.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El segundo de los tres hallazgos del final salió de este bloque: el punto de disparo no estaba donde se creía, y el barrido fino lo midió.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55867" y="1572768"/>
          <a:ext cx="5368899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4449"/>
                <a:gridCol w="2684450"/>
              </a:tblGrid>
              <a:tr h="32918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Parámetro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Función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compara dos ejes entre sí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Alimentación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5.0 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Consumo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3.08 mW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Umbral de entrada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+7 µV esquemático / +62 µV layout (cruce por 2.5 V)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Entrada para salida alta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+50 µV esquemático / +104 µV layout (&gt;4.5 V)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Retardo de decisión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399 ns medio, 456 ns peor caso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Slew rate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6.3 V/µs de subida y de bajada (6.2 en layout); es una rampa recta durante los 601 ns del flanco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Ruido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lo fija el amplificador que lleva delante, no esta celda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Área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99.60 × 31.46 µm = 0.0031 mm²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Instancias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12 (3 por cada GRADIENT2)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Comparador. Convierte la comparación entre dos ejes en un nivel.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CO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schematic</a:t>
            </a:r>
          </a:p>
        </p:txBody>
      </p:sp>
      <p:pic>
        <p:nvPicPr>
          <p:cNvPr id="7" name="Picture 6" descr="layout_COM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882417"/>
            <a:ext cx="5391759" cy="179725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475282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layout — 99.60 × 31.46 µm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input sweep against output, and what it costs  ·  slew rate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COMP_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770" y="1572768"/>
            <a:ext cx="3884074" cy="44165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06247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input sweep against output, and what it costs</a:t>
            </a:r>
          </a:p>
        </p:txBody>
      </p:sp>
      <p:pic>
        <p:nvPicPr>
          <p:cNvPr id="7" name="Picture 6" descr="blk_COMP_sl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495441"/>
            <a:ext cx="5391759" cy="25712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139799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slew rate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step response  ·  frequency response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COMP_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43973"/>
            <a:ext cx="5391759" cy="40741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91266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step response</a:t>
            </a:r>
          </a:p>
        </p:txBody>
      </p:sp>
      <p:pic>
        <p:nvPicPr>
          <p:cNvPr id="7" name="Picture 6" descr="blk_COMP_b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1578835"/>
            <a:ext cx="5391759" cy="440441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6056405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frequency response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Por dentro: el MISMO generador de polarización y su propio par diferencial.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b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bias generator (the same cell as OPAM_LIN's)</a:t>
            </a:r>
          </a:p>
        </p:txBody>
      </p:sp>
      <p:pic>
        <p:nvPicPr>
          <p:cNvPr id="7" name="Picture 6" descr="sch_sub_diff_com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342027"/>
            <a:ext cx="5391759" cy="287803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differential pair (sub_diff)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DECODER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Decide qué eje gana a partir de las tres comparaciones.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536889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Entra XY, XZ, YZ. Sale X, Y o Z.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Lógica pura: las tres comparaciones por pares determinan un orden, y el orden determina el ganador. Es el bloque más pequeño y el que menos consume de toda la cadena, por tres órdenes de magnitud.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Aquí apareció el problema del eje Z.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Z no podía ganar nunca. Lo que lo arregló no fue subirle el peso sino cambiar el orden dentro de cada trío.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55867" y="1572768"/>
          <a:ext cx="5368899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4449"/>
                <a:gridCol w="2684450"/>
              </a:tblGrid>
              <a:tr h="32918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Parámetro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Función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de tres comparaciones a un eje ganador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Alimentación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5.0 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Consumo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1.4 µW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Área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31.76 × 13.82 µm = 0.0004 mm²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Instancias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 (una por GRADIENT2)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DECODER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Decide qué eje gana a partir de las tres comparaciones.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DECO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schematic</a:t>
            </a:r>
          </a:p>
        </p:txBody>
      </p:sp>
      <p:pic>
        <p:nvPicPr>
          <p:cNvPr id="7" name="Picture 6" descr="layout_DECO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608336"/>
            <a:ext cx="5391759" cy="23454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026903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layout — 31.76 × 13.82 µm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DECODER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logic  ·  supply power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DECODER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159931"/>
            <a:ext cx="5391759" cy="32422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475309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logic</a:t>
            </a:r>
          </a:p>
        </p:txBody>
      </p:sp>
      <p:pic>
        <p:nvPicPr>
          <p:cNvPr id="7" name="Picture 6" descr="blk_DECODER_pow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570311"/>
            <a:ext cx="5391759" cy="24214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064928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supply power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DEL GRADIENTE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run_gradient.sh — tres puentes, y solo el amplificador lineal.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Dos cadenas colgadas de los MISMOS seis nodos de sensor: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G2 — el esquemático GRADIENT2, con el OPAM_LIN de 40 dB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G4 — el mismo circuito reconstruido desde el layout v2, con el OPAM_LIN_flat y extraído con parásitos RC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Es el mismo amplificador dibujado de dos maneras.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Así toda comparación de esta sección es layout contra esquemático, nunca un amplificador contra otro.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Qué se mide: los tres campos van a 120°, suman cero y el vector solo cambia de dirección.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Barriendo de 0 a 360° cada eje debería ganar un sector de exactamente 120°. La cifra que sale es cuánto derivan esas tres fronteras y en qué porcentaje del barrido el eje decodificado es el correcto.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DEL GRADIENTE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run_gradient.sh — tres puentes, y solo el amplificador lineal.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b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519" y="1572768"/>
            <a:ext cx="861665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XSCHEM/TEST_TOTAL/test_GRADIENT.sch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TRAZABILIDAD DEL SENSADO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Una señal, cuatro etapas: puente → amplificador → comparador → decodificador.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Se sigue la MISMA señal por las cuatro etapas del bloque de sensado.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El banco ya registra cada nodo intermedio, incluidos los que no tienen nombre: las salidas de los comparadores se sondean jerárquicamente.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En cada etapa, el esquemático y el layout uno encima del otro.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Solo con el amplificador lineal: G2, el esquemático, contra G4, el layout.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Y al final, en qué porcentaje del barrido el eje decodificado es el correcto.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the whole chain on one sheet — amplifier still linear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rid_lin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5173" y="1572768"/>
            <a:ext cx="7501348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the same chain at dR/R = 2 %, what a real AMR gives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rid_satu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5173" y="1572768"/>
            <a:ext cx="7501348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the other experiment: field SIZE swept, direction held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eld_1_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2976" y="1572768"/>
            <a:ext cx="5005742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the low end on its own scale: where the chip goes deaf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eld_2_f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4646" y="1572768"/>
            <a:ext cx="4962402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what the chain costs as the field grows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eld_3_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20715"/>
            <a:ext cx="11057839" cy="43035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097405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all eight sign combinations of the three bridge readings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ct_sens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48926"/>
            <a:ext cx="11057839" cy="40471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969193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how the decision is taken, and how accurate it 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race_7_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750" y="1572768"/>
            <a:ext cx="5486195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DEL BLOQUE · SENSADO DE GRADIENTE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decoded sector against the ideal, and the boundary error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race_6_err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521" y="1572768"/>
            <a:ext cx="8002652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run_gradient.sh — G2 schematic vs G4 layout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POR QUÉ UNOS CASOS FALLAN Y OTROS 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Los mismos 24 casos, agrupados por la condición que los distingue.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96926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8528"/>
                <a:gridCol w="1938528"/>
                <a:gridCol w="1938528"/>
                <a:gridCol w="1938528"/>
                <a:gridCol w="1938528"/>
              </a:tblGrid>
              <a:tr h="32918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Los dos que compiten por ser el menor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Casos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Esquemático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Layout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Alcance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 raíles opuestos, el mayor a 0.6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100 %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100 %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&gt; 2.00 %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 raíles opuestos, el mayor a 1.0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100 %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100 %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&gt; 2.00 %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los dos hacia ARRIBA, el mayor a 0.6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100 %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100 %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&gt; 2.00 %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los dos hacia ABAJO, el mayor a 0.6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100 %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100 %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&gt; 2.00 %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los dos hacia ABAJO, el mayor a 1.0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86.2 %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83.6 %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1.38 / 1.26 %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041648"/>
            <a:ext cx="11057839" cy="2313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900"/>
              </a:spcAft>
            </a:pPr>
            <a:r>
              <a:rPr sz="1250" b="0">
                <a:solidFill>
                  <a:srgbClr val="1C2238"/>
                </a:solidFill>
                <a:latin typeface="Calibri"/>
              </a:rPr>
              <a:t>El amplificador reposa en 0.72 V: tiene 4.24 V de recorrido hacia arriba y sólo 0.68 hacia abajo. Por eso hace falta que se cumplan LAS DOS condiciones —hacia abajo Y a fondo de escala— para que falle; con una sola, acierta siempre.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GRADIENT2, TODO LO MEDIDO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La corrida del 2026-09-07, con la procedencia de cada cifra.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100584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32918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Medida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Esquemático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Layout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 dónde sale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Eje decodificado correcto, barrido de rotación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95.42 %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93.34 %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figuras_trazabilidad.py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Esquemático y layout coinciden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97.92 % del barrido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7.5° de desacuerdo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figuras_trazabilidad.py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Error de frontera de sector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5.25°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7.75°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figuras_trazabilidad.py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Los 24 casos de octante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94.8 %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93.8 %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figuras_octantes.py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Alcance dR/R fuera de la esquina mala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&gt; 2.00 %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&gt; 2.00 %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figuras_limite.py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… y dentro de ella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1.38 %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1.26 %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figuras_limite.py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Suelo por ruido del amplificador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44.4 ppm de dR/R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222 µVrms a la entrada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figuras_campo.py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Amplificador: ganancia y reposo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494 V/V sobre dR/R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0.72 V (4.24 ↑ / 0.68 ↓)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oct_*.txt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Consumo de la cadena, ventana fina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17.851 mW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17.286 mW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analizar.py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321807"/>
            <a:ext cx="11057839" cy="10332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1C2238"/>
                </a:solidFill>
                <a:latin typeface="Calibri"/>
              </a:rPr>
              <a:t>La última columna importa: son cifras de guiones distintos y con denominadores distintos. El 95.42 % cuenta todo el barrido; el 94.8 % de octantes cuenta 24 casos de amplitud; el alcance es el dR/R hasta donde no falla ni una vez. Mezclarlas sin decirlo es como se acaba comparando dos cosas que no se comparan.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DÓNDE SE ROMPE, Y BAJO QUÉ CONDICIÓN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Un banco hecho para llevar al límite ese fallo, y sólo ese.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im_sens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517" y="1572768"/>
            <a:ext cx="9326661" cy="3566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1208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test_GRADIENT.sch, bloque LIMIT CASES — 12 corridas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230368"/>
            <a:ext cx="11057839" cy="1124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900"/>
              </a:spcAft>
            </a:pPr>
            <a:r>
              <a:rPr sz="1150" b="0">
                <a:solidFill>
                  <a:srgbClr val="1C2238"/>
                </a:solidFill>
                <a:latin typeface="Calibri"/>
              </a:rPr>
              <a:t>Tres familias con el MISMO margen entre los dos que compiten y la tercera lectura aparcada donde no compite: A par abajo a fondo de escala, B par abajo a media, C par arriba a media. A contra B separa el raíl del tamaño; B contra C separa los dos raíles a igual tamaño.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DÓNDE SE ROMPE, Y BAJO QUÉ CONDICIÓN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Los mismos doce casos en números: el margen que aguanta cada condición.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9326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2331720"/>
                <a:gridCol w="2331720"/>
                <a:gridCol w="2331720"/>
              </a:tblGrid>
              <a:tr h="32918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Familia — condición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Margen d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Esquemático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Layout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 — par ABAJO, fondo de escala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0.05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0.62 %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0.50 %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 — par ABAJO, fondo de escala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0.40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1.38 %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1.26 %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B — par ABAJO, media escala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0.05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1.60 %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1.36 %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B — par ABAJO, media escala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0.10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&gt; 2.00 %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1.78 %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B — par ABAJO, media escala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0.20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&gt; 2.00 %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&gt; 2.00 %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 — par ARRIBA, media escala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0.05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&gt; 2.00 %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&gt; 2.00 %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 — par ARRIBA, media escala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0.40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&gt; 2.00 %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&gt; 2.00 %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681728"/>
            <a:ext cx="11057839" cy="1673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900"/>
              </a:spcAft>
            </a:pPr>
            <a:r>
              <a:rPr sz="1250" b="0">
                <a:solidFill>
                  <a:srgbClr val="1C2238"/>
                </a:solidFill>
                <a:latin typeface="Calibri"/>
              </a:rPr>
              <a:t>B contra C, mismo tamaño y sólo cambia el raíl: hacia arriba no falla nunca; hacia abajo falla en cuanto el margen baja de 0.20. A contra B, mismo raíl y sólo cambia el tamaño: con el mismo margen de 0.40, a media escala no falla y a fondo de escala se queda en 1.38 %. Hacen falta las dos.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BLOQUE 2 · WEIGHT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El contador de votos: cuatro cadenas votan, un eje suma.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WE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8572" y="1572768"/>
            <a:ext cx="9014551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internal block diagram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WEIGHT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Contador de votos en modo corriente. Un bloque por eje.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536889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Cuatro entradas con el MISMO peso, una salida.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Cada una de las cuatro cadenas GRADIENT2 vota sobre este eje, y el bloque cuenta los votos en modo corriente: las ramas se suman juntando hilos, así que contar no cuesta una etapa más. Las cuatro llevan la misma corriente, unos 170 µA: lo que sale depende de CUÁNTAS votan, no de cuáles.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El eje se reclama desde 2 de 4 votos.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Y eso lo consigue una QUINTA rama, copia exacta de las otras pero con la puerta fija a VDD. Al sumar siempre uno, N votos reales se leen como N+1 y el disparo baja de 3 de 4 a 2 de 4, que es la decisión que el chip tiene que tomar con cuatro cadenas y tres ejes.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Es una hoja: no tiene subbloques.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17 transistores n y 2 p, dibujados a mano. La salida WE es el nodo de suma, y es lo que sale al pad analógico X, Y o Z.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55867" y="1572768"/>
          <a:ext cx="5368899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4449"/>
                <a:gridCol w="2684450"/>
              </a:tblGrid>
              <a:tr h="32918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Parámetro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Función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suma los cuatro votos de un eje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Alimentación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5.0 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Consumo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3.48 mW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Dispositivos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17 nfet_06v0 + 2 pfet_06v0 (cinco ramas: cuatro votos y una fija)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Umbral de decisión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2 de 4 votos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Corriente por rama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~170 µA, igual en las cuatro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Área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45.34 × 25.00 µm = 0.0011 mm² (celda WEIGHT_COMP, con COMP_OUT)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Instancias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 (una por eje)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WEIGHT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Contador de votos en modo corriente. Un bloque por eje.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WE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schematic</a:t>
            </a:r>
          </a:p>
        </p:txBody>
      </p:sp>
      <p:pic>
        <p:nvPicPr>
          <p:cNvPr id="7" name="Picture 6" descr="layout_WEIGHT_COM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294940"/>
            <a:ext cx="5391759" cy="297220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340299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layout — 45.34 × 25.00 µm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WEIGHT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inputs, sum node and outputs  ·  from four votes to one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WEIGHT_sign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117" y="1572768"/>
            <a:ext cx="4159380" cy="44165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06247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inputs, sum node and outputs</a:t>
            </a:r>
          </a:p>
        </p:txBody>
      </p:sp>
      <p:pic>
        <p:nvPicPr>
          <p:cNvPr id="7" name="Picture 6" descr="blk_WEIGHT_deci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107842"/>
            <a:ext cx="5391759" cy="33464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527398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from four votes to one decision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WEIGHT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branch currents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WEIGHT_curr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8025" y="1572768"/>
            <a:ext cx="7835645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XSCHEM/TEST — schematic vs layout v2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BLOQUE 3 · COMP_OUT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La etapa de salida: tres inversores y el par digital del eje.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COMP_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2262"/>
            <a:ext cx="11057839" cy="41004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99585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internal block diagram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COMP_OUT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Etapa de salida: tres inversores que dan el par digital.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536889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Toma el nodo de suma y lo lleva a niveles digitales.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Tres inversores en cadena: el primero decide, los siguientes dan pendiente y capacidad de carga. De ahí salen las dos señales del eje, la directa y su complemento.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Por eso las salidas van de dos en dos.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XP/XN, YP/YN, ZP/ZN llegan al pad de raíl a raíl, y por eso toman un pad digital y no uno analógico.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55867" y="1572768"/>
          <a:ext cx="5368899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4449"/>
                <a:gridCol w="2684450"/>
              </a:tblGrid>
              <a:tr h="32918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Parámetro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Función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amplifica el voto y da su complemento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Alimentación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5.0 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Subbloques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 × INV_1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Área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compartida con WEIGHT en la celda WEIGHT_COMP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Instancias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 (una por eje)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COMP_OUT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Etapa de salida: tres inversores que dan el par digital.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COMP_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schematic</a:t>
            </a:r>
          </a:p>
        </p:txBody>
      </p:sp>
      <p:pic>
        <p:nvPicPr>
          <p:cNvPr id="7" name="Picture 6" descr="layout_WEIGHT_COM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294940"/>
            <a:ext cx="5391759" cy="297220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340299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layout — 45.34 × 25.00 µm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COMP_OUT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output state against the number of branches voting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lk_COMP_OUT_vo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367" y="1572768"/>
            <a:ext cx="9904960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XSCHEM/TEST — schematic vs layout v2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INV_1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El subbloque de COMP_OUT: el inversor.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INV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519" y="1572768"/>
            <a:ext cx="861665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XSCHEM/WEIGTH/INV_1.sch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ESD_CDM · PROTECCIÓN SECUNDARIA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Fuera de la cadena de señal, pero dentro del área de usuario.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Once instancias, una por cada pad analógico.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Los pads analógicos del PDK traen solo diodos HBM, así que la red CDM —resistencia de poly en serie más diodos— hay que ponerla nosotros, y va JUNTO al pad: lo que quede entre el pad y el clamp está sin proteger.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El circuito es el de los organizadores; el dibujo es nuestro.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Sus tres celdas publicadas violan MSLOT.1, y nadie lo había visto porque la tabla mslot del PDK se cae antes de llegar. La nuestra ocupa 1762 µm² contra 6457: unos 52 000 µm² de área de usuario recuperados.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Aquí se fusionaron las nwells.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Los cuatro pozos estaban a 1.330 µm, que solo vale si el verificador sabe que son equipotenciales. Ahora son uno solo y pasa en los dos modos.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ESD_CDM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Fuera de la cadena de señal, pero dentro del área de usuario.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ESD_CD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42027"/>
            <a:ext cx="5391759" cy="28780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9321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schematic</a:t>
            </a:r>
          </a:p>
        </p:txBody>
      </p:sp>
      <p:pic>
        <p:nvPicPr>
          <p:cNvPr id="7" name="Picture 6" descr="layout_ESD_CD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590364"/>
            <a:ext cx="5391759" cy="2381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5044876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layout — 63.16 × 27.90 µm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8103A"/>
              </a:gs>
              <a:gs pos="100000">
                <a:srgbClr val="16256B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" y="2468880"/>
            <a:ext cx="992398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08A1E"/>
                </a:solidFill>
                <a:latin typeface="Consolas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063240"/>
            <a:ext cx="9923983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Consolas"/>
              </a:rPr>
              <a:t>RESULTADOS TOTALES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4206240"/>
            <a:ext cx="935705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El sistema completo, siempre comparando layout contra esquemático.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DEL NAVEGADOR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run_nav2.sh — cuatro puentes contra dos navegadores. Es también la comparación layout-esquemático.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b_NAV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519" y="1572768"/>
            <a:ext cx="861665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XSCHEM_v3/test_NAV3.sch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DEL NAVEGADOR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run_nav2.sh — cuatro puentes contra dos navegadores. Es también la comparación layout-esquemático.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Dos navegadores sobre los mismos ocho nodos de sensor: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N_esq — el esquemático GRADIENT_NAV2, alimentación VDDS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N_lay — el mismo circuito reconstruido desde el layout v2 y extraído CON PARÁSITOS RC, alimentación VDDR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Cuatro sensores a 0, 90, 180 y 270°, y el campo girando de 0 a 360°.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Cada una de las cuatro cadenas lee TRES de los cuatro sensores, en combinaciones distintas, y los tres pesos combinan sus salidas.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Qué se mide: en qué porcentaje del barrido las nueve salidas del esquemático coinciden con las del layout, y donde no, cuántos grados dura el desacuerdo.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721 puntos de 0 a 360°. La naranja discontinua es el layout extraído con parásitos.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sq_vs_layout_sali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9410" y="1572768"/>
            <a:ext cx="9652874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438912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datos_nav2/fino_nav2.csv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498848"/>
            <a:ext cx="11057839" cy="1856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Las doce salidas de cadena coinciden en el 99.7 % del barrido.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42415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1057839" cy="5074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Las doce salidas de cadena coinciden en el 99.7 % del barrido.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Los cuatro bloques GRADIENT2 del layout, extraídos con parásitos RC, deciden lo mismo que los del esquemático. Toda la cadena analógica —amplificador, comparador, decodificador— reproduce el esquemático.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Las seis salidas digitales, en el 99.5 % (X e Y) y el 98.9 % (Z).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Entre 2 y 4 grados de desacuerdo sobre 360, y caen donde tienen que caer: en las fronteras entre sectores, que es exactamente donde la decisión está en el filo y el offset del layout decide.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Desviación en el nodo del contador: 38.8 mV rms.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Consumo: 75.32 mW el esquemático, 74.15 mW el layout. Los parásitos RC no mueven el punto de trabajo de forma apreciable.</a:t>
            </a:r>
          </a:p>
        </p:txBody>
      </p:sp>
      <p:pic>
        <p:nvPicPr>
          <p:cNvPr id="5" name="Picture 4" descr="esq_vs_layout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782524"/>
            <a:ext cx="5391759" cy="2081871"/>
          </a:xfrm>
          <a:prstGeom prst="rect">
            <a:avLst/>
          </a:prstGeom>
        </p:spPr>
      </p:pic>
      <p:pic>
        <p:nvPicPr>
          <p:cNvPr id="6" name="Picture 5" descr="esq_vs_layout_consu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3783450"/>
            <a:ext cx="5391759" cy="208002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four chains vote, the counter adds them up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otal_1_vo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1574" y="1572768"/>
            <a:ext cx="5508546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datos_nav2/fino_nav2.csv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the six pins that leave the die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otal_2_outpu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914" y="1572768"/>
            <a:ext cx="618986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datos_nav2/fino_nav2.csv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Los seis pines digitales: tres decisiones y sus complementos.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XP alto significa «gana este eje». XN es su negado, no «el otro sentido».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COMP_OUT es OUT = búfer(IN) y OUT_N = NOT(IN), instanciado como x8 VDD XN X XP VSS. El par es redundante por construcción: para leer el chip basta XP, y XN está para alimentar directamente el puente en H.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El chip contesta QUÉ EJE, no hacia qué lado.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El decodificador saca el eje cuyo puente lee MENOS, que es el vértice aguas arriba del gradiente. Eso identifica un eje entre tres, no un sentido entre seis.</a:t>
            </a:r>
          </a:p>
          <a:p>
            <a:pPr algn="l">
              <a:spcAft>
                <a:spcPts val="1100"/>
              </a:spcAft>
            </a:pPr>
            <a:r>
              <a:rPr sz="1700" b="1">
                <a:solidFill>
                  <a:srgbClr val="16256B"/>
                </a:solidFill>
                <a:latin typeface="Calibri"/>
              </a:rPr>
              <a:t>Distinguir +X de −X pide una comparación más.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238"/>
                </a:solidFill>
                <a:latin typeface="Calibri"/>
              </a:rPr>
              <a:t>Es la que añade GRADIENT_NAV3, que compara componentes en lugar de lecturas y sí saca los seis sentidos. No está instanciado en este die.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all eight sign combinations of the gradient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ct_na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75090"/>
            <a:ext cx="11057839" cy="39947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943029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run_nav2_geo.sh — sphere sweep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the same sweep, with the earlier port order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ct_na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75090"/>
            <a:ext cx="11057839" cy="39947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943029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the same stimulus, GRADIENT_NAV2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every GRADIENT2, every octant, twice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in_1_oct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460" y="1572768"/>
            <a:ext cx="10358774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run_nav2_geo.sh — sphere sweep, schematic tops only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LAYOUT CONTRA ESQUEMÁTICO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how one wrong chain out of four reaches the output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in_2_propag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55677"/>
            <a:ext cx="11057839" cy="40336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96244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run_nav2_geo.sh — sphere sweep, schematic tops only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 GEOMETRÍA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run_nav2_geo.sh — cómo depende el navegador de la caja donde van los sensores.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Los cuatro sensores van en los vértices del tetraedro inscrito en una caja Lxy × Lxy × Lz.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Seis combinaciones: Lxy de 1000, 2000 y 3000 µm, y Lz de 500 y 1000 µm.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1 · Resolución.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Para cada caja y cada nivel de gradiente se barre la dirección 360° y se cuenta en qué fracción acierta el eje. De esa curva sale un número: el gradiente más pequeño al que el acierto llega al 95 %. Captura los dos límites de golpe — por abajo el offset del comparador, por arriba la saturación del amplificador — sin depender de ninguna definición prestada.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2 · Lo mismo en el plano X-Y, donde Lz no juega.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Separa la resolución en x-y de la de z.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3 · Fondo.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El campo terrestre es común a los cuatro sensores, así que se cancela en la comparación pero NO en el amplificador, que lo ve entero. Se barre para ver a qué nivel se pierde la medida.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 GEOMETRÍA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run_nav2_geo.sh — cómo depende el navegador de la caja donde van los sensores.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b_NAV3_g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519" y="1572768"/>
            <a:ext cx="861665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XSCHEM_v3/test_NAV3_geo.sch — las dos versiones sobre el mismo estímulo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GEOMETRÍA DE LA CAJA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Acierto en el sentido, por caja y nivel de gradiente.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67665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</a:tblGrid>
              <a:tr h="32918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Caja Lxy × Lz [µm]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Gradiente bajo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Gradiente alto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1000 × 1000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90.0 %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97.8 %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1000 × 500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87.2 %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91.7 %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2000 × 1000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91.1 %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92.2 %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2000 × 500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92.7 %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94.4 %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3000 × 1000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92.7 %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93.3 %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3000 × 500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92.7 %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94.4 %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224528"/>
            <a:ext cx="11057839" cy="2130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Con gradiente alto la caja de 1000 × 1000 llega al 97.8 %. Achatar la caja (Lz 500) siempre cuesta acierto, porque el eje z queda peor resuelto que x-y.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GEOMETRÍA DE LA CAJA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Acierto en el sentido, por caja y nivel de gradiente.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eo_resolu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594" y="1572768"/>
            <a:ext cx="876850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run_nav2_geo.sh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GEOMETRÍA DE LA CAJA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Acierto en el sentido, por caja y nivel de gradiente.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eo_caj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255" y="1572768"/>
            <a:ext cx="10717184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run_nav2_geo.sh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GEOMETRÍA DE LA CAJA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Acierto en el sentido, por caja y nivel de gradiente.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eo_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2583" y="1572768"/>
            <a:ext cx="7326528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run_nav2_geo.sh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 FUENTE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run_fuente.sh — ¿apunta el chip hacia ella? Es la pregunta para la que existe.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Todo lo anterior imponía un gradiente uniforme en una dirección. Aquí el campo viene de una fuente puesta en un sitio y cada sensor lee el módulo en su propio vértice.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Dos modelos, y la pareja es el método: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SIMÉTRICO — |B| depende solo de la distancia, así que grad|B| apunta EXACTAMENTE a la fuente. Cualquier error que salga es del chip.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DIPOLO REAL — eje en +z. |B| depende también del ángulo, y grad|B| NO apunta exactamente a la fuente ni con un chip perfecto.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La diferencia entre los dos números separa el error del circuito del error de la física.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Que es lo que hace falta tener antes de creerse nada medido con un imán de verdad.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42 barridos: tres distancias, siete azimuts, los dos modelos.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BANCO DE FUENTE · 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run_fuente.sh — ¿apunta el chip hacia ella? Es la pregunta para la que existe.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b_FU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519" y="1572768"/>
            <a:ext cx="861665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XSCHEM/TEST_TOTAL/test_FUENTE.sch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¿APUNTA A LA FUENTE?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Ángulo que da el chip contra el ángulo ideal, por modelo y distancia.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El acierto cae con la distancia, que es lo esperado: el gradiente se debilita y el offset del comparador pesa más.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2029968"/>
          <a:ext cx="11057839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1567"/>
                <a:gridCol w="2211567"/>
                <a:gridCol w="2211567"/>
                <a:gridCol w="2211567"/>
                <a:gridCol w="2211571"/>
              </a:tblGrid>
              <a:tr h="32918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Distancia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Chip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Ideal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Acierto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symmetric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3000 µm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14.46°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14.21°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90.8 %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symmetric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6000 µm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9.02°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7.56°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86.9 %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symmetric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12000 µm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11.32°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3.84°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76.1 %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dipole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3000 µm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16.53°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16.40°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93.2 %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dipole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6000 µm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12.31°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11.66°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90.6 %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dipole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12000 µm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12.41°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9.92°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84.3 %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681728"/>
            <a:ext cx="11057839" cy="1673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Lo que hay que leer es la ÚLTIMA COLUMNA de grados, no las dos primeras. «Chip» es el ángulo que sale de las tensiones simuladas de los cuatro puentes; «Ideal» es el mismo cálculo sobre lecturas analíticas, sin circuito. Ninguno de los dos es cero, y el culpable no es el circuito: el chip no mide el gradiente en un punto, hace una DIFERENCIA FINITA sobre una caja de 1 mm, y a 3 mm de la fuente el campo se curva tanto sobre esa caja que un chip perfecto ya falla 14°. Lo que pone el circuito es la resta: +0.25° a 3 mm, +7.48° a 12 mm.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¿APUNTA A LA FUENTE?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Ángulo que da el chip contra el ángulo ideal, por modelo y distancia.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rc_sens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540" y="1572768"/>
            <a:ext cx="7864614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run_fuente.sh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¿APUNTA A LA FUENTE?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Ángulo que da el chip contra el ángulo ideal, por modelo y distancia.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rc_fuente_apu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9818" y="1572768"/>
            <a:ext cx="5572058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run_fuente.sh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¿APUNTA A LA FUENTE?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Ángulo que da el chip contra el ángulo ideal, por modelo y distancia.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eld_real_2_fu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47840"/>
            <a:ext cx="11057839" cy="44492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17028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run_fuente.sh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RESULTADO · ¿APUNTA A LA FUENTE?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Ángulo que da el chip contra el ángulo ideal, por modelo y distancia.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rc_fuente_resu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364" y="1572768"/>
            <a:ext cx="10480966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run_fuente.sh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8103A"/>
              </a:gs>
              <a:gs pos="100000">
                <a:srgbClr val="16256B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" y="2468880"/>
            <a:ext cx="992398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08A1E"/>
                </a:solidFill>
                <a:latin typeface="Consolas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063240"/>
            <a:ext cx="9923983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Consolas"/>
              </a:rPr>
              <a:t>VERIFICACIÓN FÍSICA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4206240"/>
            <a:ext cx="935705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DRC, LVS, conectividad y densidad de corriente sobre el fichero que se entrega.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B26_A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Sobre B26_A_filled4.gds, el fichero que se entrega.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ayout_B26_A_sin_f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531" y="1572768"/>
            <a:ext cx="4416552" cy="44165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06247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unfilled — 1110 × 1110 µm</a:t>
            </a:r>
          </a:p>
        </p:txBody>
      </p:sp>
      <p:pic>
        <p:nvPicPr>
          <p:cNvPr id="7" name="Picture 6" descr="layout_B26_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610" y="1572768"/>
            <a:ext cx="4416552" cy="44165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33007" y="6062472"/>
            <a:ext cx="53917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density-filled — 1110 × 1110 µm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VERIFICACIÓN FÍSICA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Sobre B26_A_filled4.gds, el fichero que se entrega.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87782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/>
                <a:gridCol w="4389120"/>
              </a:tblGrid>
              <a:tr h="32918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Comprobación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Resultado</a:t>
                      </a:r>
                    </a:p>
                  </a:txBody>
                  <a:tcPr anchor="ctr">
                    <a:solidFill>
                      <a:srgbClr val="16256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DRC de 63 tablas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63 tablas, 0 violaciones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Densidad de relleno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las 7 capas cumplen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LVS netgen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Circuits match uniquely, 1442 = 1442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Nets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894 = 894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Conectividad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17 de 17 señales, 11 por su clamp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Tie-offs y alimentaciones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50 de 50 en su raíl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Densidad de corriente a 31 mA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los 4 conductores, en el peor corte</a:t>
                      </a:r>
                    </a:p>
                  </a:txBody>
                  <a:tcPr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PR_bndry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238"/>
                          </a:solidFill>
                          <a:latin typeface="Calibri"/>
                        </a:defRPr>
                      </a:pPr>
                      <a:r>
                        <a:t>exactamente una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773168"/>
            <a:ext cx="11057839" cy="1581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Todo medido sobre B26_A_filled4.gds, el fichero que se entrega, y archivado bajo su propio nombre. El DRC de firma en los dos modos de conectividad se corrió sobre la versión anterior, _filled3, y NO se ha vuelto a correr sobre esta: lo que sí está sobre _filled4 es el de 63 tablas, 0 violaciones.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8103A"/>
              </a:gs>
              <a:gs pos="100000">
                <a:srgbClr val="16256B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" y="2468880"/>
            <a:ext cx="992398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08A1E"/>
                </a:solidFill>
                <a:latin typeface="Consolas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063240"/>
            <a:ext cx="9923983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Consolas"/>
              </a:rPr>
              <a:t>CONCLUSIONES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4206240"/>
            <a:ext cx="935705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Lo esperado frente a lo medido, incluido lo que no cerró.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LO ESPERADO CONTRA LO MEDIDO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Tres cosas que la simulación encontró y el diseño corrigió.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1 · Se esperaba que XP y XN correspondieran a su nombre. No era así.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El banco destapó que estaban cambiados respecto a la etiqueta. Corregido en el esquemático.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2 · Se esperaba que el umbral de decisión estuviera centrado. Estaba mal puesto.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El barrido de disparo lo midió y se reajustó.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3 · Se esperaba que los tres ejes compitieran en igualdad. Z no podía ganar nunca.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Y su propio WEIGHT no lo arreglaba: lo que lo arregló fue cambiar el orden dentro de cada trío.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Los tres se encontraron simulando, no revisando. Ese es el argumento a favor de los bancos.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LO QUE NO CERRÓ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Dicho con la misma claridad que lo que salió bien.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4782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El LVS de KLayout sobre el top no termina la extracción.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Tres intentos en una máquina de 31 GB: 2h33m sobre el GDS relleno, y 1h04m y 30m52 sobre el GDS sin rellenar. Ninguno llegó a la fase de comparación.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No es falta de memoria: cada proceso se quedó en ~540 MB con 31 GB libres.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Es número de nets, no tamaño de máquina.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6256B"/>
                </a:solidFill>
                <a:latin typeface="Calibri"/>
              </a:rPr>
              <a:t>Lo que sí casa: netgen dice Circuits match uniquely sobre los mismos 1442 dispositivos, clase por clase.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1C2238"/>
                </a:solidFill>
                <a:latin typeface="Calibri"/>
              </a:rPr>
              <a:t>Importa para la entrega porque el LVS externo del chipathon corre el deck de KLayout, no netgen.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LA MEJORA, YA DENTRO DEL DIE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The v3 top: same cells, sensor ports permuted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h_GRADIENT_NAV2_V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519" y="1572768"/>
            <a:ext cx="8616657" cy="4599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245352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XSCHEM_v3/GRADIENT_NAV2_V3.sch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LA MEJORA, YA DENTRO DEL DIE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And against its own extracted layout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in_4_v3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3685" y="1572768"/>
            <a:ext cx="9024324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493776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XSCHEM_v3/test_NAV3.sch — same extracted cells, v3 routing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78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6256B"/>
                </a:solidFill>
                <a:latin typeface="Consolas"/>
              </a:rPr>
              <a:t>LA MEJORA, YA DENTRO DEL DIE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492"/>
                </a:solidFill>
                <a:latin typeface="Calibri"/>
              </a:rPr>
              <a:t>Reordenar los puertos de sensor: 76.2 % a 90.7 %, sin tocar una sola celda. Es el núcleo que se entrega.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051560" cy="26000"/>
          </a:xfrm>
          <a:prstGeom prst="rect">
            <a:avLst/>
          </a:prstGeom>
          <a:solidFill>
            <a:srgbClr val="E08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in_3_v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6121" y="1572768"/>
            <a:ext cx="9039453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493776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7492"/>
                </a:solidFill>
                <a:latin typeface="Calibri"/>
              </a:rPr>
              <a:t>XSCHEM_v3 — same sphere sweep, both wirings side by side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8103A"/>
              </a:gs>
              <a:gs pos="100000">
                <a:srgbClr val="16256B"/>
              </a:gs>
            </a:gsLst>
            <a:lin scaled="0" ang="27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33856" y="2468880"/>
            <a:ext cx="992398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08A1E"/>
                </a:solidFill>
                <a:latin typeface="Consolas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" y="3063240"/>
            <a:ext cx="9923983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Consolas"/>
              </a:rPr>
              <a:t>ESTADO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4206240"/>
            <a:ext cx="935705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El chip está terminado y verificado. DRC limpio, LVS netgen casando único sobre 1442 dispositivos y 894 nets, 17 de 17 pines conducen, y los cuatro conductores de alimentación dan 31 mA —el doble del pico medido— en el PEOR corte de cada eje, no en el centro. Entregable: B26_A_filled4.gds, sha 543d31ff, archivado en integration/gds/2026-09-08_01. Es a lo que apuntan lvs_config.json e info.yaml.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