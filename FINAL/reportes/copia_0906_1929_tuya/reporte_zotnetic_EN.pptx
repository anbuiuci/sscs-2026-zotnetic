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6" r:id="rId10"/>
    <p:sldId id="267" r:id="rId11"/>
    <p:sldId id="268" r:id="rId12"/>
    <p:sldId id="269" r:id="rId13"/>
    <p:sldId id="270" r:id="rId14"/>
    <p:sldId id="272" r:id="rId15"/>
    <p:sldId id="274" r:id="rId16"/>
    <p:sldId id="275" r:id="rId17"/>
    <p:sldId id="278" r:id="rId18"/>
    <p:sldId id="276" r:id="rId19"/>
    <p:sldId id="277" r:id="rId20"/>
    <p:sldId id="279" r:id="rId21"/>
    <p:sldId id="280" r:id="rId22"/>
    <p:sldId id="337" r:id="rId23"/>
    <p:sldId id="281" r:id="rId24"/>
    <p:sldId id="282" r:id="rId25"/>
    <p:sldId id="283" r:id="rId26"/>
    <p:sldId id="284" r:id="rId27"/>
    <p:sldId id="285" r:id="rId28"/>
    <p:sldId id="286" r:id="rId29"/>
    <p:sldId id="287" r:id="rId30"/>
    <p:sldId id="288" r:id="rId31"/>
    <p:sldId id="289" r:id="rId32"/>
    <p:sldId id="290" r:id="rId33"/>
    <p:sldId id="293" r:id="rId34"/>
    <p:sldId id="294" r:id="rId35"/>
    <p:sldId id="295" r:id="rId36"/>
    <p:sldId id="296" r:id="rId37"/>
    <p:sldId id="297" r:id="rId38"/>
    <p:sldId id="298" r:id="rId39"/>
    <p:sldId id="299" r:id="rId40"/>
    <p:sldId id="300" r:id="rId41"/>
    <p:sldId id="302" r:id="rId42"/>
    <p:sldId id="301" r:id="rId43"/>
    <p:sldId id="303" r:id="rId44"/>
    <p:sldId id="304" r:id="rId45"/>
    <p:sldId id="305" r:id="rId46"/>
    <p:sldId id="307" r:id="rId47"/>
    <p:sldId id="308" r:id="rId48"/>
    <p:sldId id="309" r:id="rId49"/>
    <p:sldId id="310" r:id="rId50"/>
    <p:sldId id="311" r:id="rId51"/>
    <p:sldId id="312" r:id="rId52"/>
    <p:sldId id="313" r:id="rId53"/>
    <p:sldId id="314" r:id="rId54"/>
    <p:sldId id="316" r:id="rId55"/>
    <p:sldId id="317" r:id="rId56"/>
    <p:sldId id="320" r:id="rId57"/>
    <p:sldId id="321" r:id="rId58"/>
    <p:sldId id="318" r:id="rId59"/>
    <p:sldId id="322"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8" y="42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1965960"/>
            <a:ext cx="11057839" cy="1371600"/>
          </a:xfrm>
          <a:prstGeom prst="rect">
            <a:avLst/>
          </a:prstGeom>
          <a:noFill/>
        </p:spPr>
        <p:txBody>
          <a:bodyPr wrap="square" lIns="0" tIns="0" rIns="0" bIns="0">
            <a:spAutoFit/>
          </a:bodyPr>
          <a:lstStyle/>
          <a:p>
            <a:pPr algn="ctr">
              <a:spcAft>
                <a:spcPts val="1000"/>
              </a:spcAft>
            </a:pPr>
            <a:r>
              <a:rPr sz="4600" b="1">
                <a:solidFill>
                  <a:srgbClr val="FFFFFF"/>
                </a:solidFill>
                <a:latin typeface="Consolas"/>
              </a:rPr>
              <a:t>T E A M   Z O T N E T I C</a:t>
            </a:r>
          </a:p>
        </p:txBody>
      </p:sp>
      <p:sp>
        <p:nvSpPr>
          <p:cNvPr id="4" name="TextBox 3"/>
          <p:cNvSpPr txBox="1"/>
          <p:nvPr/>
        </p:nvSpPr>
        <p:spPr>
          <a:xfrm>
            <a:off x="566928" y="3200400"/>
            <a:ext cx="11057839" cy="914400"/>
          </a:xfrm>
          <a:prstGeom prst="rect">
            <a:avLst/>
          </a:prstGeom>
          <a:noFill/>
        </p:spPr>
        <p:txBody>
          <a:bodyPr wrap="square" lIns="0" tIns="0" rIns="0" bIns="0">
            <a:spAutoFit/>
          </a:bodyPr>
          <a:lstStyle/>
          <a:p>
            <a:pPr algn="ctr">
              <a:spcAft>
                <a:spcPts val="400"/>
              </a:spcAft>
            </a:pPr>
            <a:r>
              <a:rPr sz="1900" b="0">
                <a:solidFill>
                  <a:srgbClr val="FFFFFF"/>
                </a:solidFill>
                <a:latin typeface="Calibri"/>
              </a:rPr>
              <a:t>B26 · Magnetic gradient navigator in GF180MCU</a:t>
            </a:r>
          </a:p>
        </p:txBody>
      </p:sp>
      <p:sp>
        <p:nvSpPr>
          <p:cNvPr id="5" name="TextBox 4"/>
          <p:cNvSpPr txBox="1"/>
          <p:nvPr/>
        </p:nvSpPr>
        <p:spPr>
          <a:xfrm>
            <a:off x="566928" y="4206240"/>
            <a:ext cx="11057839" cy="2011680"/>
          </a:xfrm>
          <a:prstGeom prst="rect">
            <a:avLst/>
          </a:prstGeom>
          <a:noFill/>
        </p:spPr>
        <p:txBody>
          <a:bodyPr wrap="square" lIns="0" tIns="0" rIns="0" bIns="0">
            <a:spAutoFit/>
          </a:bodyPr>
          <a:lstStyle/>
          <a:p>
            <a:pPr algn="ctr">
              <a:spcAft>
                <a:spcPts val="300"/>
              </a:spcAft>
            </a:pPr>
            <a:r>
              <a:rPr sz="1400" b="0">
                <a:solidFill>
                  <a:srgbClr val="FFFFFF"/>
                </a:solidFill>
                <a:latin typeface="Calibri"/>
              </a:rPr>
              <a:t>SSCS Chipathon 2026 · UCI Samueli School of Engineering</a:t>
            </a:r>
          </a:p>
          <a:p>
            <a:pPr algn="ctr">
              <a:spcAft>
                <a:spcPts val="300"/>
              </a:spcAft>
            </a:pPr>
            <a:r>
              <a:rPr sz="1400" b="0">
                <a:solidFill>
                  <a:srgbClr val="FFFFFF"/>
                </a:solidFill>
                <a:latin typeface="Calibri"/>
              </a:rPr>
              <a:t>Lead: Juan Sánchez · An Bui · Enzo Li · Akam Khinda · Aysha Hussaini</a:t>
            </a:r>
          </a:p>
          <a:p>
            <a:pPr algn="ctr">
              <a:spcAft>
                <a:spcPts val="300"/>
              </a:spcAft>
            </a:pPr>
            <a:r>
              <a:rPr sz="1400" b="0">
                <a:solidFill>
                  <a:srgbClr val="FFFFFF"/>
                </a:solidFill>
                <a:latin typeface="Calibri"/>
              </a:rPr>
              <a:t>Design, simulation and verification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 y="2468880"/>
            <a:ext cx="9923983" cy="731520"/>
          </a:xfrm>
          <a:prstGeom prst="rect">
            <a:avLst/>
          </a:prstGeom>
          <a:noFill/>
        </p:spPr>
        <p:txBody>
          <a:bodyPr wrap="square" lIns="0" tIns="0" rIns="0" bIns="0">
            <a:spAutoFit/>
          </a:bodyPr>
          <a:lstStyle/>
          <a:p>
            <a:pPr algn="l">
              <a:spcAft>
                <a:spcPts val="600"/>
              </a:spcAft>
            </a:pPr>
            <a:r>
              <a:rPr sz="3000" b="1">
                <a:solidFill>
                  <a:srgbClr val="E08A1E"/>
                </a:solidFill>
                <a:latin typeface="Consolas"/>
              </a:rPr>
              <a:t>01</a:t>
            </a:r>
          </a:p>
        </p:txBody>
      </p:sp>
      <p:sp>
        <p:nvSpPr>
          <p:cNvPr id="4" name="TextBox 3"/>
          <p:cNvSpPr txBox="1"/>
          <p:nvPr/>
        </p:nvSpPr>
        <p:spPr>
          <a:xfrm>
            <a:off x="1133856" y="3063240"/>
            <a:ext cx="9923983" cy="1280160"/>
          </a:xfrm>
          <a:prstGeom prst="rect">
            <a:avLst/>
          </a:prstGeom>
          <a:noFill/>
        </p:spPr>
        <p:txBody>
          <a:bodyPr wrap="square" lIns="0" tIns="0" rIns="0" bIns="0">
            <a:spAutoFit/>
          </a:bodyPr>
          <a:lstStyle/>
          <a:p>
            <a:pPr algn="l">
              <a:spcAft>
                <a:spcPts val="800"/>
              </a:spcAft>
            </a:pPr>
            <a:r>
              <a:rPr sz="3400" b="1">
                <a:solidFill>
                  <a:srgbClr val="FFFFFF"/>
                </a:solidFill>
                <a:latin typeface="Consolas"/>
              </a:rPr>
              <a:t>WHAT THE CHIP DOES</a:t>
            </a:r>
          </a:p>
        </p:txBody>
      </p:sp>
      <p:sp>
        <p:nvSpPr>
          <p:cNvPr id="5" name="TextBox 4"/>
          <p:cNvSpPr txBox="1"/>
          <p:nvPr/>
        </p:nvSpPr>
        <p:spPr>
          <a:xfrm>
            <a:off x="1133856" y="4206240"/>
            <a:ext cx="9357055" cy="1280160"/>
          </a:xfrm>
          <a:prstGeom prst="rect">
            <a:avLst/>
          </a:prstGeom>
          <a:noFill/>
        </p:spPr>
        <p:txBody>
          <a:bodyPr wrap="square" lIns="0" tIns="0" rIns="0" bIns="0">
            <a:spAutoFit/>
          </a:bodyPr>
          <a:lstStyle/>
          <a:p>
            <a:pPr algn="l">
              <a:spcAft>
                <a:spcPts val="400"/>
              </a:spcAft>
            </a:pPr>
            <a:r>
              <a:rPr sz="1500" b="0">
                <a:solidFill>
                  <a:srgbClr val="FFFFFF"/>
                </a:solidFill>
                <a:latin typeface="Calibri"/>
              </a:rPr>
              <a:t>Four sensors read the magnitude of the field. The chip works out which way it grows.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THE PRINCIPLE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sensors do not measure a vector: they measure magnitude. That distinction is the whole design.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68899" cy="4782312"/>
          </a:xfrm>
          <a:prstGeom prst="rect">
            <a:avLst/>
          </a:prstGeom>
          <a:noFill/>
        </p:spPr>
        <p:txBody>
          <a:bodyPr wrap="square" lIns="0" tIns="0" rIns="0" bIns="0" anchor="ctr">
            <a:spAutoFit/>
          </a:bodyPr>
          <a:lstStyle/>
          <a:p>
            <a:pPr algn="l">
              <a:spcAft>
                <a:spcPts val="1100"/>
              </a:spcAft>
            </a:pPr>
            <a:r>
              <a:rPr sz="1400" b="1">
                <a:solidFill>
                  <a:srgbClr val="16256B"/>
                </a:solidFill>
                <a:latin typeface="Calibri"/>
              </a:rPr>
              <a:t>Four magnetoresistive bridges read |B| at the vertices of a tetrahedron.</a:t>
            </a:r>
          </a:p>
          <a:p>
            <a:pPr algn="l">
              <a:spcAft>
                <a:spcPts val="900"/>
              </a:spcAft>
            </a:pPr>
            <a:r>
              <a:rPr sz="1400" b="0">
                <a:solidFill>
                  <a:srgbClr val="1C2238"/>
                </a:solidFill>
                <a:latin typeface="Calibri"/>
              </a:rPr>
              <a:t>Each bridge gives a voltage proportional to dR/R, that is to the magnitude of the field at its vertex, not to its direction.</a:t>
            </a:r>
          </a:p>
          <a:p>
            <a:pPr algn="l">
              <a:spcAft>
                <a:spcPts val="1100"/>
              </a:spcAft>
            </a:pPr>
            <a:r>
              <a:rPr sz="1400" b="1">
                <a:solidFill>
                  <a:srgbClr val="16256B"/>
                </a:solidFill>
                <a:latin typeface="Calibri"/>
              </a:rPr>
              <a:t>Comparing the four magnitudes reconstructs grad|B|.</a:t>
            </a:r>
          </a:p>
          <a:p>
            <a:pPr algn="l">
              <a:spcAft>
                <a:spcPts val="900"/>
              </a:spcAft>
            </a:pPr>
            <a:r>
              <a:rPr sz="1400" b="0">
                <a:solidFill>
                  <a:srgbClr val="1C2238"/>
                </a:solidFill>
                <a:latin typeface="Calibri"/>
              </a:rPr>
              <a:t>The gradient of the magnitude points where the field grows, and the field grows towards the source. That is how the chip can point at a magnet without ever measuring a vector.</a:t>
            </a:r>
          </a:p>
          <a:p>
            <a:pPr algn="l">
              <a:spcAft>
                <a:spcPts val="1100"/>
              </a:spcAft>
            </a:pPr>
            <a:r>
              <a:rPr sz="1400" b="1">
                <a:solidFill>
                  <a:srgbClr val="16256B"/>
                </a:solidFill>
                <a:latin typeface="Calibri"/>
              </a:rPr>
              <a:t>The output is one sign per axis: XP/XN, YP/YN, ZP/ZN.</a:t>
            </a:r>
          </a:p>
          <a:p>
            <a:pPr algn="l">
              <a:spcAft>
                <a:spcPts val="900"/>
              </a:spcAft>
            </a:pPr>
            <a:r>
              <a:rPr sz="1400" b="0">
                <a:solidFill>
                  <a:srgbClr val="1C2238"/>
                </a:solidFill>
                <a:latin typeface="Calibri"/>
              </a:rPr>
              <a:t>Six digital outputs. It does not say how much, it says which way.</a:t>
            </a:r>
          </a:p>
        </p:txBody>
      </p:sp>
      <p:pic>
        <p:nvPicPr>
          <p:cNvPr id="6" name="Picture 5" descr="diag_sensor_cube.png"/>
          <p:cNvPicPr>
            <a:picLocks noChangeAspect="1"/>
          </p:cNvPicPr>
          <p:nvPr/>
        </p:nvPicPr>
        <p:blipFill>
          <a:blip r:embed="rId2"/>
          <a:stretch>
            <a:fillRect/>
          </a:stretch>
        </p:blipFill>
        <p:spPr>
          <a:xfrm>
            <a:off x="7084650" y="1572768"/>
            <a:ext cx="3711332" cy="4645152"/>
          </a:xfrm>
          <a:prstGeom prst="rect">
            <a:avLst/>
          </a:prstGeom>
        </p:spPr>
      </p:pic>
      <p:sp>
        <p:nvSpPr>
          <p:cNvPr id="7" name="TextBox 6"/>
          <p:cNvSpPr txBox="1"/>
          <p:nvPr/>
        </p:nvSpPr>
        <p:spPr>
          <a:xfrm>
            <a:off x="6255867" y="6291072"/>
            <a:ext cx="536889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four sensors at the vertices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_chip.png"/>
          <p:cNvPicPr>
            <a:picLocks noChangeAspect="1"/>
          </p:cNvPicPr>
          <p:nvPr/>
        </p:nvPicPr>
        <p:blipFill>
          <a:blip r:embed="rId2"/>
          <a:stretch>
            <a:fillRect/>
          </a:stretch>
        </p:blipFill>
        <p:spPr>
          <a:xfrm>
            <a:off x="2538159" y="774224"/>
            <a:ext cx="7645231" cy="4757896"/>
          </a:xfrm>
          <a:prstGeom prst="rect">
            <a:avLst/>
          </a:prstGeom>
        </p:spPr>
      </p:pic>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ARCHITECTURE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From sensor to actuator, and which part of that is this chip.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537667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block diagram of the system</a:t>
            </a:r>
          </a:p>
        </p:txBody>
      </p:sp>
      <p:sp>
        <p:nvSpPr>
          <p:cNvPr id="7" name="TextBox 6"/>
          <p:cNvSpPr txBox="1"/>
          <p:nvPr/>
        </p:nvSpPr>
        <p:spPr>
          <a:xfrm>
            <a:off x="566928" y="5440680"/>
            <a:ext cx="11057839" cy="457200"/>
          </a:xfrm>
          <a:prstGeom prst="rect">
            <a:avLst/>
          </a:prstGeom>
          <a:noFill/>
        </p:spPr>
        <p:txBody>
          <a:bodyPr wrap="square" lIns="0" tIns="0" rIns="0" bIns="0">
            <a:spAutoFit/>
          </a:bodyPr>
          <a:lstStyle/>
          <a:p>
            <a:pPr algn="l">
              <a:spcAft>
                <a:spcPts val="1100"/>
              </a:spcAft>
            </a:pPr>
            <a:r>
              <a:rPr sz="1300" b="1">
                <a:solidFill>
                  <a:srgbClr val="16256B"/>
                </a:solidFill>
                <a:latin typeface="Calibri"/>
              </a:rPr>
              <a:t>Four gradient sensors, a weight calculator, an H-bridge.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SPECIFICATIONS</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What goes in, what comes out and what it costs.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511973379"/>
              </p:ext>
            </p:extLst>
          </p:nvPr>
        </p:nvGraphicFramePr>
        <p:xfrm>
          <a:off x="566928" y="1572768"/>
          <a:ext cx="10424160" cy="4279392"/>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329184">
                <a:tc>
                  <a:txBody>
                    <a:bodyPr/>
                    <a:lstStyle/>
                    <a:p>
                      <a:pPr>
                        <a:defRPr sz="1100" b="1">
                          <a:solidFill>
                            <a:srgbClr val="FFFFFF"/>
                          </a:solidFill>
                          <a:latin typeface="Calibri"/>
                        </a:defRPr>
                      </a:pPr>
                      <a:r>
                        <a:t>Parameter</a:t>
                      </a:r>
                    </a:p>
                  </a:txBody>
                  <a:tcPr anchor="ctr">
                    <a:solidFill>
                      <a:srgbClr val="16256B"/>
                    </a:solidFill>
                  </a:tcPr>
                </a:tc>
                <a:tc>
                  <a:txBody>
                    <a:bodyPr/>
                    <a:lstStyle/>
                    <a:p>
                      <a:pPr>
                        <a:defRPr sz="1100" b="1">
                          <a:solidFill>
                            <a:srgbClr val="FFFFFF"/>
                          </a:solidFill>
                          <a:latin typeface="Calibri"/>
                        </a:defRPr>
                      </a:pPr>
                      <a:r>
                        <a:t>Value</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100">
                          <a:solidFill>
                            <a:srgbClr val="1C2238"/>
                          </a:solidFill>
                          <a:latin typeface="Calibri"/>
                        </a:defRPr>
                      </a:pPr>
                      <a:r>
                        <a:t>Technology</a:t>
                      </a:r>
                    </a:p>
                  </a:txBody>
                  <a:tcPr anchor="ctr">
                    <a:solidFill>
                      <a:srgbClr val="F3F5FA"/>
                    </a:solidFill>
                  </a:tcPr>
                </a:tc>
                <a:tc>
                  <a:txBody>
                    <a:bodyPr/>
                    <a:lstStyle/>
                    <a:p>
                      <a:pPr>
                        <a:defRPr sz="1100">
                          <a:solidFill>
                            <a:srgbClr val="1C2238"/>
                          </a:solidFill>
                          <a:latin typeface="Calibri"/>
                        </a:defRPr>
                      </a:pPr>
                      <a:r>
                        <a:rPr dirty="0"/>
                        <a:t>GF180MCU-D, </a:t>
                      </a:r>
                      <a:r>
                        <a:rPr lang="en-US" dirty="0"/>
                        <a:t>5/6</a:t>
                      </a:r>
                      <a:r>
                        <a:rPr dirty="0"/>
                        <a:t> V devices</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100">
                          <a:solidFill>
                            <a:srgbClr val="1C2238"/>
                          </a:solidFill>
                          <a:latin typeface="Calibri"/>
                        </a:defRPr>
                      </a:pPr>
                      <a:r>
                        <a:t>Supply</a:t>
                      </a:r>
                    </a:p>
                  </a:txBody>
                  <a:tcPr anchor="ctr">
                    <a:solidFill>
                      <a:srgbClr val="FFFFFF"/>
                    </a:solidFill>
                  </a:tcPr>
                </a:tc>
                <a:tc>
                  <a:txBody>
                    <a:bodyPr/>
                    <a:lstStyle/>
                    <a:p>
                      <a:pPr>
                        <a:defRPr sz="1100">
                          <a:solidFill>
                            <a:srgbClr val="1C2238"/>
                          </a:solidFill>
                          <a:latin typeface="Calibri"/>
                        </a:defRPr>
                      </a:pPr>
                      <a:r>
                        <a:t>5.0 V (VDD / VSS), every bench sourced at 5.0 V</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100">
                          <a:solidFill>
                            <a:srgbClr val="1C2238"/>
                          </a:solidFill>
                          <a:latin typeface="Calibri"/>
                        </a:defRPr>
                      </a:pPr>
                      <a:r>
                        <a:t>Total power</a:t>
                      </a:r>
                    </a:p>
                  </a:txBody>
                  <a:tcPr anchor="ctr">
                    <a:solidFill>
                      <a:srgbClr val="F3F5FA"/>
                    </a:solidFill>
                  </a:tcPr>
                </a:tc>
                <a:tc>
                  <a:txBody>
                    <a:bodyPr/>
                    <a:lstStyle/>
                    <a:p>
                      <a:pPr>
                        <a:defRPr sz="1100">
                          <a:solidFill>
                            <a:srgbClr val="1C2238"/>
                          </a:solidFill>
                          <a:latin typeface="Calibri"/>
                        </a:defRPr>
                      </a:pPr>
                      <a:r>
                        <a:t>74.02 mW schematic · 74.03 mW layout (14.81 mA)</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100">
                          <a:solidFill>
                            <a:srgbClr val="1C2238"/>
                          </a:solidFill>
                          <a:latin typeface="Calibri"/>
                        </a:defRPr>
                      </a:pPr>
                      <a:r>
                        <a:t>Delivered area</a:t>
                      </a:r>
                    </a:p>
                  </a:txBody>
                  <a:tcPr anchor="ctr">
                    <a:solidFill>
                      <a:srgbClr val="FFFFFF"/>
                    </a:solidFill>
                  </a:tcPr>
                </a:tc>
                <a:tc>
                  <a:txBody>
                    <a:bodyPr/>
                    <a:lstStyle/>
                    <a:p>
                      <a:pPr>
                        <a:defRPr sz="1100">
                          <a:solidFill>
                            <a:srgbClr val="1C2238"/>
                          </a:solidFill>
                          <a:latin typeface="Calibri"/>
                        </a:defRPr>
                      </a:pPr>
                      <a:r>
                        <a:t>1110 × 1110 µm = 1.232 mm² (B26_A user area)</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100">
                          <a:solidFill>
                            <a:srgbClr val="1C2238"/>
                          </a:solidFill>
                          <a:latin typeface="Calibri"/>
                        </a:defRPr>
                      </a:pPr>
                      <a:r>
                        <a:t>Navigator area</a:t>
                      </a:r>
                    </a:p>
                  </a:txBody>
                  <a:tcPr anchor="ctr">
                    <a:solidFill>
                      <a:srgbClr val="F3F5FA"/>
                    </a:solidFill>
                  </a:tcPr>
                </a:tc>
                <a:tc>
                  <a:txBody>
                    <a:bodyPr/>
                    <a:lstStyle/>
                    <a:p>
                      <a:pPr>
                        <a:defRPr sz="1100">
                          <a:solidFill>
                            <a:srgbClr val="1C2238"/>
                          </a:solidFill>
                          <a:latin typeface="Calibri"/>
                        </a:defRPr>
                      </a:pPr>
                      <a:r>
                        <a:t>460.9 × 387.0 µm = 0.178 mm² (GRADIENT_NAV2)</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100">
                          <a:solidFill>
                            <a:srgbClr val="1C2238"/>
                          </a:solidFill>
                          <a:latin typeface="Calibri"/>
                        </a:defRPr>
                      </a:pPr>
                      <a:r>
                        <a:t>Analogue inputs</a:t>
                      </a:r>
                    </a:p>
                  </a:txBody>
                  <a:tcPr anchor="ctr">
                    <a:solidFill>
                      <a:srgbClr val="FFFFFF"/>
                    </a:solidFill>
                  </a:tcPr>
                </a:tc>
                <a:tc>
                  <a:txBody>
                    <a:bodyPr/>
                    <a:lstStyle/>
                    <a:p>
                      <a:pPr>
                        <a:defRPr sz="1100">
                          <a:solidFill>
                            <a:srgbClr val="1C2238"/>
                          </a:solidFill>
                          <a:latin typeface="Calibri"/>
                        </a:defRPr>
                      </a:pPr>
                      <a:r>
                        <a:t>8 — S1P/S1N … S4P/S4N, four magnetoresistive bridges</a:t>
                      </a:r>
                    </a:p>
                  </a:txBody>
                  <a:tcPr anchor="ctr">
                    <a:solidFill>
                      <a:srgbClr val="FFFFFF"/>
                    </a:solidFill>
                  </a:tcPr>
                </a:tc>
                <a:extLst>
                  <a:ext uri="{0D108BD9-81ED-4DB2-BD59-A6C34878D82A}">
                    <a16:rowId xmlns:a16="http://schemas.microsoft.com/office/drawing/2014/main" val="10006"/>
                  </a:ext>
                </a:extLst>
              </a:tr>
              <a:tr h="329184">
                <a:tc>
                  <a:txBody>
                    <a:bodyPr/>
                    <a:lstStyle/>
                    <a:p>
                      <a:pPr>
                        <a:defRPr sz="1100">
                          <a:solidFill>
                            <a:srgbClr val="1C2238"/>
                          </a:solidFill>
                          <a:latin typeface="Calibri"/>
                        </a:defRPr>
                      </a:pPr>
                      <a:r>
                        <a:t>Test points</a:t>
                      </a:r>
                    </a:p>
                  </a:txBody>
                  <a:tcPr anchor="ctr">
                    <a:solidFill>
                      <a:srgbClr val="F3F5FA"/>
                    </a:solidFill>
                  </a:tcPr>
                </a:tc>
                <a:tc>
                  <a:txBody>
                    <a:bodyPr/>
                    <a:lstStyle/>
                    <a:p>
                      <a:pPr>
                        <a:defRPr sz="1100">
                          <a:solidFill>
                            <a:srgbClr val="1C2238"/>
                          </a:solidFill>
                          <a:latin typeface="Calibri"/>
                        </a:defRPr>
                      </a:pPr>
                      <a:r>
                        <a:t>3 — X, Y, Z, vote counters between 1.814 and 3.035 V</a:t>
                      </a:r>
                    </a:p>
                  </a:txBody>
                  <a:tcPr anchor="ctr">
                    <a:solidFill>
                      <a:srgbClr val="F3F5FA"/>
                    </a:solidFill>
                  </a:tcPr>
                </a:tc>
                <a:extLst>
                  <a:ext uri="{0D108BD9-81ED-4DB2-BD59-A6C34878D82A}">
                    <a16:rowId xmlns:a16="http://schemas.microsoft.com/office/drawing/2014/main" val="10007"/>
                  </a:ext>
                </a:extLst>
              </a:tr>
              <a:tr h="329184">
                <a:tc>
                  <a:txBody>
                    <a:bodyPr/>
                    <a:lstStyle/>
                    <a:p>
                      <a:pPr>
                        <a:defRPr sz="1100">
                          <a:solidFill>
                            <a:srgbClr val="1C2238"/>
                          </a:solidFill>
                          <a:latin typeface="Calibri"/>
                        </a:defRPr>
                      </a:pPr>
                      <a:r>
                        <a:t>Digital outputs</a:t>
                      </a:r>
                    </a:p>
                  </a:txBody>
                  <a:tcPr anchor="ctr">
                    <a:solidFill>
                      <a:srgbClr val="FFFFFF"/>
                    </a:solidFill>
                  </a:tcPr>
                </a:tc>
                <a:tc>
                  <a:txBody>
                    <a:bodyPr/>
                    <a:lstStyle/>
                    <a:p>
                      <a:pPr>
                        <a:defRPr sz="1100">
                          <a:solidFill>
                            <a:srgbClr val="1C2238"/>
                          </a:solidFill>
                          <a:latin typeface="Calibri"/>
                        </a:defRPr>
                      </a:pPr>
                      <a:r>
                        <a:t>6 — XP/XN, YP/YN, ZP/ZN, rail to rail</a:t>
                      </a:r>
                    </a:p>
                  </a:txBody>
                  <a:tcPr anchor="ctr">
                    <a:solidFill>
                      <a:srgbClr val="FFFFFF"/>
                    </a:solidFill>
                  </a:tcPr>
                </a:tc>
                <a:extLst>
                  <a:ext uri="{0D108BD9-81ED-4DB2-BD59-A6C34878D82A}">
                    <a16:rowId xmlns:a16="http://schemas.microsoft.com/office/drawing/2014/main" val="10008"/>
                  </a:ext>
                </a:extLst>
              </a:tr>
              <a:tr h="329184">
                <a:tc>
                  <a:txBody>
                    <a:bodyPr/>
                    <a:lstStyle/>
                    <a:p>
                      <a:pPr>
                        <a:defRPr sz="1100">
                          <a:solidFill>
                            <a:srgbClr val="1C2238"/>
                          </a:solidFill>
                          <a:latin typeface="Calibri"/>
                        </a:defRPr>
                      </a:pPr>
                      <a:r>
                        <a:t>Pads</a:t>
                      </a:r>
                    </a:p>
                  </a:txBody>
                  <a:tcPr anchor="ctr">
                    <a:solidFill>
                      <a:srgbClr val="F3F5FA"/>
                    </a:solidFill>
                  </a:tcPr>
                </a:tc>
                <a:tc>
                  <a:txBody>
                    <a:bodyPr/>
                    <a:lstStyle/>
                    <a:p>
                      <a:pPr>
                        <a:defRPr sz="1100">
                          <a:solidFill>
                            <a:srgbClr val="1C2238"/>
                          </a:solidFill>
                          <a:latin typeface="Calibri"/>
                        </a:defRPr>
                      </a:pPr>
                      <a:r>
                        <a:t>11 analogue + 6 digital + 2 supply = 19</a:t>
                      </a:r>
                    </a:p>
                  </a:txBody>
                  <a:tcPr anchor="ctr">
                    <a:solidFill>
                      <a:srgbClr val="F3F5FA"/>
                    </a:solidFill>
                  </a:tcPr>
                </a:tc>
                <a:extLst>
                  <a:ext uri="{0D108BD9-81ED-4DB2-BD59-A6C34878D82A}">
                    <a16:rowId xmlns:a16="http://schemas.microsoft.com/office/drawing/2014/main" val="10009"/>
                  </a:ext>
                </a:extLst>
              </a:tr>
              <a:tr h="329184">
                <a:tc>
                  <a:txBody>
                    <a:bodyPr/>
                    <a:lstStyle/>
                    <a:p>
                      <a:pPr>
                        <a:defRPr sz="1100">
                          <a:solidFill>
                            <a:srgbClr val="1C2238"/>
                          </a:solidFill>
                          <a:latin typeface="Calibri"/>
                        </a:defRPr>
                      </a:pPr>
                      <a:r>
                        <a:t>Analogue pad type</a:t>
                      </a:r>
                    </a:p>
                  </a:txBody>
                  <a:tcPr anchor="ctr">
                    <a:solidFill>
                      <a:srgbClr val="FFFFFF"/>
                    </a:solidFill>
                  </a:tcPr>
                </a:tc>
                <a:tc>
                  <a:txBody>
                    <a:bodyPr/>
                    <a:lstStyle/>
                    <a:p>
                      <a:pPr>
                        <a:defRPr sz="1100">
                          <a:solidFill>
                            <a:srgbClr val="1C2238"/>
                          </a:solidFill>
                          <a:latin typeface="Calibri"/>
                        </a:defRPr>
                      </a:pPr>
                      <a:r>
                        <a:t>analog, with our own secondary ESD (ESD_CDM)</a:t>
                      </a:r>
                    </a:p>
                  </a:txBody>
                  <a:tcPr anchor="ctr">
                    <a:solidFill>
                      <a:srgbClr val="FFFFFF"/>
                    </a:solidFill>
                  </a:tcPr>
                </a:tc>
                <a:extLst>
                  <a:ext uri="{0D108BD9-81ED-4DB2-BD59-A6C34878D82A}">
                    <a16:rowId xmlns:a16="http://schemas.microsoft.com/office/drawing/2014/main" val="10010"/>
                  </a:ext>
                </a:extLst>
              </a:tr>
              <a:tr h="329184">
                <a:tc>
                  <a:txBody>
                    <a:bodyPr/>
                    <a:lstStyle/>
                    <a:p>
                      <a:pPr>
                        <a:defRPr sz="1100">
                          <a:solidFill>
                            <a:srgbClr val="1C2238"/>
                          </a:solidFill>
                          <a:latin typeface="Calibri"/>
                        </a:defRPr>
                      </a:pPr>
                      <a:r>
                        <a:t>Digital pad type</a:t>
                      </a:r>
                    </a:p>
                  </a:txBody>
                  <a:tcPr anchor="ctr">
                    <a:solidFill>
                      <a:srgbClr val="F3F5FA"/>
                    </a:solidFill>
                  </a:tcPr>
                </a:tc>
                <a:tc>
                  <a:txBody>
                    <a:bodyPr/>
                    <a:lstStyle/>
                    <a:p>
                      <a:pPr>
                        <a:defRPr sz="1100">
                          <a:solidFill>
                            <a:srgbClr val="1C2238"/>
                          </a:solidFill>
                          <a:latin typeface="Calibri"/>
                        </a:defRPr>
                      </a:pPr>
                      <a:r>
                        <a:t>bidirectional, permanently driving</a:t>
                      </a:r>
                    </a:p>
                  </a:txBody>
                  <a:tcPr anchor="ctr">
                    <a:solidFill>
                      <a:srgbClr val="F3F5FA"/>
                    </a:solidFill>
                  </a:tcPr>
                </a:tc>
                <a:extLst>
                  <a:ext uri="{0D108BD9-81ED-4DB2-BD59-A6C34878D82A}">
                    <a16:rowId xmlns:a16="http://schemas.microsoft.com/office/drawing/2014/main" val="10011"/>
                  </a:ext>
                </a:extLst>
              </a:tr>
              <a:tr h="329184">
                <a:tc>
                  <a:txBody>
                    <a:bodyPr/>
                    <a:lstStyle/>
                    <a:p>
                      <a:pPr>
                        <a:defRPr sz="1100">
                          <a:solidFill>
                            <a:srgbClr val="1C2238"/>
                          </a:solidFill>
                          <a:latin typeface="Calibri"/>
                        </a:defRPr>
                      </a:pPr>
                      <a:r>
                        <a:t>Secondary ESD</a:t>
                      </a:r>
                    </a:p>
                  </a:txBody>
                  <a:tcPr anchor="ctr">
                    <a:solidFill>
                      <a:srgbClr val="FFFFFF"/>
                    </a:solidFill>
                  </a:tcPr>
                </a:tc>
                <a:tc>
                  <a:txBody>
                    <a:bodyPr/>
                    <a:lstStyle/>
                    <a:p>
                      <a:pPr>
                        <a:defRPr sz="1100">
                          <a:solidFill>
                            <a:srgbClr val="1C2238"/>
                          </a:solidFill>
                          <a:latin typeface="Calibri"/>
                        </a:defRPr>
                      </a:pPr>
                      <a:r>
                        <a:rPr dirty="0"/>
                        <a:t>ESD_CDM, 63.2 × 27.9 µm, 8 diodes + 87.5 Ω poly</a:t>
                      </a:r>
                    </a:p>
                  </a:txBody>
                  <a:tcPr anchor="ctr">
                    <a:solidFill>
                      <a:srgbClr val="FFFFFF"/>
                    </a:solidFill>
                  </a:tcPr>
                </a:tc>
                <a:extLst>
                  <a:ext uri="{0D108BD9-81ED-4DB2-BD59-A6C34878D82A}">
                    <a16:rowId xmlns:a16="http://schemas.microsoft.com/office/drawing/2014/main" val="10012"/>
                  </a:ext>
                </a:extLst>
              </a:tr>
            </a:tbl>
          </a:graphicData>
        </a:graphic>
      </p:graphicFrame>
      <p:sp>
        <p:nvSpPr>
          <p:cNvPr id="6" name="TextBox 5"/>
          <p:cNvSpPr txBox="1"/>
          <p:nvPr/>
        </p:nvSpPr>
        <p:spPr>
          <a:xfrm>
            <a:off x="566928" y="6016752"/>
            <a:ext cx="11057839" cy="457200"/>
          </a:xfrm>
          <a:prstGeom prst="rect">
            <a:avLst/>
          </a:prstGeom>
          <a:noFill/>
        </p:spPr>
        <p:txBody>
          <a:bodyPr wrap="square" lIns="0" tIns="0" rIns="0" bIns="0">
            <a:spAutoFit/>
          </a:bodyPr>
          <a:lstStyle/>
          <a:p>
            <a:pPr algn="l">
              <a:spcAft>
                <a:spcPts val="900"/>
              </a:spcAft>
            </a:pPr>
            <a:r>
              <a:rPr sz="1100" b="0">
                <a:solidFill>
                  <a:srgbClr val="1C2238"/>
                </a:solidFill>
                <a:latin typeface="Calibri"/>
              </a:rPr>
              <a:t>The 6 V is the device class, not the operating point: everything is simulated and measured at 5.0 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SPECIFICATIONS</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same range in teslas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eld_real_1_rango.png"/>
          <p:cNvPicPr>
            <a:picLocks noChangeAspect="1"/>
          </p:cNvPicPr>
          <p:nvPr/>
        </p:nvPicPr>
        <p:blipFill>
          <a:blip r:embed="rId2"/>
          <a:stretch>
            <a:fillRect/>
          </a:stretch>
        </p:blipFill>
        <p:spPr>
          <a:xfrm>
            <a:off x="566928" y="1608018"/>
            <a:ext cx="11057839" cy="30384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 y="2468880"/>
            <a:ext cx="9923983" cy="731520"/>
          </a:xfrm>
          <a:prstGeom prst="rect">
            <a:avLst/>
          </a:prstGeom>
          <a:noFill/>
        </p:spPr>
        <p:txBody>
          <a:bodyPr wrap="square" lIns="0" tIns="0" rIns="0" bIns="0">
            <a:spAutoFit/>
          </a:bodyPr>
          <a:lstStyle/>
          <a:p>
            <a:pPr algn="l">
              <a:spcAft>
                <a:spcPts val="600"/>
              </a:spcAft>
            </a:pPr>
            <a:r>
              <a:rPr sz="3000" b="1">
                <a:solidFill>
                  <a:srgbClr val="E08A1E"/>
                </a:solidFill>
                <a:latin typeface="Consolas"/>
              </a:rPr>
              <a:t>02</a:t>
            </a:r>
          </a:p>
        </p:txBody>
      </p:sp>
      <p:sp>
        <p:nvSpPr>
          <p:cNvPr id="4" name="TextBox 3"/>
          <p:cNvSpPr txBox="1"/>
          <p:nvPr/>
        </p:nvSpPr>
        <p:spPr>
          <a:xfrm>
            <a:off x="1133856" y="3063240"/>
            <a:ext cx="9923983" cy="1280160"/>
          </a:xfrm>
          <a:prstGeom prst="rect">
            <a:avLst/>
          </a:prstGeom>
          <a:noFill/>
        </p:spPr>
        <p:txBody>
          <a:bodyPr wrap="square" lIns="0" tIns="0" rIns="0" bIns="0">
            <a:spAutoFit/>
          </a:bodyPr>
          <a:lstStyle/>
          <a:p>
            <a:pPr algn="l">
              <a:spcAft>
                <a:spcPts val="800"/>
              </a:spcAft>
            </a:pPr>
            <a:r>
              <a:rPr sz="3400" b="1">
                <a:solidFill>
                  <a:srgbClr val="FFFFFF"/>
                </a:solidFill>
                <a:latin typeface="Consolas"/>
              </a:rPr>
              <a:t>THE THREE BLOCKS</a:t>
            </a:r>
          </a:p>
        </p:txBody>
      </p:sp>
      <p:sp>
        <p:nvSpPr>
          <p:cNvPr id="5" name="TextBox 4"/>
          <p:cNvSpPr txBox="1"/>
          <p:nvPr/>
        </p:nvSpPr>
        <p:spPr>
          <a:xfrm>
            <a:off x="1133856" y="4206240"/>
            <a:ext cx="9357055" cy="1280160"/>
          </a:xfrm>
          <a:prstGeom prst="rect">
            <a:avLst/>
          </a:prstGeom>
          <a:noFill/>
        </p:spPr>
        <p:txBody>
          <a:bodyPr wrap="square" lIns="0" tIns="0" rIns="0" bIns="0">
            <a:spAutoFit/>
          </a:bodyPr>
          <a:lstStyle/>
          <a:p>
            <a:pPr algn="l">
              <a:spcAft>
                <a:spcPts val="400"/>
              </a:spcAft>
            </a:pPr>
            <a:r>
              <a:rPr sz="1500" b="0">
                <a:solidFill>
                  <a:srgbClr val="FFFFFF"/>
                </a:solidFill>
                <a:latin typeface="Calibri"/>
              </a:rPr>
              <a:t>GRADIENT_NAV2 inside: each block with its diagram, its schematic, its layout and its simulations.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GRADIENT_NAV2</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GRADIENT_NAV2.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GRADIENT_NAV2.png"/>
          <p:cNvPicPr>
            <a:picLocks noChangeAspect="1"/>
          </p:cNvPicPr>
          <p:nvPr/>
        </p:nvPicPr>
        <p:blipFill>
          <a:blip r:embed="rId3"/>
          <a:stretch>
            <a:fillRect/>
          </a:stretch>
        </p:blipFill>
        <p:spPr>
          <a:xfrm>
            <a:off x="6298682" y="1572768"/>
            <a:ext cx="5260409" cy="4416552"/>
          </a:xfrm>
          <a:prstGeom prst="rect">
            <a:avLst/>
          </a:prstGeom>
        </p:spPr>
      </p:pic>
      <p:sp>
        <p:nvSpPr>
          <p:cNvPr id="8" name="TextBox 7"/>
          <p:cNvSpPr txBox="1"/>
          <p:nvPr/>
        </p:nvSpPr>
        <p:spPr>
          <a:xfrm>
            <a:off x="6233007" y="606247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460.90 × 386.99 µm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384721"/>
          </a:xfrm>
          <a:prstGeom prst="rect">
            <a:avLst/>
          </a:prstGeom>
          <a:noFill/>
        </p:spPr>
        <p:txBody>
          <a:bodyPr wrap="square" lIns="0" tIns="0" rIns="0" bIns="0">
            <a:spAutoFit/>
          </a:bodyPr>
          <a:lstStyle/>
          <a:p>
            <a:pPr algn="l">
              <a:spcAft>
                <a:spcPts val="200"/>
              </a:spcAft>
            </a:pPr>
            <a:r>
              <a:rPr sz="2500" b="1" dirty="0">
                <a:solidFill>
                  <a:srgbClr val="16256B"/>
                </a:solidFill>
                <a:latin typeface="Consolas"/>
              </a:rPr>
              <a:t>GRADIENT</a:t>
            </a:r>
            <a:r>
              <a:rPr lang="en-US" sz="2500" b="1" dirty="0">
                <a:solidFill>
                  <a:srgbClr val="16256B"/>
                </a:solidFill>
                <a:latin typeface="Consolas"/>
              </a:rPr>
              <a:t> SENSING</a:t>
            </a:r>
            <a:endParaRPr sz="2500" b="1" dirty="0">
              <a:solidFill>
                <a:srgbClr val="16256B"/>
              </a:solidFill>
              <a:latin typeface="Consolas"/>
            </a:endParaRP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GRADIENT2 — three amplifiers, three comparators and a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GRADIENT2.png"/>
          <p:cNvPicPr>
            <a:picLocks noChangeAspect="1"/>
          </p:cNvPicPr>
          <p:nvPr/>
        </p:nvPicPr>
        <p:blipFill>
          <a:blip r:embed="rId2"/>
          <a:stretch>
            <a:fillRect/>
          </a:stretch>
        </p:blipFill>
        <p:spPr>
          <a:xfrm>
            <a:off x="2642713" y="1414425"/>
            <a:ext cx="6026373" cy="3216781"/>
          </a:xfrm>
          <a:prstGeom prst="rect">
            <a:avLst/>
          </a:prstGeom>
        </p:spPr>
      </p:pic>
      <p:sp>
        <p:nvSpPr>
          <p:cNvPr id="10" name="TextBox 9">
            <a:extLst>
              <a:ext uri="{FF2B5EF4-FFF2-40B4-BE49-F238E27FC236}">
                <a16:creationId xmlns:a16="http://schemas.microsoft.com/office/drawing/2014/main" id="{1592BBB4-F2AA-716B-259D-D2FE8DEBC5C0}"/>
              </a:ext>
            </a:extLst>
          </p:cNvPr>
          <p:cNvSpPr txBox="1"/>
          <p:nvPr/>
        </p:nvSpPr>
        <p:spPr>
          <a:xfrm>
            <a:off x="566928" y="4453128"/>
            <a:ext cx="11057839" cy="1901952"/>
          </a:xfrm>
          <a:prstGeom prst="rect">
            <a:avLst/>
          </a:prstGeom>
          <a:noFill/>
        </p:spPr>
        <p:txBody>
          <a:bodyPr wrap="square" lIns="0" tIns="0" rIns="0" bIns="0" anchor="ctr">
            <a:spAutoFit/>
          </a:bodyPr>
          <a:lstStyle/>
          <a:p>
            <a:pPr algn="l">
              <a:spcAft>
                <a:spcPts val="1100"/>
              </a:spcAft>
            </a:pPr>
            <a:r>
              <a:rPr sz="1250" b="1" dirty="0">
                <a:solidFill>
                  <a:srgbClr val="16256B"/>
                </a:solidFill>
                <a:latin typeface="Calibri"/>
              </a:rPr>
              <a:t>One sensing block reads three bridges and decides an axis.</a:t>
            </a:r>
          </a:p>
          <a:p>
            <a:pPr algn="l">
              <a:spcAft>
                <a:spcPts val="900"/>
              </a:spcAft>
            </a:pPr>
            <a:r>
              <a:rPr sz="1250" b="0" dirty="0">
                <a:solidFill>
                  <a:srgbClr val="1C2238"/>
                </a:solidFill>
                <a:latin typeface="Calibri"/>
              </a:rPr>
              <a:t>The three OPAM_LIN amplify the three bridge differences. The three COMP compare them PAIRWISE — X with Y, X with Z, Y with Z — and the DECODER turns that order into a winning axis.</a:t>
            </a:r>
          </a:p>
          <a:p>
            <a:pPr algn="l">
              <a:spcAft>
                <a:spcPts val="1100"/>
              </a:spcAft>
            </a:pPr>
            <a:r>
              <a:rPr sz="1250" b="1" dirty="0">
                <a:solidFill>
                  <a:srgbClr val="16256B"/>
                </a:solidFill>
                <a:latin typeface="Calibri"/>
              </a:rPr>
              <a:t>Comparing pairwise, rather than against a threshold, is the design decision.</a:t>
            </a:r>
          </a:p>
          <a:p>
            <a:pPr algn="l">
              <a:spcAft>
                <a:spcPts val="900"/>
              </a:spcAft>
            </a:pPr>
            <a:r>
              <a:rPr sz="1250" b="0" dirty="0">
                <a:solidFill>
                  <a:srgbClr val="1C2238"/>
                </a:solidFill>
                <a:latin typeface="Calibri"/>
              </a:rPr>
              <a:t>The decoder does not need to know what each axis is worth, only which is larger. That makes the decision immune to absolute gain and to any offset common to the three channels.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40 dB linear amplifier. The first block in the chain.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6889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It amplifies one bridge's difference, and nothing else.</a:t>
            </a:r>
          </a:p>
          <a:p>
            <a:pPr algn="l">
              <a:spcAft>
                <a:spcPts val="900"/>
              </a:spcAft>
            </a:pPr>
            <a:r>
              <a:rPr sz="1300" b="0">
                <a:solidFill>
                  <a:srgbClr val="1C2238"/>
                </a:solidFill>
                <a:latin typeface="Calibri"/>
              </a:rPr>
              <a:t>The SkP/SkN pair of a sensor goes in and a single voltage proportional to dR/R comes out. It is the only small-signal block in the chain, so its linearity sets the system's.</a:t>
            </a:r>
          </a:p>
          <a:p>
            <a:pPr algn="l">
              <a:spcAft>
                <a:spcPts val="1100"/>
              </a:spcAft>
            </a:pPr>
            <a:r>
              <a:rPr sz="1300" b="1">
                <a:solidFill>
                  <a:srgbClr val="16256B"/>
                </a:solidFill>
                <a:latin typeface="Calibri"/>
              </a:rPr>
              <a:t>Why 40 dB.</a:t>
            </a:r>
          </a:p>
          <a:p>
            <a:pPr algn="l">
              <a:spcAft>
                <a:spcPts val="900"/>
              </a:spcAft>
            </a:pPr>
            <a:r>
              <a:rPr sz="1300" b="0">
                <a:solidFill>
                  <a:srgbClr val="1C2238"/>
                </a:solidFill>
                <a:latin typeface="Calibri"/>
              </a:rPr>
              <a:t>The gain was chosen on a measurement, not a taste: it is the one that keeps the cell inside its linear range over the input span the bridges deliver. More gain saturates earlier and loses the crossings, which is all the decision needs.</a:t>
            </a:r>
          </a:p>
          <a:p>
            <a:pPr algn="l">
              <a:spcAft>
                <a:spcPts val="1100"/>
              </a:spcAft>
            </a:pPr>
            <a:r>
              <a:rPr sz="1300" b="1">
                <a:solidFill>
                  <a:srgbClr val="16256B"/>
                </a:solidFill>
                <a:latin typeface="Calibri"/>
              </a:rPr>
              <a:t>The common mode does not move with the signal.</a:t>
            </a:r>
          </a:p>
          <a:p>
            <a:pPr algn="l">
              <a:spcAft>
                <a:spcPts val="900"/>
              </a:spcAft>
            </a:pPr>
            <a:r>
              <a:rPr sz="1300" b="0">
                <a:solidFill>
                  <a:srgbClr val="1C2238"/>
                </a:solidFill>
                <a:latin typeface="Calibri"/>
              </a:rPr>
              <a:t>The bridge delivering a constant Vcm = VEXC/2 is what makes these curves readable without confusing signal with common-mode sensitivity.</a:t>
            </a:r>
          </a:p>
        </p:txBody>
      </p:sp>
      <p:graphicFrame>
        <p:nvGraphicFramePr>
          <p:cNvPr id="6" name="Table 5"/>
          <p:cNvGraphicFramePr>
            <a:graphicFrameLocks noGrp="1"/>
          </p:cNvGraphicFramePr>
          <p:nvPr/>
        </p:nvGraphicFramePr>
        <p:xfrm>
          <a:off x="6255867" y="1572768"/>
          <a:ext cx="5368899" cy="4434840"/>
        </p:xfrm>
        <a:graphic>
          <a:graphicData uri="http://schemas.openxmlformats.org/drawingml/2006/table">
            <a:tbl>
              <a:tblPr firstRow="1" bandRow="1">
                <a:tableStyleId>{5C22544A-7EE6-4342-B048-85BDC9FD1C3A}</a:tableStyleId>
              </a:tblPr>
              <a:tblGrid>
                <a:gridCol w="2684449">
                  <a:extLst>
                    <a:ext uri="{9D8B030D-6E8A-4147-A177-3AD203B41FA5}">
                      <a16:colId xmlns:a16="http://schemas.microsoft.com/office/drawing/2014/main" val="20000"/>
                    </a:ext>
                  </a:extLst>
                </a:gridCol>
                <a:gridCol w="2684450">
                  <a:extLst>
                    <a:ext uri="{9D8B030D-6E8A-4147-A177-3AD203B41FA5}">
                      <a16:colId xmlns:a16="http://schemas.microsoft.com/office/drawing/2014/main" val="20001"/>
                    </a:ext>
                  </a:extLst>
                </a:gridCol>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amplifies one bridge's difference</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2.55 mW schematic / 2.45 mW layout</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050">
                          <a:solidFill>
                            <a:srgbClr val="1C2238"/>
                          </a:solidFill>
                          <a:latin typeface="Calibri"/>
                        </a:defRPr>
                      </a:pPr>
                      <a:r>
                        <a:t>DC gain</a:t>
                      </a:r>
                    </a:p>
                  </a:txBody>
                  <a:tcPr anchor="ctr">
                    <a:solidFill>
                      <a:srgbClr val="FFFFFF"/>
                    </a:solidFill>
                  </a:tcPr>
                </a:tc>
                <a:tc>
                  <a:txBody>
                    <a:bodyPr/>
                    <a:lstStyle/>
                    <a:p>
                      <a:pPr>
                        <a:defRPr sz="1050">
                          <a:solidFill>
                            <a:srgbClr val="1C2238"/>
                          </a:solidFill>
                          <a:latin typeface="Calibri"/>
                        </a:defRPr>
                      </a:pPr>
                      <a:r>
                        <a:t>40.1 dB (103 V/V)</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050">
                          <a:solidFill>
                            <a:srgbClr val="1C2238"/>
                          </a:solidFill>
                          <a:latin typeface="Calibri"/>
                        </a:defRPr>
                      </a:pPr>
                      <a:r>
                        <a:t>Bandwidth</a:t>
                      </a:r>
                    </a:p>
                  </a:txBody>
                  <a:tcPr anchor="ctr">
                    <a:solidFill>
                      <a:srgbClr val="F3F5FA"/>
                    </a:solidFill>
                  </a:tcPr>
                </a:tc>
                <a:tc>
                  <a:txBody>
                    <a:bodyPr/>
                    <a:lstStyle/>
                    <a:p>
                      <a:pPr>
                        <a:defRPr sz="1050">
                          <a:solidFill>
                            <a:srgbClr val="1C2238"/>
                          </a:solidFill>
                          <a:latin typeface="Calibri"/>
                        </a:defRPr>
                      </a:pPr>
                      <a:r>
                        <a:t>338 kHz at −3 dB</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050">
                          <a:solidFill>
                            <a:srgbClr val="1C2238"/>
                          </a:solidFill>
                          <a:latin typeface="Calibri"/>
                        </a:defRPr>
                      </a:pPr>
                      <a:r>
                        <a:t>Phase margin</a:t>
                      </a:r>
                    </a:p>
                  </a:txBody>
                  <a:tcPr anchor="ctr">
                    <a:solidFill>
                      <a:srgbClr val="FFFFFF"/>
                    </a:solidFill>
                  </a:tcPr>
                </a:tc>
                <a:tc>
                  <a:txBody>
                    <a:bodyPr/>
                    <a:lstStyle/>
                    <a:p>
                      <a:pPr>
                        <a:defRPr sz="1050">
                          <a:solidFill>
                            <a:srgbClr val="1C2238"/>
                          </a:solidFill>
                          <a:latin typeface="Calibri"/>
                        </a:defRPr>
                      </a:pPr>
                      <a:r>
                        <a:t>74° (unity gain at 36.9 MHz)</a:t>
                      </a:r>
                    </a:p>
                  </a:txBody>
                  <a:tcPr anchor="ctr">
                    <a:solidFill>
                      <a:srgbClr val="FFFFFF"/>
                    </a:solidFill>
                  </a:tcPr>
                </a:tc>
                <a:extLst>
                  <a:ext uri="{0D108BD9-81ED-4DB2-BD59-A6C34878D82A}">
                    <a16:rowId xmlns:a16="http://schemas.microsoft.com/office/drawing/2014/main" val="10006"/>
                  </a:ext>
                </a:extLst>
              </a:tr>
              <a:tr h="329184">
                <a:tc>
                  <a:txBody>
                    <a:bodyPr/>
                    <a:lstStyle/>
                    <a:p>
                      <a:pPr>
                        <a:defRPr sz="1050">
                          <a:solidFill>
                            <a:srgbClr val="1C2238"/>
                          </a:solidFill>
                          <a:latin typeface="Calibri"/>
                        </a:defRPr>
                      </a:pPr>
                      <a:r>
                        <a:t>Slew rate</a:t>
                      </a:r>
                    </a:p>
                  </a:txBody>
                  <a:tcPr anchor="ctr">
                    <a:solidFill>
                      <a:srgbClr val="F3F5FA"/>
                    </a:solidFill>
                  </a:tcPr>
                </a:tc>
                <a:tc>
                  <a:txBody>
                    <a:bodyPr/>
                    <a:lstStyle/>
                    <a:p>
                      <a:pPr>
                        <a:defRPr sz="1050">
                          <a:solidFill>
                            <a:srgbClr val="1C2238"/>
                          </a:solidFill>
                          <a:latin typeface="Calibri"/>
                        </a:defRPr>
                      </a:pPr>
                      <a:r>
                        <a:t>not slew limited: a 2 V step rises at 102 V/µs (schematic) and 562 V/µs (layout) against the 456 V/µs the bandwidth alone allows — the band sets it, not the output current</a:t>
                      </a:r>
                    </a:p>
                  </a:txBody>
                  <a:tcPr anchor="ctr">
                    <a:solidFill>
                      <a:srgbClr val="F3F5FA"/>
                    </a:solidFill>
                  </a:tcPr>
                </a:tc>
                <a:extLst>
                  <a:ext uri="{0D108BD9-81ED-4DB2-BD59-A6C34878D82A}">
                    <a16:rowId xmlns:a16="http://schemas.microsoft.com/office/drawing/2014/main" val="10007"/>
                  </a:ext>
                </a:extLst>
              </a:tr>
              <a:tr h="329184">
                <a:tc>
                  <a:txBody>
                    <a:bodyPr/>
                    <a:lstStyle/>
                    <a:p>
                      <a:pPr>
                        <a:defRPr sz="1050">
                          <a:solidFill>
                            <a:srgbClr val="1C2238"/>
                          </a:solidFill>
                          <a:latin typeface="Calibri"/>
                        </a:defRPr>
                      </a:pPr>
                      <a:r>
                        <a:t>Linearity</a:t>
                      </a:r>
                    </a:p>
                  </a:txBody>
                  <a:tcPr anchor="ctr">
                    <a:solidFill>
                      <a:srgbClr val="FFFFFF"/>
                    </a:solidFill>
                  </a:tcPr>
                </a:tc>
                <a:tc>
                  <a:txBody>
                    <a:bodyPr/>
                    <a:lstStyle/>
                    <a:p>
                      <a:pPr>
                        <a:defRPr sz="1050">
                          <a:solidFill>
                            <a:srgbClr val="1C2238"/>
                          </a:solidFill>
                          <a:latin typeface="Calibri"/>
                        </a:defRPr>
                      </a:pPr>
                      <a:r>
                        <a:t>INL 0.10 % over the 1–4 V output</a:t>
                      </a:r>
                    </a:p>
                  </a:txBody>
                  <a:tcPr anchor="ctr">
                    <a:solidFill>
                      <a:srgbClr val="FFFFFF"/>
                    </a:solidFill>
                  </a:tcPr>
                </a:tc>
                <a:extLst>
                  <a:ext uri="{0D108BD9-81ED-4DB2-BD59-A6C34878D82A}">
                    <a16:rowId xmlns:a16="http://schemas.microsoft.com/office/drawing/2014/main" val="10008"/>
                  </a:ext>
                </a:extLst>
              </a:tr>
              <a:tr h="329184">
                <a:tc>
                  <a:txBody>
                    <a:bodyPr/>
                    <a:lstStyle/>
                    <a:p>
                      <a:pPr>
                        <a:defRPr sz="1050">
                          <a:solidFill>
                            <a:srgbClr val="1C2238"/>
                          </a:solidFill>
                          <a:latin typeface="Calibri"/>
                        </a:defRPr>
                      </a:pPr>
                      <a:r>
                        <a:t>Input-referred noise</a:t>
                      </a:r>
                    </a:p>
                  </a:txBody>
                  <a:tcPr anchor="ctr">
                    <a:solidFill>
                      <a:srgbClr val="F3F5FA"/>
                    </a:solidFill>
                  </a:tcPr>
                </a:tc>
                <a:tc>
                  <a:txBody>
                    <a:bodyPr/>
                    <a:lstStyle/>
                    <a:p>
                      <a:pPr>
                        <a:defRPr sz="1050">
                          <a:solidFill>
                            <a:srgbClr val="1C2238"/>
                          </a:solidFill>
                          <a:latin typeface="Calibri"/>
                        </a:defRPr>
                      </a:pPr>
                      <a:r>
                        <a:t>1.95 µV/√Hz at 1 kHz · 222 µVrms over 338 kHz</a:t>
                      </a:r>
                    </a:p>
                  </a:txBody>
                  <a:tcPr anchor="ctr">
                    <a:solidFill>
                      <a:srgbClr val="F3F5FA"/>
                    </a:solidFill>
                  </a:tcPr>
                </a:tc>
                <a:extLst>
                  <a:ext uri="{0D108BD9-81ED-4DB2-BD59-A6C34878D82A}">
                    <a16:rowId xmlns:a16="http://schemas.microsoft.com/office/drawing/2014/main" val="10009"/>
                  </a:ext>
                </a:extLst>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95.88 × 48.05 µm = 0.0046 mm²</a:t>
                      </a:r>
                    </a:p>
                  </a:txBody>
                  <a:tcPr anchor="ctr">
                    <a:solidFill>
                      <a:srgbClr val="FFFFFF"/>
                    </a:solidFill>
                  </a:tcPr>
                </a:tc>
                <a:extLst>
                  <a:ext uri="{0D108BD9-81ED-4DB2-BD59-A6C34878D82A}">
                    <a16:rowId xmlns:a16="http://schemas.microsoft.com/office/drawing/2014/main" val="10010"/>
                  </a:ext>
                </a:extLst>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12 (3 per GRADIENT2)</a:t>
                      </a:r>
                    </a:p>
                  </a:txBody>
                  <a:tcPr anchor="ctr">
                    <a:solidFill>
                      <a:srgbClr val="F3F5FA"/>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40 dB linear amplifier. The first block in the chain.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OPAM_LIN_flat.png"/>
          <p:cNvPicPr>
            <a:picLocks noChangeAspect="1"/>
          </p:cNvPicPr>
          <p:nvPr/>
        </p:nvPicPr>
        <p:blipFill>
          <a:blip r:embed="rId2"/>
          <a:stretch>
            <a:fillRect/>
          </a:stretch>
        </p:blipFill>
        <p:spPr>
          <a:xfrm>
            <a:off x="6233007" y="2429734"/>
            <a:ext cx="5391759" cy="2702619"/>
          </a:xfrm>
          <a:prstGeom prst="rect">
            <a:avLst/>
          </a:prstGeom>
        </p:spPr>
      </p:pic>
      <p:sp>
        <p:nvSpPr>
          <p:cNvPr id="8" name="TextBox 7"/>
          <p:cNvSpPr txBox="1"/>
          <p:nvPr/>
        </p:nvSpPr>
        <p:spPr>
          <a:xfrm>
            <a:off x="6233007" y="5205505"/>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95.88 × 48.05 µm</a:t>
            </a:r>
          </a:p>
        </p:txBody>
      </p:sp>
      <p:pic>
        <p:nvPicPr>
          <p:cNvPr id="12" name="Picture 11">
            <a:extLst>
              <a:ext uri="{FF2B5EF4-FFF2-40B4-BE49-F238E27FC236}">
                <a16:creationId xmlns:a16="http://schemas.microsoft.com/office/drawing/2014/main" id="{F0B042C6-A6E3-3E26-63F6-24A8EF311ED9}"/>
              </a:ext>
            </a:extLst>
          </p:cNvPr>
          <p:cNvPicPr>
            <a:picLocks noChangeAspect="1"/>
          </p:cNvPicPr>
          <p:nvPr/>
        </p:nvPicPr>
        <p:blipFill>
          <a:blip r:embed="rId3"/>
          <a:stretch>
            <a:fillRect/>
          </a:stretch>
        </p:blipFill>
        <p:spPr>
          <a:xfrm>
            <a:off x="560547" y="1714236"/>
            <a:ext cx="10427236" cy="51437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input against output, and the slope that is the gain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OPAM_LIN_transfer.png"/>
          <p:cNvPicPr>
            <a:picLocks noChangeAspect="1"/>
          </p:cNvPicPr>
          <p:nvPr/>
        </p:nvPicPr>
        <p:blipFill>
          <a:blip r:embed="rId2"/>
          <a:stretch>
            <a:fillRect/>
          </a:stretch>
        </p:blipFill>
        <p:spPr>
          <a:xfrm>
            <a:off x="566928" y="1577456"/>
            <a:ext cx="5391759" cy="4407176"/>
          </a:xfrm>
          <a:prstGeom prst="rect">
            <a:avLst/>
          </a:prstGeom>
        </p:spPr>
      </p:pic>
      <p:sp>
        <p:nvSpPr>
          <p:cNvPr id="6" name="TextBox 5"/>
          <p:cNvSpPr txBox="1"/>
          <p:nvPr/>
        </p:nvSpPr>
        <p:spPr>
          <a:xfrm>
            <a:off x="566928" y="6057784"/>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input against output, and the slope that is the gain</a:t>
            </a:r>
          </a:p>
        </p:txBody>
      </p:sp>
      <p:pic>
        <p:nvPicPr>
          <p:cNvPr id="7" name="Picture 6" descr="blk_OPAM_LIN_power.png"/>
          <p:cNvPicPr>
            <a:picLocks noChangeAspect="1"/>
          </p:cNvPicPr>
          <p:nvPr/>
        </p:nvPicPr>
        <p:blipFill>
          <a:blip r:embed="rId3"/>
          <a:stretch>
            <a:fillRect/>
          </a:stretch>
        </p:blipFill>
        <p:spPr>
          <a:xfrm>
            <a:off x="6233007" y="2570930"/>
            <a:ext cx="5391759" cy="2420227"/>
          </a:xfrm>
          <a:prstGeom prst="rect">
            <a:avLst/>
          </a:prstGeom>
        </p:spPr>
      </p:pic>
      <p:sp>
        <p:nvSpPr>
          <p:cNvPr id="8" name="TextBox 7"/>
          <p:cNvSpPr txBox="1"/>
          <p:nvPr/>
        </p:nvSpPr>
        <p:spPr>
          <a:xfrm>
            <a:off x="6233007" y="5064309"/>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frequency response  ·  rejection and noise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OPAM_LIN_bode.png"/>
          <p:cNvPicPr>
            <a:picLocks noChangeAspect="1"/>
          </p:cNvPicPr>
          <p:nvPr/>
        </p:nvPicPr>
        <p:blipFill>
          <a:blip r:embed="rId2"/>
          <a:stretch>
            <a:fillRect/>
          </a:stretch>
        </p:blipFill>
        <p:spPr>
          <a:xfrm>
            <a:off x="566928" y="1578835"/>
            <a:ext cx="5391759" cy="4404418"/>
          </a:xfrm>
          <a:prstGeom prst="rect">
            <a:avLst/>
          </a:prstGeom>
        </p:spPr>
      </p:pic>
      <p:sp>
        <p:nvSpPr>
          <p:cNvPr id="6" name="TextBox 5"/>
          <p:cNvSpPr txBox="1"/>
          <p:nvPr/>
        </p:nvSpPr>
        <p:spPr>
          <a:xfrm>
            <a:off x="566928" y="6056405"/>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frequency response</a:t>
            </a:r>
          </a:p>
        </p:txBody>
      </p:sp>
      <p:pic>
        <p:nvPicPr>
          <p:cNvPr id="7" name="Picture 6" descr="blk_OPAM_LIN_rejection.png"/>
          <p:cNvPicPr>
            <a:picLocks noChangeAspect="1"/>
          </p:cNvPicPr>
          <p:nvPr/>
        </p:nvPicPr>
        <p:blipFill>
          <a:blip r:embed="rId3"/>
          <a:stretch>
            <a:fillRect/>
          </a:stretch>
        </p:blipFill>
        <p:spPr>
          <a:xfrm>
            <a:off x="6570643" y="1572768"/>
            <a:ext cx="4716487" cy="4416552"/>
          </a:xfrm>
          <a:prstGeom prst="rect">
            <a:avLst/>
          </a:prstGeom>
        </p:spPr>
      </p:pic>
      <p:sp>
        <p:nvSpPr>
          <p:cNvPr id="8" name="TextBox 7"/>
          <p:cNvSpPr txBox="1"/>
          <p:nvPr/>
        </p:nvSpPr>
        <p:spPr>
          <a:xfrm>
            <a:off x="6233007" y="606247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rejection and noise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device-mismatch Monte Carlo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OPAM_LIN_mismatch.png"/>
          <p:cNvPicPr>
            <a:picLocks noChangeAspect="1"/>
          </p:cNvPicPr>
          <p:nvPr/>
        </p:nvPicPr>
        <p:blipFill>
          <a:blip r:embed="rId2"/>
          <a:stretch>
            <a:fillRect/>
          </a:stretch>
        </p:blipFill>
        <p:spPr>
          <a:xfrm>
            <a:off x="1962456" y="1572768"/>
            <a:ext cx="826678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Comparator. Turns the comparison of two axes into a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6889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It does not compare against a fixed threshold: it compares two axes against each other.</a:t>
            </a:r>
          </a:p>
          <a:p>
            <a:pPr algn="l">
              <a:spcAft>
                <a:spcPts val="900"/>
              </a:spcAft>
            </a:pPr>
            <a:r>
              <a:rPr sz="1300" b="0">
                <a:solidFill>
                  <a:srgbClr val="1C2238"/>
                </a:solidFill>
                <a:latin typeface="Calibri"/>
              </a:rPr>
              <a:t>That is why three comparators serve three axes — X against Y, X against Z, Y against Z. The decoder needs the ORDER of the three, not their values.</a:t>
            </a:r>
          </a:p>
          <a:p>
            <a:pPr algn="l">
              <a:spcAft>
                <a:spcPts val="1100"/>
              </a:spcAft>
            </a:pPr>
            <a:r>
              <a:rPr sz="1300" b="1">
                <a:solidFill>
                  <a:srgbClr val="16256B"/>
                </a:solidFill>
                <a:latin typeface="Calibri"/>
              </a:rPr>
              <a:t>This is where the threshold that had to be corrected lives.</a:t>
            </a:r>
          </a:p>
          <a:p>
            <a:pPr algn="l">
              <a:spcAft>
                <a:spcPts val="900"/>
              </a:spcAft>
            </a:pPr>
            <a:r>
              <a:rPr sz="1300" b="0">
                <a:solidFill>
                  <a:srgbClr val="1C2238"/>
                </a:solidFill>
                <a:latin typeface="Calibri"/>
              </a:rPr>
              <a:t>The second of the three findings at the end came out of this block: the trip point was not where it was believed to be, and the fine sweep measured it.</a:t>
            </a:r>
          </a:p>
        </p:txBody>
      </p:sp>
      <p:graphicFrame>
        <p:nvGraphicFramePr>
          <p:cNvPr id="6" name="Table 5"/>
          <p:cNvGraphicFramePr>
            <a:graphicFrameLocks noGrp="1"/>
          </p:cNvGraphicFramePr>
          <p:nvPr/>
        </p:nvGraphicFramePr>
        <p:xfrm>
          <a:off x="6255867" y="1572768"/>
          <a:ext cx="5368899" cy="3867912"/>
        </p:xfrm>
        <a:graphic>
          <a:graphicData uri="http://schemas.openxmlformats.org/drawingml/2006/table">
            <a:tbl>
              <a:tblPr firstRow="1" bandRow="1">
                <a:tableStyleId>{5C22544A-7EE6-4342-B048-85BDC9FD1C3A}</a:tableStyleId>
              </a:tblPr>
              <a:tblGrid>
                <a:gridCol w="2684449">
                  <a:extLst>
                    <a:ext uri="{9D8B030D-6E8A-4147-A177-3AD203B41FA5}">
                      <a16:colId xmlns:a16="http://schemas.microsoft.com/office/drawing/2014/main" val="20000"/>
                    </a:ext>
                  </a:extLst>
                </a:gridCol>
                <a:gridCol w="2684450">
                  <a:extLst>
                    <a:ext uri="{9D8B030D-6E8A-4147-A177-3AD203B41FA5}">
                      <a16:colId xmlns:a16="http://schemas.microsoft.com/office/drawing/2014/main" val="20001"/>
                    </a:ext>
                  </a:extLst>
                </a:gridCol>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compares two axes against each other</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3.08 mW</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050">
                          <a:solidFill>
                            <a:srgbClr val="1C2238"/>
                          </a:solidFill>
                          <a:latin typeface="Calibri"/>
                        </a:defRPr>
                      </a:pPr>
                      <a:r>
                        <a:t>Input threshold</a:t>
                      </a:r>
                    </a:p>
                  </a:txBody>
                  <a:tcPr anchor="ctr">
                    <a:solidFill>
                      <a:srgbClr val="FFFFFF"/>
                    </a:solidFill>
                  </a:tcPr>
                </a:tc>
                <a:tc>
                  <a:txBody>
                    <a:bodyPr/>
                    <a:lstStyle/>
                    <a:p>
                      <a:pPr>
                        <a:defRPr sz="1050">
                          <a:solidFill>
                            <a:srgbClr val="1C2238"/>
                          </a:solidFill>
                          <a:latin typeface="Calibri"/>
                        </a:defRPr>
                      </a:pPr>
                      <a:r>
                        <a:t>+7 µV schematic / +62 µV layout (2.5 V crossing)</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050">
                          <a:solidFill>
                            <a:srgbClr val="1C2238"/>
                          </a:solidFill>
                          <a:latin typeface="Calibri"/>
                        </a:defRPr>
                      </a:pPr>
                      <a:r>
                        <a:t>Input for a high output</a:t>
                      </a:r>
                    </a:p>
                  </a:txBody>
                  <a:tcPr anchor="ctr">
                    <a:solidFill>
                      <a:srgbClr val="F3F5FA"/>
                    </a:solidFill>
                  </a:tcPr>
                </a:tc>
                <a:tc>
                  <a:txBody>
                    <a:bodyPr/>
                    <a:lstStyle/>
                    <a:p>
                      <a:pPr>
                        <a:defRPr sz="1050">
                          <a:solidFill>
                            <a:srgbClr val="1C2238"/>
                          </a:solidFill>
                          <a:latin typeface="Calibri"/>
                        </a:defRPr>
                      </a:pPr>
                      <a:r>
                        <a:t>+50 µV schematic / +104 µV layout (&gt;4.5 V)</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050">
                          <a:solidFill>
                            <a:srgbClr val="1C2238"/>
                          </a:solidFill>
                          <a:latin typeface="Calibri"/>
                        </a:defRPr>
                      </a:pPr>
                      <a:r>
                        <a:t>Decision delay</a:t>
                      </a:r>
                    </a:p>
                  </a:txBody>
                  <a:tcPr anchor="ctr">
                    <a:solidFill>
                      <a:srgbClr val="FFFFFF"/>
                    </a:solidFill>
                  </a:tcPr>
                </a:tc>
                <a:tc>
                  <a:txBody>
                    <a:bodyPr/>
                    <a:lstStyle/>
                    <a:p>
                      <a:pPr>
                        <a:defRPr sz="1050">
                          <a:solidFill>
                            <a:srgbClr val="1C2238"/>
                          </a:solidFill>
                          <a:latin typeface="Calibri"/>
                        </a:defRPr>
                      </a:pPr>
                      <a:r>
                        <a:t>399 ns mean, 456 ns worst case</a:t>
                      </a:r>
                    </a:p>
                  </a:txBody>
                  <a:tcPr anchor="ctr">
                    <a:solidFill>
                      <a:srgbClr val="FFFFFF"/>
                    </a:solidFill>
                  </a:tcPr>
                </a:tc>
                <a:extLst>
                  <a:ext uri="{0D108BD9-81ED-4DB2-BD59-A6C34878D82A}">
                    <a16:rowId xmlns:a16="http://schemas.microsoft.com/office/drawing/2014/main" val="10006"/>
                  </a:ext>
                </a:extLst>
              </a:tr>
              <a:tr h="329184">
                <a:tc>
                  <a:txBody>
                    <a:bodyPr/>
                    <a:lstStyle/>
                    <a:p>
                      <a:pPr>
                        <a:defRPr sz="1050">
                          <a:solidFill>
                            <a:srgbClr val="1C2238"/>
                          </a:solidFill>
                          <a:latin typeface="Calibri"/>
                        </a:defRPr>
                      </a:pPr>
                      <a:r>
                        <a:t>Slew rate</a:t>
                      </a:r>
                    </a:p>
                  </a:txBody>
                  <a:tcPr anchor="ctr">
                    <a:solidFill>
                      <a:srgbClr val="F3F5FA"/>
                    </a:solidFill>
                  </a:tcPr>
                </a:tc>
                <a:tc>
                  <a:txBody>
                    <a:bodyPr/>
                    <a:lstStyle/>
                    <a:p>
                      <a:pPr>
                        <a:defRPr sz="1050">
                          <a:solidFill>
                            <a:srgbClr val="1C2238"/>
                          </a:solidFill>
                          <a:latin typeface="Calibri"/>
                        </a:defRPr>
                      </a:pPr>
                      <a:r>
                        <a:t>6.3 V/µs rising and falling (6.2 in layout); a straight ramp over the whole 601 ns edge</a:t>
                      </a:r>
                    </a:p>
                  </a:txBody>
                  <a:tcPr anchor="ctr">
                    <a:solidFill>
                      <a:srgbClr val="F3F5FA"/>
                    </a:solidFill>
                  </a:tcPr>
                </a:tc>
                <a:extLst>
                  <a:ext uri="{0D108BD9-81ED-4DB2-BD59-A6C34878D82A}">
                    <a16:rowId xmlns:a16="http://schemas.microsoft.com/office/drawing/2014/main" val="10007"/>
                  </a:ext>
                </a:extLst>
              </a:tr>
              <a:tr h="329184">
                <a:tc>
                  <a:txBody>
                    <a:bodyPr/>
                    <a:lstStyle/>
                    <a:p>
                      <a:pPr>
                        <a:defRPr sz="1050">
                          <a:solidFill>
                            <a:srgbClr val="1C2238"/>
                          </a:solidFill>
                          <a:latin typeface="Calibri"/>
                        </a:defRPr>
                      </a:pPr>
                      <a:r>
                        <a:t>Noise</a:t>
                      </a:r>
                    </a:p>
                  </a:txBody>
                  <a:tcPr anchor="ctr">
                    <a:solidFill>
                      <a:srgbClr val="FFFFFF"/>
                    </a:solidFill>
                  </a:tcPr>
                </a:tc>
                <a:tc>
                  <a:txBody>
                    <a:bodyPr/>
                    <a:lstStyle/>
                    <a:p>
                      <a:pPr>
                        <a:defRPr sz="1050">
                          <a:solidFill>
                            <a:srgbClr val="1C2238"/>
                          </a:solidFill>
                          <a:latin typeface="Calibri"/>
                        </a:defRPr>
                      </a:pPr>
                      <a:r>
                        <a:t>set by the amplifier ahead of it, not by this cell</a:t>
                      </a:r>
                    </a:p>
                  </a:txBody>
                  <a:tcPr anchor="ctr">
                    <a:solidFill>
                      <a:srgbClr val="FFFFFF"/>
                    </a:solidFill>
                  </a:tcPr>
                </a:tc>
                <a:extLst>
                  <a:ext uri="{0D108BD9-81ED-4DB2-BD59-A6C34878D82A}">
                    <a16:rowId xmlns:a16="http://schemas.microsoft.com/office/drawing/2014/main" val="10008"/>
                  </a:ext>
                </a:extLst>
              </a:tr>
              <a:tr h="329184">
                <a:tc>
                  <a:txBody>
                    <a:bodyPr/>
                    <a:lstStyle/>
                    <a:p>
                      <a:pPr>
                        <a:defRPr sz="1050">
                          <a:solidFill>
                            <a:srgbClr val="1C2238"/>
                          </a:solidFill>
                          <a:latin typeface="Calibri"/>
                        </a:defRPr>
                      </a:pPr>
                      <a:r>
                        <a:t>Area</a:t>
                      </a:r>
                    </a:p>
                  </a:txBody>
                  <a:tcPr anchor="ctr">
                    <a:solidFill>
                      <a:srgbClr val="F3F5FA"/>
                    </a:solidFill>
                  </a:tcPr>
                </a:tc>
                <a:tc>
                  <a:txBody>
                    <a:bodyPr/>
                    <a:lstStyle/>
                    <a:p>
                      <a:pPr>
                        <a:defRPr sz="1050">
                          <a:solidFill>
                            <a:srgbClr val="1C2238"/>
                          </a:solidFill>
                          <a:latin typeface="Calibri"/>
                        </a:defRPr>
                      </a:pPr>
                      <a:r>
                        <a:t>99.60 × 31.46 µm = 0.0031 mm²</a:t>
                      </a:r>
                    </a:p>
                  </a:txBody>
                  <a:tcPr anchor="ctr">
                    <a:solidFill>
                      <a:srgbClr val="F3F5FA"/>
                    </a:solidFill>
                  </a:tcPr>
                </a:tc>
                <a:extLst>
                  <a:ext uri="{0D108BD9-81ED-4DB2-BD59-A6C34878D82A}">
                    <a16:rowId xmlns:a16="http://schemas.microsoft.com/office/drawing/2014/main" val="10009"/>
                  </a:ext>
                </a:extLst>
              </a:tr>
              <a:tr h="329184">
                <a:tc>
                  <a:txBody>
                    <a:bodyPr/>
                    <a:lstStyle/>
                    <a:p>
                      <a:pPr>
                        <a:defRPr sz="1050">
                          <a:solidFill>
                            <a:srgbClr val="1C2238"/>
                          </a:solidFill>
                          <a:latin typeface="Calibri"/>
                        </a:defRPr>
                      </a:pPr>
                      <a:r>
                        <a:t>Instances</a:t>
                      </a:r>
                    </a:p>
                  </a:txBody>
                  <a:tcPr anchor="ctr">
                    <a:solidFill>
                      <a:srgbClr val="FFFFFF"/>
                    </a:solidFill>
                  </a:tcPr>
                </a:tc>
                <a:tc>
                  <a:txBody>
                    <a:bodyPr/>
                    <a:lstStyle/>
                    <a:p>
                      <a:pPr>
                        <a:defRPr sz="1050">
                          <a:solidFill>
                            <a:srgbClr val="1C2238"/>
                          </a:solidFill>
                          <a:latin typeface="Calibri"/>
                        </a:defRPr>
                      </a:pPr>
                      <a:r>
                        <a:t>12 (3 per GRADIENT2)</a:t>
                      </a:r>
                    </a:p>
                  </a:txBody>
                  <a:tcPr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Comparator. Turns the comparison of two axes into a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COMP.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COMP.png"/>
          <p:cNvPicPr>
            <a:picLocks noChangeAspect="1"/>
          </p:cNvPicPr>
          <p:nvPr/>
        </p:nvPicPr>
        <p:blipFill>
          <a:blip r:embed="rId3"/>
          <a:stretch>
            <a:fillRect/>
          </a:stretch>
        </p:blipFill>
        <p:spPr>
          <a:xfrm>
            <a:off x="6233007" y="2882417"/>
            <a:ext cx="5391759" cy="1797253"/>
          </a:xfrm>
          <a:prstGeom prst="rect">
            <a:avLst/>
          </a:prstGeom>
        </p:spPr>
      </p:pic>
      <p:sp>
        <p:nvSpPr>
          <p:cNvPr id="8" name="TextBox 7"/>
          <p:cNvSpPr txBox="1"/>
          <p:nvPr/>
        </p:nvSpPr>
        <p:spPr>
          <a:xfrm>
            <a:off x="6233007" y="475282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99.60 × 31.46 µm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Inside: the SAME bias generator and its own differential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bias.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bias generator (the same cell as OPAM_LIN's)</a:t>
            </a:r>
          </a:p>
        </p:txBody>
      </p:sp>
      <p:pic>
        <p:nvPicPr>
          <p:cNvPr id="7" name="Picture 6" descr="sch_sub_diff_comp.png"/>
          <p:cNvPicPr>
            <a:picLocks noChangeAspect="1"/>
          </p:cNvPicPr>
          <p:nvPr/>
        </p:nvPicPr>
        <p:blipFill>
          <a:blip r:embed="rId3"/>
          <a:stretch>
            <a:fillRect/>
          </a:stretch>
        </p:blipFill>
        <p:spPr>
          <a:xfrm>
            <a:off x="6233007" y="2342027"/>
            <a:ext cx="5391759" cy="2878033"/>
          </a:xfrm>
          <a:prstGeom prst="rect">
            <a:avLst/>
          </a:prstGeom>
        </p:spPr>
      </p:pic>
      <p:sp>
        <p:nvSpPr>
          <p:cNvPr id="8" name="TextBox 7"/>
          <p:cNvSpPr txBox="1"/>
          <p:nvPr/>
        </p:nvSpPr>
        <p:spPr>
          <a:xfrm>
            <a:off x="6233007"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differential pair (sub_diff)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input sweep against output, and what it costs  ·  slew rate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COMP_decision.png"/>
          <p:cNvPicPr>
            <a:picLocks noChangeAspect="1"/>
          </p:cNvPicPr>
          <p:nvPr/>
        </p:nvPicPr>
        <p:blipFill>
          <a:blip r:embed="rId2"/>
          <a:stretch>
            <a:fillRect/>
          </a:stretch>
        </p:blipFill>
        <p:spPr>
          <a:xfrm>
            <a:off x="1320770" y="1572768"/>
            <a:ext cx="3884074" cy="4416552"/>
          </a:xfrm>
          <a:prstGeom prst="rect">
            <a:avLst/>
          </a:prstGeom>
        </p:spPr>
      </p:pic>
      <p:sp>
        <p:nvSpPr>
          <p:cNvPr id="6" name="TextBox 5"/>
          <p:cNvSpPr txBox="1"/>
          <p:nvPr/>
        </p:nvSpPr>
        <p:spPr>
          <a:xfrm>
            <a:off x="566928" y="606247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input sweep against output, and what it costs</a:t>
            </a:r>
          </a:p>
        </p:txBody>
      </p:sp>
      <p:pic>
        <p:nvPicPr>
          <p:cNvPr id="7" name="Picture 6" descr="blk_COMP_slew.png"/>
          <p:cNvPicPr>
            <a:picLocks noChangeAspect="1"/>
          </p:cNvPicPr>
          <p:nvPr/>
        </p:nvPicPr>
        <p:blipFill>
          <a:blip r:embed="rId3"/>
          <a:stretch>
            <a:fillRect/>
          </a:stretch>
        </p:blipFill>
        <p:spPr>
          <a:xfrm>
            <a:off x="6233007" y="2495441"/>
            <a:ext cx="5391759" cy="2571206"/>
          </a:xfrm>
          <a:prstGeom prst="rect">
            <a:avLst/>
          </a:prstGeom>
        </p:spPr>
      </p:pic>
      <p:sp>
        <p:nvSpPr>
          <p:cNvPr id="8" name="TextBox 7"/>
          <p:cNvSpPr txBox="1"/>
          <p:nvPr/>
        </p:nvSpPr>
        <p:spPr>
          <a:xfrm>
            <a:off x="6233007" y="5139799"/>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slew rate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step response  ·  frequency response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COMP_step.png"/>
          <p:cNvPicPr>
            <a:picLocks noChangeAspect="1"/>
          </p:cNvPicPr>
          <p:nvPr/>
        </p:nvPicPr>
        <p:blipFill>
          <a:blip r:embed="rId2"/>
          <a:stretch>
            <a:fillRect/>
          </a:stretch>
        </p:blipFill>
        <p:spPr>
          <a:xfrm>
            <a:off x="566928" y="1743973"/>
            <a:ext cx="5391759" cy="4074141"/>
          </a:xfrm>
          <a:prstGeom prst="rect">
            <a:avLst/>
          </a:prstGeom>
        </p:spPr>
      </p:pic>
      <p:sp>
        <p:nvSpPr>
          <p:cNvPr id="6" name="TextBox 5"/>
          <p:cNvSpPr txBox="1"/>
          <p:nvPr/>
        </p:nvSpPr>
        <p:spPr>
          <a:xfrm>
            <a:off x="566928" y="5891266"/>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step response</a:t>
            </a:r>
          </a:p>
        </p:txBody>
      </p:sp>
      <p:pic>
        <p:nvPicPr>
          <p:cNvPr id="7" name="Picture 6" descr="blk_COMP_bode.png"/>
          <p:cNvPicPr>
            <a:picLocks noChangeAspect="1"/>
          </p:cNvPicPr>
          <p:nvPr/>
        </p:nvPicPr>
        <p:blipFill>
          <a:blip r:embed="rId3"/>
          <a:stretch>
            <a:fillRect/>
          </a:stretch>
        </p:blipFill>
        <p:spPr>
          <a:xfrm>
            <a:off x="6233007" y="1578835"/>
            <a:ext cx="5391759" cy="4404418"/>
          </a:xfrm>
          <a:prstGeom prst="rect">
            <a:avLst/>
          </a:prstGeom>
        </p:spPr>
      </p:pic>
      <p:sp>
        <p:nvSpPr>
          <p:cNvPr id="8" name="TextBox 7"/>
          <p:cNvSpPr txBox="1"/>
          <p:nvPr/>
        </p:nvSpPr>
        <p:spPr>
          <a:xfrm>
            <a:off x="6233007" y="6056405"/>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frequency response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6889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XY, XZ, YZ go in. X, Y or Z comes out.</a:t>
            </a:r>
          </a:p>
          <a:p>
            <a:pPr algn="l">
              <a:spcAft>
                <a:spcPts val="900"/>
              </a:spcAft>
            </a:pPr>
            <a:r>
              <a:rPr sz="1300" b="0">
                <a:solidFill>
                  <a:srgbClr val="1C2238"/>
                </a:solidFill>
                <a:latin typeface="Calibri"/>
              </a:rPr>
              <a:t>Pure logic: the three pairwise comparisons determine an order, and the order determines the winner. It is the smallest block in the chain and the lowest-power by three orders of magnitude.</a:t>
            </a:r>
          </a:p>
          <a:p>
            <a:pPr algn="l">
              <a:spcAft>
                <a:spcPts val="1100"/>
              </a:spcAft>
            </a:pPr>
            <a:r>
              <a:rPr sz="1300" b="1">
                <a:solidFill>
                  <a:srgbClr val="16256B"/>
                </a:solidFill>
                <a:latin typeface="Calibri"/>
              </a:rPr>
              <a:t>This is where the Z-axis problem showed up.</a:t>
            </a:r>
          </a:p>
          <a:p>
            <a:pPr algn="l">
              <a:spcAft>
                <a:spcPts val="900"/>
              </a:spcAft>
            </a:pPr>
            <a:r>
              <a:rPr sz="1300" b="0">
                <a:solidFill>
                  <a:srgbClr val="1C2238"/>
                </a:solidFill>
                <a:latin typeface="Calibri"/>
              </a:rPr>
              <a:t>Z could never win. What fixed it was not raising its weight but changing the order within each triple.</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extLst>
                    <a:ext uri="{9D8B030D-6E8A-4147-A177-3AD203B41FA5}">
                      <a16:colId xmlns:a16="http://schemas.microsoft.com/office/drawing/2014/main" val="20000"/>
                    </a:ext>
                  </a:extLst>
                </a:gridCol>
                <a:gridCol w="2684450">
                  <a:extLst>
                    <a:ext uri="{9D8B030D-6E8A-4147-A177-3AD203B41FA5}">
                      <a16:colId xmlns:a16="http://schemas.microsoft.com/office/drawing/2014/main" val="20001"/>
                    </a:ext>
                  </a:extLst>
                </a:gridCol>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three comparisons to one winning axis</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1.4 µW</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31.76 × 13.82 µm = 0.0004 mm²</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4 (one per GRADIENT2)</a:t>
                      </a:r>
                    </a:p>
                  </a:txBody>
                  <a:tcPr anchor="ctr">
                    <a:solidFill>
                      <a:srgbClr val="F3F5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DECODER.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DECODER.png"/>
          <p:cNvPicPr>
            <a:picLocks noChangeAspect="1"/>
          </p:cNvPicPr>
          <p:nvPr/>
        </p:nvPicPr>
        <p:blipFill>
          <a:blip r:embed="rId3"/>
          <a:stretch>
            <a:fillRect/>
          </a:stretch>
        </p:blipFill>
        <p:spPr>
          <a:xfrm>
            <a:off x="6233007" y="2608336"/>
            <a:ext cx="5391759" cy="2345415"/>
          </a:xfrm>
          <a:prstGeom prst="rect">
            <a:avLst/>
          </a:prstGeom>
        </p:spPr>
      </p:pic>
      <p:sp>
        <p:nvSpPr>
          <p:cNvPr id="8" name="TextBox 7"/>
          <p:cNvSpPr txBox="1"/>
          <p:nvPr/>
        </p:nvSpPr>
        <p:spPr>
          <a:xfrm>
            <a:off x="6233007" y="5026903"/>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31.76 × 13.82 µm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ACD9F-AC1B-95AD-ADF0-F2F342366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B20E43-C291-F7B3-E93C-98DBB1BC4681}"/>
              </a:ext>
            </a:extLst>
          </p:cNvPr>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DECODER</a:t>
            </a:r>
          </a:p>
        </p:txBody>
      </p:sp>
      <p:sp>
        <p:nvSpPr>
          <p:cNvPr id="3" name="TextBox 2">
            <a:extLst>
              <a:ext uri="{FF2B5EF4-FFF2-40B4-BE49-F238E27FC236}">
                <a16:creationId xmlns:a16="http://schemas.microsoft.com/office/drawing/2014/main" id="{A8992535-9732-A416-6BCB-9E6801EA9857}"/>
              </a:ext>
            </a:extLst>
          </p:cNvPr>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a:extLst>
              <a:ext uri="{FF2B5EF4-FFF2-40B4-BE49-F238E27FC236}">
                <a16:creationId xmlns:a16="http://schemas.microsoft.com/office/drawing/2014/main" id="{107B3B7C-49C5-4A54-DA53-952309BAB751}"/>
              </a:ext>
            </a:extLst>
          </p:cNvPr>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17396D88-784A-ADBE-AB4D-047B88C08510}"/>
              </a:ext>
            </a:extLst>
          </p:cNvPr>
          <p:cNvPicPr>
            <a:picLocks noChangeAspect="1"/>
          </p:cNvPicPr>
          <p:nvPr/>
        </p:nvPicPr>
        <p:blipFill>
          <a:blip r:embed="rId2"/>
          <a:stretch>
            <a:fillRect/>
          </a:stretch>
        </p:blipFill>
        <p:spPr>
          <a:xfrm>
            <a:off x="7901873" y="1236743"/>
            <a:ext cx="3056110" cy="3284937"/>
          </a:xfrm>
          <a:prstGeom prst="rect">
            <a:avLst/>
          </a:prstGeom>
        </p:spPr>
      </p:pic>
      <p:pic>
        <p:nvPicPr>
          <p:cNvPr id="12" name="Picture 11">
            <a:extLst>
              <a:ext uri="{FF2B5EF4-FFF2-40B4-BE49-F238E27FC236}">
                <a16:creationId xmlns:a16="http://schemas.microsoft.com/office/drawing/2014/main" id="{2F6046AE-4D54-6CCF-79F3-A348E716F6DC}"/>
              </a:ext>
            </a:extLst>
          </p:cNvPr>
          <p:cNvPicPr>
            <a:picLocks noChangeAspect="1"/>
          </p:cNvPicPr>
          <p:nvPr/>
        </p:nvPicPr>
        <p:blipFill>
          <a:blip r:embed="rId3"/>
          <a:stretch>
            <a:fillRect/>
          </a:stretch>
        </p:blipFill>
        <p:spPr>
          <a:xfrm>
            <a:off x="566928" y="2070523"/>
            <a:ext cx="5230797" cy="3280586"/>
          </a:xfrm>
          <a:prstGeom prst="rect">
            <a:avLst/>
          </a:prstGeom>
        </p:spPr>
      </p:pic>
      <p:pic>
        <p:nvPicPr>
          <p:cNvPr id="14" name="Picture 13">
            <a:extLst>
              <a:ext uri="{FF2B5EF4-FFF2-40B4-BE49-F238E27FC236}">
                <a16:creationId xmlns:a16="http://schemas.microsoft.com/office/drawing/2014/main" id="{11D40EAD-A585-6A5E-A113-3FBCF0F681E5}"/>
              </a:ext>
            </a:extLst>
          </p:cNvPr>
          <p:cNvPicPr>
            <a:picLocks noChangeAspect="1"/>
          </p:cNvPicPr>
          <p:nvPr/>
        </p:nvPicPr>
        <p:blipFill>
          <a:blip r:embed="rId4"/>
          <a:stretch>
            <a:fillRect/>
          </a:stretch>
        </p:blipFill>
        <p:spPr>
          <a:xfrm>
            <a:off x="5229047" y="2977286"/>
            <a:ext cx="5772580" cy="3007720"/>
          </a:xfrm>
          <a:prstGeom prst="rect">
            <a:avLst/>
          </a:prstGeom>
        </p:spPr>
      </p:pic>
    </p:spTree>
    <p:extLst>
      <p:ext uri="{BB962C8B-B14F-4D97-AF65-F5344CB8AC3E}">
        <p14:creationId xmlns:p14="http://schemas.microsoft.com/office/powerpoint/2010/main" val="595636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logic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DECODER_logic.png"/>
          <p:cNvPicPr>
            <a:picLocks noChangeAspect="1"/>
          </p:cNvPicPr>
          <p:nvPr/>
        </p:nvPicPr>
        <p:blipFill>
          <a:blip r:embed="rId2"/>
          <a:stretch>
            <a:fillRect/>
          </a:stretch>
        </p:blipFill>
        <p:spPr>
          <a:xfrm>
            <a:off x="566928" y="2159931"/>
            <a:ext cx="5391759" cy="3242226"/>
          </a:xfrm>
          <a:prstGeom prst="rect">
            <a:avLst/>
          </a:prstGeom>
        </p:spPr>
      </p:pic>
      <p:sp>
        <p:nvSpPr>
          <p:cNvPr id="6" name="TextBox 5"/>
          <p:cNvSpPr txBox="1"/>
          <p:nvPr/>
        </p:nvSpPr>
        <p:spPr>
          <a:xfrm>
            <a:off x="566928" y="5475309"/>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logic</a:t>
            </a:r>
          </a:p>
        </p:txBody>
      </p:sp>
      <p:pic>
        <p:nvPicPr>
          <p:cNvPr id="7" name="Picture 6" descr="blk_DECODER_power.png"/>
          <p:cNvPicPr>
            <a:picLocks noChangeAspect="1"/>
          </p:cNvPicPr>
          <p:nvPr/>
        </p:nvPicPr>
        <p:blipFill>
          <a:blip r:embed="rId3"/>
          <a:stretch>
            <a:fillRect/>
          </a:stretch>
        </p:blipFill>
        <p:spPr>
          <a:xfrm>
            <a:off x="6233007" y="2570311"/>
            <a:ext cx="5391759" cy="2421465"/>
          </a:xfrm>
          <a:prstGeom prst="rect">
            <a:avLst/>
          </a:prstGeom>
        </p:spPr>
      </p:pic>
      <p:sp>
        <p:nvSpPr>
          <p:cNvPr id="8" name="TextBox 7"/>
          <p:cNvSpPr txBox="1"/>
          <p:nvPr/>
        </p:nvSpPr>
        <p:spPr>
          <a:xfrm>
            <a:off x="6233007" y="5064928"/>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GRADIENT BENCH · METHOD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run_gradient.sh — three bridges, and only the linear amplifier.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700" b="1">
                <a:solidFill>
                  <a:srgbClr val="16256B"/>
                </a:solidFill>
                <a:latin typeface="Calibri"/>
              </a:rPr>
              <a:t>Two chains hung off the SAME six sensor nodes:</a:t>
            </a:r>
          </a:p>
          <a:p>
            <a:pPr algn="l">
              <a:spcAft>
                <a:spcPts val="900"/>
              </a:spcAft>
            </a:pPr>
            <a:r>
              <a:rPr sz="1700" b="0">
                <a:solidFill>
                  <a:srgbClr val="1C2238"/>
                </a:solidFill>
                <a:latin typeface="Calibri"/>
              </a:rPr>
              <a:t>G2 — the schematic GRADIENT2, with the 40 dB OPAM_LIN</a:t>
            </a:r>
          </a:p>
          <a:p>
            <a:pPr algn="l">
              <a:spcAft>
                <a:spcPts val="900"/>
              </a:spcAft>
            </a:pPr>
            <a:r>
              <a:rPr sz="1700" b="0">
                <a:solidFill>
                  <a:srgbClr val="1C2238"/>
                </a:solidFill>
                <a:latin typeface="Calibri"/>
              </a:rPr>
              <a:t>G4 — the same circuit rebuilt from the v2 layout, with OPAM_LIN_flat and extracted with RC parasitics</a:t>
            </a:r>
          </a:p>
          <a:p>
            <a:pPr algn="l">
              <a:spcAft>
                <a:spcPts val="1100"/>
              </a:spcAft>
            </a:pPr>
            <a:r>
              <a:rPr sz="1700" b="1">
                <a:solidFill>
                  <a:srgbClr val="16256B"/>
                </a:solidFill>
                <a:latin typeface="Calibri"/>
              </a:rPr>
              <a:t>It is the same amplifier drawn two ways.</a:t>
            </a:r>
          </a:p>
          <a:p>
            <a:pPr algn="l">
              <a:spcAft>
                <a:spcPts val="900"/>
              </a:spcAft>
            </a:pPr>
            <a:r>
              <a:rPr sz="1700" b="0">
                <a:solidFill>
                  <a:srgbClr val="1C2238"/>
                </a:solidFill>
                <a:latin typeface="Calibri"/>
              </a:rPr>
              <a:t>So every comparison in this section is layout against schematic, never one amplifier against another.</a:t>
            </a:r>
          </a:p>
          <a:p>
            <a:pPr algn="l">
              <a:spcAft>
                <a:spcPts val="1100"/>
              </a:spcAft>
            </a:pPr>
            <a:r>
              <a:rPr sz="1700" b="1">
                <a:solidFill>
                  <a:srgbClr val="16256B"/>
                </a:solidFill>
                <a:latin typeface="Calibri"/>
              </a:rPr>
              <a:t>What it measures: the three fields are 120° apart, sum to zero, and the vector only changes direction.</a:t>
            </a:r>
          </a:p>
          <a:p>
            <a:pPr algn="l">
              <a:spcAft>
                <a:spcPts val="900"/>
              </a:spcAft>
            </a:pPr>
            <a:r>
              <a:rPr sz="1700" b="0">
                <a:solidFill>
                  <a:srgbClr val="1C2238"/>
                </a:solidFill>
                <a:latin typeface="Calibri"/>
              </a:rPr>
              <a:t>Sweeping 0 to 360° each axis should win a sector of exactly 120°. The figures are how far those three boundaries drift and on what percentage of the sweep the decoded axis is the right 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GRADIENT BENCH · METHOD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run_gradient.sh — three bridges, and only the linear amplifier.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XSCHEM/TEST_TOTAL/test_GRADIENT.sch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SENSING TRACEABILITY</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One signal, four stages: bridge → amplifier → comparator →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3429000"/>
            <a:ext cx="11057839" cy="4782312"/>
          </a:xfrm>
          <a:prstGeom prst="rect">
            <a:avLst/>
          </a:prstGeom>
          <a:noFill/>
        </p:spPr>
        <p:txBody>
          <a:bodyPr wrap="square" lIns="0" tIns="0" rIns="0" bIns="0" anchor="ctr">
            <a:spAutoFit/>
          </a:bodyPr>
          <a:lstStyle/>
          <a:p>
            <a:pPr algn="l">
              <a:spcAft>
                <a:spcPts val="1100"/>
              </a:spcAft>
            </a:pPr>
            <a:r>
              <a:rPr sz="1300" b="1" dirty="0">
                <a:solidFill>
                  <a:srgbClr val="16256B"/>
                </a:solidFill>
                <a:latin typeface="Calibri"/>
              </a:rPr>
              <a:t>The SAME signal is followed through the sensing block's four stages.</a:t>
            </a:r>
          </a:p>
          <a:p>
            <a:pPr algn="l">
              <a:spcAft>
                <a:spcPts val="900"/>
              </a:spcAft>
            </a:pPr>
            <a:r>
              <a:rPr sz="1300" b="0" dirty="0">
                <a:solidFill>
                  <a:srgbClr val="1C2238"/>
                </a:solidFill>
                <a:latin typeface="Calibri"/>
              </a:rPr>
              <a:t>The bench already records every intermediate node, including the ones with no name: the comparator outputs are probed hierarchically.</a:t>
            </a:r>
          </a:p>
          <a:p>
            <a:pPr algn="l">
              <a:spcAft>
                <a:spcPts val="1100"/>
              </a:spcAft>
            </a:pPr>
            <a:r>
              <a:rPr sz="1300" b="1" dirty="0">
                <a:solidFill>
                  <a:srgbClr val="16256B"/>
                </a:solidFill>
                <a:latin typeface="Calibri"/>
              </a:rPr>
              <a:t>At each stage, schematic and layout on top of each other.</a:t>
            </a:r>
          </a:p>
          <a:p>
            <a:pPr algn="l">
              <a:spcAft>
                <a:spcPts val="900"/>
              </a:spcAft>
            </a:pPr>
            <a:r>
              <a:rPr sz="1300" b="0" dirty="0">
                <a:solidFill>
                  <a:srgbClr val="1C2238"/>
                </a:solidFill>
                <a:latin typeface="Calibri"/>
              </a:rPr>
              <a:t>Only the linear amplifier: G2, the schematic, against G4, the layout.</a:t>
            </a:r>
          </a:p>
          <a:p>
            <a:pPr algn="l">
              <a:spcAft>
                <a:spcPts val="1100"/>
              </a:spcAft>
            </a:pPr>
            <a:r>
              <a:rPr sz="1300" b="1" dirty="0">
                <a:solidFill>
                  <a:srgbClr val="16256B"/>
                </a:solidFill>
                <a:latin typeface="Calibri"/>
              </a:rPr>
              <a:t>And at the end, on what percentage of the sweep the decoded axis is the right one.</a:t>
            </a:r>
          </a:p>
        </p:txBody>
      </p:sp>
      <p:pic>
        <p:nvPicPr>
          <p:cNvPr id="7" name="Picture 6" descr="tb_GRADIENT.png">
            <a:extLst>
              <a:ext uri="{FF2B5EF4-FFF2-40B4-BE49-F238E27FC236}">
                <a16:creationId xmlns:a16="http://schemas.microsoft.com/office/drawing/2014/main" id="{C5ED1B92-96F9-C03B-8F49-8BC3BA63E540}"/>
              </a:ext>
            </a:extLst>
          </p:cNvPr>
          <p:cNvPicPr>
            <a:picLocks noChangeAspect="1"/>
          </p:cNvPicPr>
          <p:nvPr/>
        </p:nvPicPr>
        <p:blipFill>
          <a:blip r:embed="rId2"/>
          <a:stretch>
            <a:fillRect/>
          </a:stretch>
        </p:blipFill>
        <p:spPr>
          <a:xfrm>
            <a:off x="2052466" y="1572768"/>
            <a:ext cx="6496596" cy="346777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whole chain on one sheet — amplifier still linear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rid_lineal.png"/>
          <p:cNvPicPr>
            <a:picLocks noChangeAspect="1"/>
          </p:cNvPicPr>
          <p:nvPr/>
        </p:nvPicPr>
        <p:blipFill>
          <a:blip r:embed="rId2"/>
          <a:stretch>
            <a:fillRect/>
          </a:stretch>
        </p:blipFill>
        <p:spPr>
          <a:xfrm>
            <a:off x="2345173" y="1572768"/>
            <a:ext cx="75013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same chain at dR/R = 2 %, what a real AMR gives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rid_saturado.png"/>
          <p:cNvPicPr>
            <a:picLocks noChangeAspect="1"/>
          </p:cNvPicPr>
          <p:nvPr/>
        </p:nvPicPr>
        <p:blipFill>
          <a:blip r:embed="rId2"/>
          <a:stretch>
            <a:fillRect/>
          </a:stretch>
        </p:blipFill>
        <p:spPr>
          <a:xfrm>
            <a:off x="2345173" y="1572768"/>
            <a:ext cx="75013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other experiment: field SIZE swept, direction held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eld_1_chain.png"/>
          <p:cNvPicPr>
            <a:picLocks noChangeAspect="1"/>
          </p:cNvPicPr>
          <p:nvPr/>
        </p:nvPicPr>
        <p:blipFill>
          <a:blip r:embed="rId2"/>
          <a:stretch>
            <a:fillRect/>
          </a:stretch>
        </p:blipFill>
        <p:spPr>
          <a:xfrm>
            <a:off x="3592976" y="1572768"/>
            <a:ext cx="500574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low end on its own scale: where the chip goes deaf</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eld_2_fine.png"/>
          <p:cNvPicPr>
            <a:picLocks noChangeAspect="1"/>
          </p:cNvPicPr>
          <p:nvPr/>
        </p:nvPicPr>
        <p:blipFill>
          <a:blip r:embed="rId2"/>
          <a:stretch>
            <a:fillRect/>
          </a:stretch>
        </p:blipFill>
        <p:spPr>
          <a:xfrm>
            <a:off x="3614646" y="1572768"/>
            <a:ext cx="496240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what the chain costs as the field grows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eld_3_power.png"/>
          <p:cNvPicPr>
            <a:picLocks noChangeAspect="1"/>
          </p:cNvPicPr>
          <p:nvPr/>
        </p:nvPicPr>
        <p:blipFill>
          <a:blip r:embed="rId2"/>
          <a:stretch>
            <a:fillRect/>
          </a:stretch>
        </p:blipFill>
        <p:spPr>
          <a:xfrm>
            <a:off x="566928" y="1720715"/>
            <a:ext cx="11057839" cy="4303538"/>
          </a:xfrm>
          <a:prstGeom prst="rect">
            <a:avLst/>
          </a:prstGeom>
        </p:spPr>
      </p:pic>
      <p:sp>
        <p:nvSpPr>
          <p:cNvPr id="6" name="TextBox 5"/>
          <p:cNvSpPr txBox="1"/>
          <p:nvPr/>
        </p:nvSpPr>
        <p:spPr>
          <a:xfrm>
            <a:off x="566928" y="6097405"/>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all eight sign combinations of the three bridge readings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ct_sensado.png"/>
          <p:cNvPicPr>
            <a:picLocks noChangeAspect="1"/>
          </p:cNvPicPr>
          <p:nvPr/>
        </p:nvPicPr>
        <p:blipFill>
          <a:blip r:embed="rId2"/>
          <a:stretch>
            <a:fillRect/>
          </a:stretch>
        </p:blipFill>
        <p:spPr>
          <a:xfrm>
            <a:off x="566928" y="1858124"/>
            <a:ext cx="11057839" cy="4028720"/>
          </a:xfrm>
          <a:prstGeom prst="rect">
            <a:avLst/>
          </a:prstGeom>
        </p:spPr>
      </p:pic>
      <p:sp>
        <p:nvSpPr>
          <p:cNvPr id="6" name="TextBox 5"/>
          <p:cNvSpPr txBox="1"/>
          <p:nvPr/>
        </p:nvSpPr>
        <p:spPr>
          <a:xfrm>
            <a:off x="566928" y="5959996"/>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2 · WEIGHT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vote counter: four chains vote, one axis sums.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ag_WEIGHT.png"/>
          <p:cNvPicPr>
            <a:picLocks noChangeAspect="1"/>
          </p:cNvPicPr>
          <p:nvPr/>
        </p:nvPicPr>
        <p:blipFill>
          <a:blip r:embed="rId2"/>
          <a:stretch>
            <a:fillRect/>
          </a:stretch>
        </p:blipFill>
        <p:spPr>
          <a:xfrm>
            <a:off x="1588572" y="1572768"/>
            <a:ext cx="9014551"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Current-mode vote counter. One per axis.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6889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Four inputs of EQUAL weight, one output.</a:t>
            </a:r>
          </a:p>
          <a:p>
            <a:pPr algn="l">
              <a:spcAft>
                <a:spcPts val="900"/>
              </a:spcAft>
            </a:pPr>
            <a:r>
              <a:rPr sz="1300" b="0">
                <a:solidFill>
                  <a:srgbClr val="1C2238"/>
                </a:solidFill>
                <a:latin typeface="Calibri"/>
              </a:rPr>
              <a:t>Each of the four GRADIENT2 chains votes on this axis, and the block counts the votes in current mode: the branches add by joining wires, so counting costs no extra stage. All four carry the same ~170 µA: what comes out depends on HOW MANY vote, not on which.</a:t>
            </a:r>
          </a:p>
          <a:p>
            <a:pPr algn="l">
              <a:spcAft>
                <a:spcPts val="1100"/>
              </a:spcAft>
            </a:pPr>
            <a:r>
              <a:rPr sz="1300" b="1">
                <a:solidFill>
                  <a:srgbClr val="16256B"/>
                </a:solidFill>
                <a:latin typeface="Calibri"/>
              </a:rPr>
              <a:t>The axis is claimed from 2 of 4 votes on.</a:t>
            </a:r>
          </a:p>
          <a:p>
            <a:pPr algn="l">
              <a:spcAft>
                <a:spcPts val="900"/>
              </a:spcAft>
            </a:pPr>
            <a:r>
              <a:rPr sz="1300" b="0">
                <a:solidFill>
                  <a:srgbClr val="1C2238"/>
                </a:solidFill>
                <a:latin typeface="Calibri"/>
              </a:rPr>
              <a:t>A FIFTH branch does that: an exact copy of the others with its gate tied to VDD. Always adding one, N real votes read as N+1 and the trip drops from 3 of 4 to 2 of 4, which is the decision the chip has to make with four chains and three axes.</a:t>
            </a:r>
          </a:p>
          <a:p>
            <a:pPr algn="l">
              <a:spcAft>
                <a:spcPts val="1100"/>
              </a:spcAft>
            </a:pPr>
            <a:r>
              <a:rPr sz="1300" b="1">
                <a:solidFill>
                  <a:srgbClr val="16256B"/>
                </a:solidFill>
                <a:latin typeface="Calibri"/>
              </a:rPr>
              <a:t>It is a leaf: no sub-blocks.</a:t>
            </a:r>
          </a:p>
          <a:p>
            <a:pPr algn="l">
              <a:spcAft>
                <a:spcPts val="900"/>
              </a:spcAft>
            </a:pPr>
            <a:r>
              <a:rPr sz="1300" b="0">
                <a:solidFill>
                  <a:srgbClr val="1C2238"/>
                </a:solidFill>
                <a:latin typeface="Calibri"/>
              </a:rPr>
              <a:t>17 n devices and 2 p, drawn by hand. The WE output is the summing node, and it is what leaves through the X, Y or Z analogue pad.</a:t>
            </a:r>
          </a:p>
        </p:txBody>
      </p:sp>
      <p:graphicFrame>
        <p:nvGraphicFramePr>
          <p:cNvPr id="6" name="Table 5"/>
          <p:cNvGraphicFramePr>
            <a:graphicFrameLocks noGrp="1"/>
          </p:cNvGraphicFramePr>
          <p:nvPr/>
        </p:nvGraphicFramePr>
        <p:xfrm>
          <a:off x="6255867" y="1572768"/>
          <a:ext cx="5368899" cy="2962656"/>
        </p:xfrm>
        <a:graphic>
          <a:graphicData uri="http://schemas.openxmlformats.org/drawingml/2006/table">
            <a:tbl>
              <a:tblPr firstRow="1" bandRow="1">
                <a:tableStyleId>{5C22544A-7EE6-4342-B048-85BDC9FD1C3A}</a:tableStyleId>
              </a:tblPr>
              <a:tblGrid>
                <a:gridCol w="2684449">
                  <a:extLst>
                    <a:ext uri="{9D8B030D-6E8A-4147-A177-3AD203B41FA5}">
                      <a16:colId xmlns:a16="http://schemas.microsoft.com/office/drawing/2014/main" val="20000"/>
                    </a:ext>
                  </a:extLst>
                </a:gridCol>
                <a:gridCol w="2684450">
                  <a:extLst>
                    <a:ext uri="{9D8B030D-6E8A-4147-A177-3AD203B41FA5}">
                      <a16:colId xmlns:a16="http://schemas.microsoft.com/office/drawing/2014/main" val="20001"/>
                    </a:ext>
                  </a:extLst>
                </a:gridCol>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sums the four votes of one axis</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3.48 mW</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050">
                          <a:solidFill>
                            <a:srgbClr val="1C2238"/>
                          </a:solidFill>
                          <a:latin typeface="Calibri"/>
                        </a:defRPr>
                      </a:pPr>
                      <a:r>
                        <a:t>Devices</a:t>
                      </a:r>
                    </a:p>
                  </a:txBody>
                  <a:tcPr anchor="ctr">
                    <a:solidFill>
                      <a:srgbClr val="FFFFFF"/>
                    </a:solidFill>
                  </a:tcPr>
                </a:tc>
                <a:tc>
                  <a:txBody>
                    <a:bodyPr/>
                    <a:lstStyle/>
                    <a:p>
                      <a:pPr>
                        <a:defRPr sz="1050">
                          <a:solidFill>
                            <a:srgbClr val="1C2238"/>
                          </a:solidFill>
                          <a:latin typeface="Calibri"/>
                        </a:defRPr>
                      </a:pPr>
                      <a:r>
                        <a:t>17 nfet_06v0 + 2 pfet_06v0 (five branches: four votes and one fixed)</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050">
                          <a:solidFill>
                            <a:srgbClr val="1C2238"/>
                          </a:solidFill>
                          <a:latin typeface="Calibri"/>
                        </a:defRPr>
                      </a:pPr>
                      <a:r>
                        <a:t>Decision threshold</a:t>
                      </a:r>
                    </a:p>
                  </a:txBody>
                  <a:tcPr anchor="ctr">
                    <a:solidFill>
                      <a:srgbClr val="F3F5FA"/>
                    </a:solidFill>
                  </a:tcPr>
                </a:tc>
                <a:tc>
                  <a:txBody>
                    <a:bodyPr/>
                    <a:lstStyle/>
                    <a:p>
                      <a:pPr>
                        <a:defRPr sz="1050">
                          <a:solidFill>
                            <a:srgbClr val="1C2238"/>
                          </a:solidFill>
                          <a:latin typeface="Calibri"/>
                        </a:defRPr>
                      </a:pPr>
                      <a:r>
                        <a:t>2 of 4 votes</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050">
                          <a:solidFill>
                            <a:srgbClr val="1C2238"/>
                          </a:solidFill>
                          <a:latin typeface="Calibri"/>
                        </a:defRPr>
                      </a:pPr>
                      <a:r>
                        <a:t>Branch current</a:t>
                      </a:r>
                    </a:p>
                  </a:txBody>
                  <a:tcPr anchor="ctr">
                    <a:solidFill>
                      <a:srgbClr val="FFFFFF"/>
                    </a:solidFill>
                  </a:tcPr>
                </a:tc>
                <a:tc>
                  <a:txBody>
                    <a:bodyPr/>
                    <a:lstStyle/>
                    <a:p>
                      <a:pPr>
                        <a:defRPr sz="1050">
                          <a:solidFill>
                            <a:srgbClr val="1C2238"/>
                          </a:solidFill>
                          <a:latin typeface="Calibri"/>
                        </a:defRPr>
                      </a:pPr>
                      <a:r>
                        <a:t>~170 µA, igual en las cuatro</a:t>
                      </a:r>
                    </a:p>
                  </a:txBody>
                  <a:tcPr anchor="ctr">
                    <a:solidFill>
                      <a:srgbClr val="FFFFFF"/>
                    </a:solidFill>
                  </a:tcPr>
                </a:tc>
                <a:extLst>
                  <a:ext uri="{0D108BD9-81ED-4DB2-BD59-A6C34878D82A}">
                    <a16:rowId xmlns:a16="http://schemas.microsoft.com/office/drawing/2014/main" val="10006"/>
                  </a:ext>
                </a:extLst>
              </a:tr>
              <a:tr h="329184">
                <a:tc>
                  <a:txBody>
                    <a:bodyPr/>
                    <a:lstStyle/>
                    <a:p>
                      <a:pPr>
                        <a:defRPr sz="1050">
                          <a:solidFill>
                            <a:srgbClr val="1C2238"/>
                          </a:solidFill>
                          <a:latin typeface="Calibri"/>
                        </a:defRPr>
                      </a:pPr>
                      <a:r>
                        <a:t>Area</a:t>
                      </a:r>
                    </a:p>
                  </a:txBody>
                  <a:tcPr anchor="ctr">
                    <a:solidFill>
                      <a:srgbClr val="F3F5FA"/>
                    </a:solidFill>
                  </a:tcPr>
                </a:tc>
                <a:tc>
                  <a:txBody>
                    <a:bodyPr/>
                    <a:lstStyle/>
                    <a:p>
                      <a:pPr>
                        <a:defRPr sz="1050">
                          <a:solidFill>
                            <a:srgbClr val="1C2238"/>
                          </a:solidFill>
                          <a:latin typeface="Calibri"/>
                        </a:defRPr>
                      </a:pPr>
                      <a:r>
                        <a:t>45.34 × 25.00 µm = 0.0011 mm² (WEIGHT_COMP cell, with COMP_OUT)</a:t>
                      </a:r>
                    </a:p>
                  </a:txBody>
                  <a:tcPr anchor="ctr">
                    <a:solidFill>
                      <a:srgbClr val="F3F5FA"/>
                    </a:solidFill>
                  </a:tcPr>
                </a:tc>
                <a:extLst>
                  <a:ext uri="{0D108BD9-81ED-4DB2-BD59-A6C34878D82A}">
                    <a16:rowId xmlns:a16="http://schemas.microsoft.com/office/drawing/2014/main" val="10007"/>
                  </a:ext>
                </a:extLst>
              </a:tr>
              <a:tr h="329184">
                <a:tc>
                  <a:txBody>
                    <a:bodyPr/>
                    <a:lstStyle/>
                    <a:p>
                      <a:pPr>
                        <a:defRPr sz="1050">
                          <a:solidFill>
                            <a:srgbClr val="1C2238"/>
                          </a:solidFill>
                          <a:latin typeface="Calibri"/>
                        </a:defRPr>
                      </a:pPr>
                      <a:r>
                        <a:t>Instances</a:t>
                      </a:r>
                    </a:p>
                  </a:txBody>
                  <a:tcPr anchor="ctr">
                    <a:solidFill>
                      <a:srgbClr val="FFFFFF"/>
                    </a:solidFill>
                  </a:tcPr>
                </a:tc>
                <a:tc>
                  <a:txBody>
                    <a:bodyPr/>
                    <a:lstStyle/>
                    <a:p>
                      <a:pPr>
                        <a:defRPr sz="1050">
                          <a:solidFill>
                            <a:srgbClr val="1C2238"/>
                          </a:solidFill>
                          <a:latin typeface="Calibri"/>
                        </a:defRPr>
                      </a:pPr>
                      <a:r>
                        <a:t>3 (one per axis)</a:t>
                      </a:r>
                    </a:p>
                  </a:txBody>
                  <a:tcPr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Current-mode vote counter. One per axis.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WEIGH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inputs, sum node and outputs  ·  from four votes to one decision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WEIGHT_signals.png"/>
          <p:cNvPicPr>
            <a:picLocks noChangeAspect="1"/>
          </p:cNvPicPr>
          <p:nvPr/>
        </p:nvPicPr>
        <p:blipFill>
          <a:blip r:embed="rId2"/>
          <a:stretch>
            <a:fillRect/>
          </a:stretch>
        </p:blipFill>
        <p:spPr>
          <a:xfrm>
            <a:off x="1183117" y="1572768"/>
            <a:ext cx="4159380" cy="4416552"/>
          </a:xfrm>
          <a:prstGeom prst="rect">
            <a:avLst/>
          </a:prstGeom>
        </p:spPr>
      </p:pic>
      <p:sp>
        <p:nvSpPr>
          <p:cNvPr id="6" name="TextBox 5"/>
          <p:cNvSpPr txBox="1"/>
          <p:nvPr/>
        </p:nvSpPr>
        <p:spPr>
          <a:xfrm>
            <a:off x="566928" y="606247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inputs, sum node and outputs</a:t>
            </a:r>
          </a:p>
        </p:txBody>
      </p:sp>
      <p:pic>
        <p:nvPicPr>
          <p:cNvPr id="7" name="Picture 6" descr="blk_WEIGHT_decision.png"/>
          <p:cNvPicPr>
            <a:picLocks noChangeAspect="1"/>
          </p:cNvPicPr>
          <p:nvPr/>
        </p:nvPicPr>
        <p:blipFill>
          <a:blip r:embed="rId3"/>
          <a:stretch>
            <a:fillRect/>
          </a:stretch>
        </p:blipFill>
        <p:spPr>
          <a:xfrm>
            <a:off x="6233007" y="2107842"/>
            <a:ext cx="5391759" cy="3346404"/>
          </a:xfrm>
          <a:prstGeom prst="rect">
            <a:avLst/>
          </a:prstGeom>
        </p:spPr>
      </p:pic>
      <p:sp>
        <p:nvSpPr>
          <p:cNvPr id="8" name="TextBox 7"/>
          <p:cNvSpPr txBox="1"/>
          <p:nvPr/>
        </p:nvSpPr>
        <p:spPr>
          <a:xfrm>
            <a:off x="6233007" y="5527398"/>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from four votes to one decision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branch currents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WEIGHT_currents.png"/>
          <p:cNvPicPr>
            <a:picLocks noChangeAspect="1"/>
          </p:cNvPicPr>
          <p:nvPr/>
        </p:nvPicPr>
        <p:blipFill>
          <a:blip r:embed="rId2"/>
          <a:stretch>
            <a:fillRect/>
          </a:stretch>
        </p:blipFill>
        <p:spPr>
          <a:xfrm>
            <a:off x="2178025" y="1572768"/>
            <a:ext cx="7835645"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BLOCK 3 · COMP_OUT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output stage: three inverters and the axis's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ag_COMP_OUT.png"/>
          <p:cNvPicPr>
            <a:picLocks noChangeAspect="1"/>
          </p:cNvPicPr>
          <p:nvPr/>
        </p:nvPicPr>
        <p:blipFill>
          <a:blip r:embed="rId2"/>
          <a:stretch>
            <a:fillRect/>
          </a:stretch>
        </p:blipFill>
        <p:spPr>
          <a:xfrm>
            <a:off x="566928" y="1822262"/>
            <a:ext cx="11057839" cy="4100444"/>
          </a:xfrm>
          <a:prstGeom prst="rect">
            <a:avLst/>
          </a:prstGeom>
        </p:spPr>
      </p:pic>
      <p:sp>
        <p:nvSpPr>
          <p:cNvPr id="6" name="TextBox 5"/>
          <p:cNvSpPr txBox="1"/>
          <p:nvPr/>
        </p:nvSpPr>
        <p:spPr>
          <a:xfrm>
            <a:off x="566928" y="5995858"/>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Output stage: three inverters giving the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6889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It takes the summing node up to digital levels.</a:t>
            </a:r>
          </a:p>
          <a:p>
            <a:pPr algn="l">
              <a:spcAft>
                <a:spcPts val="900"/>
              </a:spcAft>
            </a:pPr>
            <a:r>
              <a:rPr sz="1300" b="0">
                <a:solidFill>
                  <a:srgbClr val="1C2238"/>
                </a:solidFill>
                <a:latin typeface="Calibri"/>
              </a:rPr>
              <a:t>Three inverters in a chain: the first decides, the rest give edge rate and drive. Out of it come the axis's two signals, the direct one and its complement.</a:t>
            </a:r>
          </a:p>
          <a:p>
            <a:pPr algn="l">
              <a:spcAft>
                <a:spcPts val="1100"/>
              </a:spcAft>
            </a:pPr>
            <a:r>
              <a:rPr sz="1300" b="1">
                <a:solidFill>
                  <a:srgbClr val="16256B"/>
                </a:solidFill>
                <a:latin typeface="Calibri"/>
              </a:rPr>
              <a:t>That is why the outputs come in pairs.</a:t>
            </a:r>
          </a:p>
          <a:p>
            <a:pPr algn="l">
              <a:spcAft>
                <a:spcPts val="900"/>
              </a:spcAft>
            </a:pPr>
            <a:r>
              <a:rPr sz="1300" b="0">
                <a:solidFill>
                  <a:srgbClr val="1C2238"/>
                </a:solidFill>
                <a:latin typeface="Calibri"/>
              </a:rPr>
              <a:t>XP/XN, YP/YN, ZP/ZN reach the pad rail to rail, which is why they take a digital pad and not an analogue one.</a:t>
            </a:r>
          </a:p>
        </p:txBody>
      </p:sp>
      <p:graphicFrame>
        <p:nvGraphicFramePr>
          <p:cNvPr id="6" name="Table 5"/>
          <p:cNvGraphicFramePr>
            <a:graphicFrameLocks noGrp="1"/>
          </p:cNvGraphicFramePr>
          <p:nvPr/>
        </p:nvGraphicFramePr>
        <p:xfrm>
          <a:off x="6255867" y="1572768"/>
          <a:ext cx="5368899" cy="2057400"/>
        </p:xfrm>
        <a:graphic>
          <a:graphicData uri="http://schemas.openxmlformats.org/drawingml/2006/table">
            <a:tbl>
              <a:tblPr firstRow="1" bandRow="1">
                <a:tableStyleId>{5C22544A-7EE6-4342-B048-85BDC9FD1C3A}</a:tableStyleId>
              </a:tblPr>
              <a:tblGrid>
                <a:gridCol w="2684449">
                  <a:extLst>
                    <a:ext uri="{9D8B030D-6E8A-4147-A177-3AD203B41FA5}">
                      <a16:colId xmlns:a16="http://schemas.microsoft.com/office/drawing/2014/main" val="20000"/>
                    </a:ext>
                  </a:extLst>
                </a:gridCol>
                <a:gridCol w="2684450">
                  <a:extLst>
                    <a:ext uri="{9D8B030D-6E8A-4147-A177-3AD203B41FA5}">
                      <a16:colId xmlns:a16="http://schemas.microsoft.com/office/drawing/2014/main" val="20001"/>
                    </a:ext>
                  </a:extLst>
                </a:gridCol>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buffers the vote and gives its complement</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050">
                          <a:solidFill>
                            <a:srgbClr val="1C2238"/>
                          </a:solidFill>
                          <a:latin typeface="Calibri"/>
                        </a:defRPr>
                      </a:pPr>
                      <a:r>
                        <a:t>Sub-blocks</a:t>
                      </a:r>
                    </a:p>
                  </a:txBody>
                  <a:tcPr anchor="ctr">
                    <a:solidFill>
                      <a:srgbClr val="F3F5FA"/>
                    </a:solidFill>
                  </a:tcPr>
                </a:tc>
                <a:tc>
                  <a:txBody>
                    <a:bodyPr/>
                    <a:lstStyle/>
                    <a:p>
                      <a:pPr>
                        <a:defRPr sz="1050">
                          <a:solidFill>
                            <a:srgbClr val="1C2238"/>
                          </a:solidFill>
                          <a:latin typeface="Calibri"/>
                        </a:defRPr>
                      </a:pPr>
                      <a:r>
                        <a:t>3 × INV_1</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shared with WEIGHT in the WEIGHT_COMP cell</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3 (one per axis)</a:t>
                      </a:r>
                    </a:p>
                  </a:txBody>
                  <a:tcPr anchor="ctr">
                    <a:solidFill>
                      <a:srgbClr val="F3F5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Output stage: three inverters giving the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COMP_OU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INV_1</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COMP_OUT's sub-block: the inverter.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INV_1.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XSCHEM/WEIGTH/INV_1.sch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output state against the number of branches voting</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lk_COMP_OUT_votes.png"/>
          <p:cNvPicPr>
            <a:picLocks noChangeAspect="1"/>
          </p:cNvPicPr>
          <p:nvPr/>
        </p:nvPicPr>
        <p:blipFill>
          <a:blip r:embed="rId2"/>
          <a:stretch>
            <a:fillRect/>
          </a:stretch>
        </p:blipFill>
        <p:spPr>
          <a:xfrm>
            <a:off x="1143367" y="1572768"/>
            <a:ext cx="9904960"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ESD_CDM · SECONDARY PROTECTION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Outside the signal chain, but inside the user area.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Eleven instances, one per analogue pad.</a:t>
            </a:r>
          </a:p>
          <a:p>
            <a:pPr algn="l">
              <a:spcAft>
                <a:spcPts val="900"/>
              </a:spcAft>
            </a:pPr>
            <a:r>
              <a:rPr sz="1300" b="0">
                <a:solidFill>
                  <a:srgbClr val="1C2238"/>
                </a:solidFill>
                <a:latin typeface="Calibri"/>
              </a:rPr>
              <a:t>The PDK's analogue pads carry HBM diodes only, so the CDM network — a series poly resistor plus diodes — is ours to add, and it goes BESIDE the pad: whatever sits between pad and clamp is unprotected.</a:t>
            </a:r>
          </a:p>
          <a:p>
            <a:pPr algn="l">
              <a:spcAft>
                <a:spcPts val="1100"/>
              </a:spcAft>
            </a:pPr>
            <a:r>
              <a:rPr sz="1300" b="1">
                <a:solidFill>
                  <a:srgbClr val="16256B"/>
                </a:solidFill>
                <a:latin typeface="Calibri"/>
              </a:rPr>
              <a:t>The circuit is the organisers'; the drawing is ours.</a:t>
            </a:r>
          </a:p>
          <a:p>
            <a:pPr algn="l">
              <a:spcAft>
                <a:spcPts val="900"/>
              </a:spcAft>
            </a:pPr>
            <a:r>
              <a:rPr sz="1300" b="0">
                <a:solidFill>
                  <a:srgbClr val="1C2238"/>
                </a:solidFill>
                <a:latin typeface="Calibri"/>
              </a:rPr>
              <a:t>All three of their published cells violate MSLOT.1, and nobody had seen it because the PDK's mslot table crashes before reaching them. Ours is 1762 µm² against 6457: about 52,000 µm² of user area back.</a:t>
            </a:r>
          </a:p>
          <a:p>
            <a:pPr algn="l">
              <a:spcAft>
                <a:spcPts val="1100"/>
              </a:spcAft>
            </a:pPr>
            <a:r>
              <a:rPr sz="1300" b="1">
                <a:solidFill>
                  <a:srgbClr val="16256B"/>
                </a:solidFill>
                <a:latin typeface="Calibri"/>
              </a:rPr>
              <a:t>This is where the n-wells were merged.</a:t>
            </a:r>
          </a:p>
          <a:p>
            <a:pPr algn="l">
              <a:spcAft>
                <a:spcPts val="900"/>
              </a:spcAft>
            </a:pPr>
            <a:r>
              <a:rPr sz="1300" b="0">
                <a:solidFill>
                  <a:srgbClr val="1C2238"/>
                </a:solidFill>
                <a:latin typeface="Calibri"/>
              </a:rPr>
              <a:t>The four wells sat 1.330 µm apart, which is fine only if the checker knows they are equipotential. They are one well now and it passes in both modes.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ESD_CDM</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Outside the signal chain, but inside the user area.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h_ESD_CDM.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schematic</a:t>
            </a:r>
          </a:p>
        </p:txBody>
      </p:sp>
      <p:pic>
        <p:nvPicPr>
          <p:cNvPr id="7" name="Picture 6" descr="layout_ESD_CDM.png"/>
          <p:cNvPicPr>
            <a:picLocks noChangeAspect="1"/>
          </p:cNvPicPr>
          <p:nvPr/>
        </p:nvPicPr>
        <p:blipFill>
          <a:blip r:embed="rId3"/>
          <a:stretch>
            <a:fillRect/>
          </a:stretch>
        </p:blipFill>
        <p:spPr>
          <a:xfrm>
            <a:off x="6233007" y="2590364"/>
            <a:ext cx="5391759" cy="2381360"/>
          </a:xfrm>
          <a:prstGeom prst="rect">
            <a:avLst/>
          </a:prstGeom>
        </p:spPr>
      </p:pic>
      <p:sp>
        <p:nvSpPr>
          <p:cNvPr id="8" name="TextBox 7"/>
          <p:cNvSpPr txBox="1"/>
          <p:nvPr/>
        </p:nvSpPr>
        <p:spPr>
          <a:xfrm>
            <a:off x="6233007" y="5044876"/>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layout — 63.16 × 27.90 µm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 y="2468880"/>
            <a:ext cx="9923983" cy="731520"/>
          </a:xfrm>
          <a:prstGeom prst="rect">
            <a:avLst/>
          </a:prstGeom>
          <a:noFill/>
        </p:spPr>
        <p:txBody>
          <a:bodyPr wrap="square" lIns="0" tIns="0" rIns="0" bIns="0">
            <a:spAutoFit/>
          </a:bodyPr>
          <a:lstStyle/>
          <a:p>
            <a:pPr algn="l">
              <a:spcAft>
                <a:spcPts val="600"/>
              </a:spcAft>
            </a:pPr>
            <a:r>
              <a:rPr sz="3000" b="1">
                <a:solidFill>
                  <a:srgbClr val="E08A1E"/>
                </a:solidFill>
                <a:latin typeface="Consolas"/>
              </a:rPr>
              <a:t>03</a:t>
            </a:r>
          </a:p>
        </p:txBody>
      </p:sp>
      <p:sp>
        <p:nvSpPr>
          <p:cNvPr id="4" name="TextBox 3"/>
          <p:cNvSpPr txBox="1"/>
          <p:nvPr/>
        </p:nvSpPr>
        <p:spPr>
          <a:xfrm>
            <a:off x="1133856" y="3063240"/>
            <a:ext cx="9923983" cy="1280160"/>
          </a:xfrm>
          <a:prstGeom prst="rect">
            <a:avLst/>
          </a:prstGeom>
          <a:noFill/>
        </p:spPr>
        <p:txBody>
          <a:bodyPr wrap="square" lIns="0" tIns="0" rIns="0" bIns="0">
            <a:spAutoFit/>
          </a:bodyPr>
          <a:lstStyle/>
          <a:p>
            <a:pPr algn="l">
              <a:spcAft>
                <a:spcPts val="800"/>
              </a:spcAft>
            </a:pPr>
            <a:r>
              <a:rPr sz="3400" b="1">
                <a:solidFill>
                  <a:srgbClr val="FFFFFF"/>
                </a:solidFill>
                <a:latin typeface="Consolas"/>
              </a:rPr>
              <a:t>FULL-SYSTEM RESULTS</a:t>
            </a:r>
          </a:p>
        </p:txBody>
      </p:sp>
      <p:sp>
        <p:nvSpPr>
          <p:cNvPr id="5" name="TextBox 4"/>
          <p:cNvSpPr txBox="1"/>
          <p:nvPr/>
        </p:nvSpPr>
        <p:spPr>
          <a:xfrm>
            <a:off x="1133856" y="4206240"/>
            <a:ext cx="9357055" cy="1280160"/>
          </a:xfrm>
          <a:prstGeom prst="rect">
            <a:avLst/>
          </a:prstGeom>
          <a:noFill/>
        </p:spPr>
        <p:txBody>
          <a:bodyPr wrap="square" lIns="0" tIns="0" rIns="0" bIns="0">
            <a:spAutoFit/>
          </a:bodyPr>
          <a:lstStyle/>
          <a:p>
            <a:pPr algn="l">
              <a:spcAft>
                <a:spcPts val="400"/>
              </a:spcAft>
            </a:pPr>
            <a:r>
              <a:rPr sz="1500" b="0">
                <a:solidFill>
                  <a:srgbClr val="FFFFFF"/>
                </a:solidFill>
                <a:latin typeface="Calibri"/>
              </a:rPr>
              <a:t>The whole system, always layout against schematic.</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NAVIGATOR BENCH · METHOD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run_nav2.sh — four bridges against two navigators. It is also the layout-vs-schematic comparison.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700" b="1">
                <a:solidFill>
                  <a:srgbClr val="16256B"/>
                </a:solidFill>
                <a:latin typeface="Calibri"/>
              </a:rPr>
              <a:t>Two navigators on the same eight sensor nodes:</a:t>
            </a:r>
          </a:p>
          <a:p>
            <a:pPr algn="l">
              <a:spcAft>
                <a:spcPts val="900"/>
              </a:spcAft>
            </a:pPr>
            <a:r>
              <a:rPr sz="1700" b="0">
                <a:solidFill>
                  <a:srgbClr val="1C2238"/>
                </a:solidFill>
                <a:latin typeface="Calibri"/>
              </a:rPr>
              <a:t>N_esq — the schematic GRADIENT_NAV2, supply VDDS</a:t>
            </a:r>
          </a:p>
          <a:p>
            <a:pPr algn="l">
              <a:spcAft>
                <a:spcPts val="900"/>
              </a:spcAft>
            </a:pPr>
            <a:r>
              <a:rPr sz="1700" b="0">
                <a:solidFill>
                  <a:srgbClr val="1C2238"/>
                </a:solidFill>
                <a:latin typeface="Calibri"/>
              </a:rPr>
              <a:t>N_lay — the same circuit rebuilt from the v2 layout and extracted WITH RC PARASITICS, supply VDDR</a:t>
            </a:r>
          </a:p>
          <a:p>
            <a:pPr algn="l">
              <a:spcAft>
                <a:spcPts val="1100"/>
              </a:spcAft>
            </a:pPr>
            <a:r>
              <a:rPr sz="1700" b="1">
                <a:solidFill>
                  <a:srgbClr val="16256B"/>
                </a:solidFill>
                <a:latin typeface="Calibri"/>
              </a:rPr>
              <a:t>Four sensors at 0, 90, 180 and 270°, and the field turning from 0 to 360°.</a:t>
            </a:r>
          </a:p>
          <a:p>
            <a:pPr algn="l">
              <a:spcAft>
                <a:spcPts val="900"/>
              </a:spcAft>
            </a:pPr>
            <a:r>
              <a:rPr sz="1700" b="0">
                <a:solidFill>
                  <a:srgbClr val="1C2238"/>
                </a:solidFill>
                <a:latin typeface="Calibri"/>
              </a:rPr>
              <a:t>Each of the four chains reads THREE of the four sensors, in different combinations, and the three weights combine their outputs.</a:t>
            </a:r>
          </a:p>
          <a:p>
            <a:pPr algn="l">
              <a:spcAft>
                <a:spcPts val="1100"/>
              </a:spcAft>
            </a:pPr>
            <a:r>
              <a:rPr sz="1700" b="1">
                <a:solidFill>
                  <a:srgbClr val="16256B"/>
                </a:solidFill>
                <a:latin typeface="Calibri"/>
              </a:rPr>
              <a:t>What it measures: on what percentage of the sweep the nine schematic outputs agree with the layout ones, and where they do not, how many degrees wide the disagreement is.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721 points from 0 to 360°. The dashed orange is the layout extracted with parasitics.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esq_vs_layout_salidas.png"/>
          <p:cNvPicPr>
            <a:picLocks noChangeAspect="1"/>
          </p:cNvPicPr>
          <p:nvPr/>
        </p:nvPicPr>
        <p:blipFill>
          <a:blip r:embed="rId2"/>
          <a:stretch>
            <a:fillRect/>
          </a:stretch>
        </p:blipFill>
        <p:spPr>
          <a:xfrm>
            <a:off x="1269410" y="1572768"/>
            <a:ext cx="9652874" cy="2743200"/>
          </a:xfrm>
          <a:prstGeom prst="rect">
            <a:avLst/>
          </a:prstGeom>
        </p:spPr>
      </p:pic>
      <p:sp>
        <p:nvSpPr>
          <p:cNvPr id="6" name="TextBox 5"/>
          <p:cNvSpPr txBox="1"/>
          <p:nvPr/>
        </p:nvSpPr>
        <p:spPr>
          <a:xfrm>
            <a:off x="566928" y="4389120"/>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datos_nav2/fino_nav2.csv</a:t>
            </a:r>
          </a:p>
        </p:txBody>
      </p:sp>
      <p:sp>
        <p:nvSpPr>
          <p:cNvPr id="7" name="TextBox 6"/>
          <p:cNvSpPr txBox="1"/>
          <p:nvPr/>
        </p:nvSpPr>
        <p:spPr>
          <a:xfrm>
            <a:off x="566928" y="4498848"/>
            <a:ext cx="11057839" cy="185623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The twelve chain outputs agree on 99.7 % of the sweep.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Rectangle 2"/>
          <p:cNvSpPr/>
          <p:nvPr/>
        </p:nvSpPr>
        <p:spPr>
          <a:xfrm>
            <a:off x="566928" y="1042415"/>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280160"/>
            <a:ext cx="11057839" cy="5074920"/>
          </a:xfrm>
          <a:prstGeom prst="rect">
            <a:avLst/>
          </a:prstGeom>
          <a:noFill/>
        </p:spPr>
        <p:txBody>
          <a:bodyPr wrap="square" lIns="0" tIns="0" rIns="0" bIns="0" anchor="ctr">
            <a:spAutoFit/>
          </a:bodyPr>
          <a:lstStyle/>
          <a:p>
            <a:pPr algn="l">
              <a:spcAft>
                <a:spcPts val="1100"/>
              </a:spcAft>
            </a:pPr>
            <a:r>
              <a:rPr sz="1700" b="1">
                <a:solidFill>
                  <a:srgbClr val="16256B"/>
                </a:solidFill>
                <a:latin typeface="Calibri"/>
              </a:rPr>
              <a:t>The twelve chain outputs agree on 99.7 % of the sweep.</a:t>
            </a:r>
          </a:p>
          <a:p>
            <a:pPr algn="l">
              <a:spcAft>
                <a:spcPts val="900"/>
              </a:spcAft>
            </a:pPr>
            <a:r>
              <a:rPr sz="1700" b="0">
                <a:solidFill>
                  <a:srgbClr val="1C2238"/>
                </a:solidFill>
                <a:latin typeface="Calibri"/>
              </a:rPr>
              <a:t>The layout's four GRADIENT2 blocks, extracted with RC parasitics, decide what the schematic's do. The whole analogue chain - amplifier, comparator, decoder - reproduces the schematic.</a:t>
            </a:r>
          </a:p>
          <a:p>
            <a:pPr algn="l">
              <a:spcAft>
                <a:spcPts val="1100"/>
              </a:spcAft>
            </a:pPr>
            <a:r>
              <a:rPr sz="1700" b="1">
                <a:solidFill>
                  <a:srgbClr val="16256B"/>
                </a:solidFill>
                <a:latin typeface="Calibri"/>
              </a:rPr>
              <a:t>The six digital outputs, on 99.5 % (X and Y) and 98.9 % (Z).</a:t>
            </a:r>
          </a:p>
          <a:p>
            <a:pPr algn="l">
              <a:spcAft>
                <a:spcPts val="900"/>
              </a:spcAft>
            </a:pPr>
            <a:r>
              <a:rPr sz="1700" b="0">
                <a:solidFill>
                  <a:srgbClr val="1C2238"/>
                </a:solidFill>
                <a:latin typeface="Calibri"/>
              </a:rPr>
              <a:t>Between 2 and 4 degrees of disagreement out of 360, and they fall where they should: on the sector boundaries, which is exactly where the decision is on a knife edge and the layout's offset settles it.</a:t>
            </a:r>
          </a:p>
          <a:p>
            <a:pPr algn="l">
              <a:spcAft>
                <a:spcPts val="1100"/>
              </a:spcAft>
            </a:pPr>
            <a:r>
              <a:rPr sz="1700" b="1">
                <a:solidFill>
                  <a:srgbClr val="16256B"/>
                </a:solidFill>
                <a:latin typeface="Calibri"/>
              </a:rPr>
              <a:t>Deviation at the counter node: 38.8 mV rms.</a:t>
            </a:r>
          </a:p>
          <a:p>
            <a:pPr algn="l">
              <a:spcAft>
                <a:spcPts val="900"/>
              </a:spcAft>
            </a:pPr>
            <a:r>
              <a:rPr sz="1700" b="0">
                <a:solidFill>
                  <a:srgbClr val="1C2238"/>
                </a:solidFill>
                <a:latin typeface="Calibri"/>
              </a:rPr>
              <a:t>Power: 75.32 mW schematic, 74.15 mW layout. The RC parasitics do not move the operating point appreciably.</a:t>
            </a:r>
          </a:p>
        </p:txBody>
      </p:sp>
      <p:pic>
        <p:nvPicPr>
          <p:cNvPr id="5" name="Picture 4" descr="esq_vs_layout_error.png"/>
          <p:cNvPicPr>
            <a:picLocks noChangeAspect="1"/>
          </p:cNvPicPr>
          <p:nvPr/>
        </p:nvPicPr>
        <p:blipFill>
          <a:blip r:embed="rId2"/>
          <a:stretch>
            <a:fillRect/>
          </a:stretch>
        </p:blipFill>
        <p:spPr>
          <a:xfrm>
            <a:off x="566928" y="3782524"/>
            <a:ext cx="5391759" cy="2081871"/>
          </a:xfrm>
          <a:prstGeom prst="rect">
            <a:avLst/>
          </a:prstGeom>
        </p:spPr>
      </p:pic>
      <p:pic>
        <p:nvPicPr>
          <p:cNvPr id="6" name="Picture 5" descr="esq_vs_layout_consumo.png"/>
          <p:cNvPicPr>
            <a:picLocks noChangeAspect="1"/>
          </p:cNvPicPr>
          <p:nvPr/>
        </p:nvPicPr>
        <p:blipFill>
          <a:blip r:embed="rId3"/>
          <a:stretch>
            <a:fillRect/>
          </a:stretch>
        </p:blipFill>
        <p:spPr>
          <a:xfrm>
            <a:off x="6233007" y="3783450"/>
            <a:ext cx="5391759" cy="208002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four chains vote, the counter adds them up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otal_1_votes.png"/>
          <p:cNvPicPr>
            <a:picLocks noChangeAspect="1"/>
          </p:cNvPicPr>
          <p:nvPr/>
        </p:nvPicPr>
        <p:blipFill>
          <a:blip r:embed="rId2"/>
          <a:stretch>
            <a:fillRect/>
          </a:stretch>
        </p:blipFill>
        <p:spPr>
          <a:xfrm>
            <a:off x="3341574" y="1572768"/>
            <a:ext cx="5508546"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datos_nav2/fino_nav2.csv</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six pins that leave the die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otal_2_outputs.png"/>
          <p:cNvPicPr>
            <a:picLocks noChangeAspect="1"/>
          </p:cNvPicPr>
          <p:nvPr/>
        </p:nvPicPr>
        <p:blipFill>
          <a:blip r:embed="rId2"/>
          <a:stretch>
            <a:fillRect/>
          </a:stretch>
        </p:blipFill>
        <p:spPr>
          <a:xfrm>
            <a:off x="3000914" y="1572768"/>
            <a:ext cx="618986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datos_nav2/fino_nav2.csv</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The six digital pins: three decisions and their complements.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700" b="1">
                <a:solidFill>
                  <a:srgbClr val="16256B"/>
                </a:solidFill>
                <a:latin typeface="Calibri"/>
              </a:rPr>
              <a:t>XP high means «this axis wins». XN is its inverse, not «the other sense».</a:t>
            </a:r>
          </a:p>
          <a:p>
            <a:pPr algn="l">
              <a:spcAft>
                <a:spcPts val="900"/>
              </a:spcAft>
            </a:pPr>
            <a:r>
              <a:rPr sz="1700" b="0">
                <a:solidFill>
                  <a:srgbClr val="1C2238"/>
                </a:solidFill>
                <a:latin typeface="Calibri"/>
              </a:rPr>
              <a:t>COMP_OUT is OUT = buffer(IN) and OUT_N = NOT(IN), instantiated as x8 VDD XN X XP VSS. The pair is redundant by construction: reading XP is enough, and XN is there to drive the H-bridge directly.</a:t>
            </a:r>
          </a:p>
          <a:p>
            <a:pPr algn="l">
              <a:spcAft>
                <a:spcPts val="1100"/>
              </a:spcAft>
            </a:pPr>
            <a:r>
              <a:rPr sz="1700" b="1">
                <a:solidFill>
                  <a:srgbClr val="16256B"/>
                </a:solidFill>
                <a:latin typeface="Calibri"/>
              </a:rPr>
              <a:t>The chip answers WHICH AXIS, not which way along it.</a:t>
            </a:r>
          </a:p>
          <a:p>
            <a:pPr algn="l">
              <a:spcAft>
                <a:spcPts val="900"/>
              </a:spcAft>
            </a:pPr>
            <a:r>
              <a:rPr sz="1700" b="0">
                <a:solidFill>
                  <a:srgbClr val="1C2238"/>
                </a:solidFill>
                <a:latin typeface="Calibri"/>
              </a:rPr>
              <a:t>The decoder puts out the axis whose bridge reads LEAST, the vertex upstream of the gradient. That identifies one axis out of three, not one sense out of six.</a:t>
            </a:r>
          </a:p>
          <a:p>
            <a:pPr algn="l">
              <a:spcAft>
                <a:spcPts val="1100"/>
              </a:spcAft>
            </a:pPr>
            <a:r>
              <a:rPr sz="1700" b="1">
                <a:solidFill>
                  <a:srgbClr val="16256B"/>
                </a:solidFill>
                <a:latin typeface="Calibri"/>
              </a:rPr>
              <a:t>Telling +X from −X needs one more comparison.</a:t>
            </a:r>
          </a:p>
          <a:p>
            <a:pPr algn="l">
              <a:spcAft>
                <a:spcPts val="900"/>
              </a:spcAft>
            </a:pPr>
            <a:r>
              <a:rPr sz="1700" b="0">
                <a:solidFill>
                  <a:srgbClr val="1C2238"/>
                </a:solidFill>
                <a:latin typeface="Calibri"/>
              </a:rPr>
              <a:t>That is what GRADIENT_NAV3 adds, comparing components instead of readings, and it does give the six senses. It is not instantiated on this die.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all eight sign combinations of the gradient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ct_nav2.png"/>
          <p:cNvPicPr>
            <a:picLocks noChangeAspect="1"/>
          </p:cNvPicPr>
          <p:nvPr/>
        </p:nvPicPr>
        <p:blipFill>
          <a:blip r:embed="rId2"/>
          <a:stretch>
            <a:fillRect/>
          </a:stretch>
        </p:blipFill>
        <p:spPr>
          <a:xfrm>
            <a:off x="566928" y="1875090"/>
            <a:ext cx="11057839" cy="3994787"/>
          </a:xfrm>
          <a:prstGeom prst="rect">
            <a:avLst/>
          </a:prstGeom>
        </p:spPr>
      </p:pic>
      <p:sp>
        <p:nvSpPr>
          <p:cNvPr id="6" name="TextBox 5"/>
          <p:cNvSpPr txBox="1"/>
          <p:nvPr/>
        </p:nvSpPr>
        <p:spPr>
          <a:xfrm>
            <a:off x="566928" y="5943029"/>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run_nav2_geo.sh — sphere sweep</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every GRADIENT2, every octant, twice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hain_1_octantes.png"/>
          <p:cNvPicPr>
            <a:picLocks noChangeAspect="1"/>
          </p:cNvPicPr>
          <p:nvPr/>
        </p:nvPicPr>
        <p:blipFill>
          <a:blip r:embed="rId2"/>
          <a:stretch>
            <a:fillRect/>
          </a:stretch>
        </p:blipFill>
        <p:spPr>
          <a:xfrm>
            <a:off x="916460" y="1572768"/>
            <a:ext cx="1035877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run_nav2_geo.sh — sphere sweep, schematic tops only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GEOMETRY BENCH · METHOD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run_nav2_geo.sh — how the navigator depends on the box the sensors sit 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The four sensors sit at the vertices of the tetrahedron inscribed in a box Lxy × Lxy × Lz.</a:t>
            </a:r>
          </a:p>
          <a:p>
            <a:pPr algn="l">
              <a:spcAft>
                <a:spcPts val="900"/>
              </a:spcAft>
            </a:pPr>
            <a:r>
              <a:rPr sz="1300" b="0">
                <a:solidFill>
                  <a:srgbClr val="1C2238"/>
                </a:solidFill>
                <a:latin typeface="Calibri"/>
              </a:rPr>
              <a:t>Six combinations: Lxy of 1000, 2000 and 3000 µm, and Lz of 500 and 1000 µm.</a:t>
            </a:r>
          </a:p>
          <a:p>
            <a:pPr algn="l">
              <a:spcAft>
                <a:spcPts val="1100"/>
              </a:spcAft>
            </a:pPr>
            <a:r>
              <a:rPr sz="1300" b="1">
                <a:solidFill>
                  <a:srgbClr val="16256B"/>
                </a:solidFill>
                <a:latin typeface="Calibri"/>
              </a:rPr>
              <a:t>1 · Resolution.</a:t>
            </a:r>
          </a:p>
          <a:p>
            <a:pPr algn="l">
              <a:spcAft>
                <a:spcPts val="900"/>
              </a:spcAft>
            </a:pPr>
            <a:r>
              <a:rPr sz="1300" b="0">
                <a:solidFill>
                  <a:srgbClr val="1C2238"/>
                </a:solidFill>
                <a:latin typeface="Calibri"/>
              </a:rPr>
              <a:t>For each box and each gradient level the direction is swept 360° and we count on what fraction it gets the axis right. From that curve comes one number: the smallest gradient at which accuracy reaches 95 %. It captures both limits at once — from below the comparator offset, from above the amplifier's saturation — without depending on any borrowed definition.</a:t>
            </a:r>
          </a:p>
          <a:p>
            <a:pPr algn="l">
              <a:spcAft>
                <a:spcPts val="1100"/>
              </a:spcAft>
            </a:pPr>
            <a:r>
              <a:rPr sz="1300" b="1">
                <a:solidFill>
                  <a:srgbClr val="16256B"/>
                </a:solidFill>
                <a:latin typeface="Calibri"/>
              </a:rPr>
              <a:t>2 · The same in the X-Y plane, where Lz plays no part.</a:t>
            </a:r>
          </a:p>
          <a:p>
            <a:pPr algn="l">
              <a:spcAft>
                <a:spcPts val="900"/>
              </a:spcAft>
            </a:pPr>
            <a:r>
              <a:rPr sz="1300" b="0">
                <a:solidFill>
                  <a:srgbClr val="1C2238"/>
                </a:solidFill>
                <a:latin typeface="Calibri"/>
              </a:rPr>
              <a:t>It separates the x-y resolution from the z one.</a:t>
            </a:r>
          </a:p>
          <a:p>
            <a:pPr algn="l">
              <a:spcAft>
                <a:spcPts val="1100"/>
              </a:spcAft>
            </a:pPr>
            <a:r>
              <a:rPr sz="1300" b="1">
                <a:solidFill>
                  <a:srgbClr val="16256B"/>
                </a:solidFill>
                <a:latin typeface="Calibri"/>
              </a:rPr>
              <a:t>3 · Background.</a:t>
            </a:r>
          </a:p>
          <a:p>
            <a:pPr algn="l">
              <a:spcAft>
                <a:spcPts val="900"/>
              </a:spcAft>
            </a:pPr>
            <a:r>
              <a:rPr sz="1300" b="0">
                <a:solidFill>
                  <a:srgbClr val="1C2238"/>
                </a:solidFill>
                <a:latin typeface="Calibri"/>
              </a:rPr>
              <a:t>Earth's field is common to all four sensors, so it cancels in the comparison but NOT in the amplifier, which sees all of it. It is swept to find the level at which the measurement is lost.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GEOMETRY BENCH · METHOD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run_nav2_geo.sh — how the navigator depends on the box the sensors sit 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b_NAV2_geo.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XSCHEM/TEST_TOTAL/test_NAV2_geo.sch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eo_cajas.png"/>
          <p:cNvPicPr>
            <a:picLocks noChangeAspect="1"/>
          </p:cNvPicPr>
          <p:nvPr/>
        </p:nvPicPr>
        <p:blipFill>
          <a:blip r:embed="rId2"/>
          <a:stretch>
            <a:fillRect/>
          </a:stretch>
        </p:blipFill>
        <p:spPr>
          <a:xfrm>
            <a:off x="737255" y="1572768"/>
            <a:ext cx="1071718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eo_fondo.png"/>
          <p:cNvPicPr>
            <a:picLocks noChangeAspect="1"/>
          </p:cNvPicPr>
          <p:nvPr/>
        </p:nvPicPr>
        <p:blipFill>
          <a:blip r:embed="rId2"/>
          <a:stretch>
            <a:fillRect/>
          </a:stretch>
        </p:blipFill>
        <p:spPr>
          <a:xfrm>
            <a:off x="2432583" y="1572768"/>
            <a:ext cx="732652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66928" y="1572768"/>
          <a:ext cx="6766560" cy="2304288"/>
        </p:xfrm>
        <a:graphic>
          <a:graphicData uri="http://schemas.openxmlformats.org/drawingml/2006/table">
            <a:tbl>
              <a:tblPr firstRow="1" bandRow="1">
                <a:tableStyleId>{5C22544A-7EE6-4342-B048-85BDC9FD1C3A}</a:tableStyleId>
              </a:tblPr>
              <a:tblGrid>
                <a:gridCol w="2255520">
                  <a:extLst>
                    <a:ext uri="{9D8B030D-6E8A-4147-A177-3AD203B41FA5}">
                      <a16:colId xmlns:a16="http://schemas.microsoft.com/office/drawing/2014/main" val="20000"/>
                    </a:ext>
                  </a:extLst>
                </a:gridCol>
                <a:gridCol w="2255520">
                  <a:extLst>
                    <a:ext uri="{9D8B030D-6E8A-4147-A177-3AD203B41FA5}">
                      <a16:colId xmlns:a16="http://schemas.microsoft.com/office/drawing/2014/main" val="20001"/>
                    </a:ext>
                  </a:extLst>
                </a:gridCol>
                <a:gridCol w="2255520">
                  <a:extLst>
                    <a:ext uri="{9D8B030D-6E8A-4147-A177-3AD203B41FA5}">
                      <a16:colId xmlns:a16="http://schemas.microsoft.com/office/drawing/2014/main" val="20002"/>
                    </a:ext>
                  </a:extLst>
                </a:gridCol>
              </a:tblGrid>
              <a:tr h="329184">
                <a:tc>
                  <a:txBody>
                    <a:bodyPr/>
                    <a:lstStyle/>
                    <a:p>
                      <a:pPr>
                        <a:defRPr sz="1200" b="1">
                          <a:solidFill>
                            <a:srgbClr val="FFFFFF"/>
                          </a:solidFill>
                          <a:latin typeface="Calibri"/>
                        </a:defRPr>
                      </a:pPr>
                      <a:r>
                        <a:t>Box Lxy × Lz [µm]</a:t>
                      </a:r>
                    </a:p>
                  </a:txBody>
                  <a:tcPr anchor="ctr">
                    <a:solidFill>
                      <a:srgbClr val="16256B"/>
                    </a:solidFill>
                  </a:tcPr>
                </a:tc>
                <a:tc>
                  <a:txBody>
                    <a:bodyPr/>
                    <a:lstStyle/>
                    <a:p>
                      <a:pPr>
                        <a:defRPr sz="1200" b="1">
                          <a:solidFill>
                            <a:srgbClr val="FFFFFF"/>
                          </a:solidFill>
                          <a:latin typeface="Calibri"/>
                        </a:defRPr>
                      </a:pPr>
                      <a:r>
                        <a:t>Low gradient</a:t>
                      </a:r>
                    </a:p>
                  </a:txBody>
                  <a:tcPr anchor="ctr">
                    <a:solidFill>
                      <a:srgbClr val="16256B"/>
                    </a:solidFill>
                  </a:tcPr>
                </a:tc>
                <a:tc>
                  <a:txBody>
                    <a:bodyPr/>
                    <a:lstStyle/>
                    <a:p>
                      <a:pPr>
                        <a:defRPr sz="1200" b="1">
                          <a:solidFill>
                            <a:srgbClr val="FFFFFF"/>
                          </a:solidFill>
                          <a:latin typeface="Calibri"/>
                        </a:defRPr>
                      </a:pPr>
                      <a:r>
                        <a:t>High gradient</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200">
                          <a:solidFill>
                            <a:srgbClr val="1C2238"/>
                          </a:solidFill>
                          <a:latin typeface="Calibri"/>
                        </a:defRPr>
                      </a:pPr>
                      <a:r>
                        <a:t>1000 × 1000</a:t>
                      </a:r>
                    </a:p>
                  </a:txBody>
                  <a:tcPr anchor="ctr">
                    <a:solidFill>
                      <a:srgbClr val="F3F5FA"/>
                    </a:solidFill>
                  </a:tcPr>
                </a:tc>
                <a:tc>
                  <a:txBody>
                    <a:bodyPr/>
                    <a:lstStyle/>
                    <a:p>
                      <a:pPr>
                        <a:defRPr sz="1200">
                          <a:solidFill>
                            <a:srgbClr val="1C2238"/>
                          </a:solidFill>
                          <a:latin typeface="Calibri"/>
                        </a:defRPr>
                      </a:pPr>
                      <a:r>
                        <a:t>90.0 %</a:t>
                      </a:r>
                    </a:p>
                  </a:txBody>
                  <a:tcPr anchor="ctr">
                    <a:solidFill>
                      <a:srgbClr val="F3F5FA"/>
                    </a:solidFill>
                  </a:tcPr>
                </a:tc>
                <a:tc>
                  <a:txBody>
                    <a:bodyPr/>
                    <a:lstStyle/>
                    <a:p>
                      <a:pPr>
                        <a:defRPr sz="1200">
                          <a:solidFill>
                            <a:srgbClr val="1C2238"/>
                          </a:solidFill>
                          <a:latin typeface="Calibri"/>
                        </a:defRPr>
                      </a:pPr>
                      <a:r>
                        <a:t>97.8 %</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200">
                          <a:solidFill>
                            <a:srgbClr val="1C2238"/>
                          </a:solidFill>
                          <a:latin typeface="Calibri"/>
                        </a:defRPr>
                      </a:pPr>
                      <a:r>
                        <a:t>1000 × 500</a:t>
                      </a:r>
                    </a:p>
                  </a:txBody>
                  <a:tcPr anchor="ctr">
                    <a:solidFill>
                      <a:srgbClr val="FFFFFF"/>
                    </a:solidFill>
                  </a:tcPr>
                </a:tc>
                <a:tc>
                  <a:txBody>
                    <a:bodyPr/>
                    <a:lstStyle/>
                    <a:p>
                      <a:pPr>
                        <a:defRPr sz="1200">
                          <a:solidFill>
                            <a:srgbClr val="1C2238"/>
                          </a:solidFill>
                          <a:latin typeface="Calibri"/>
                        </a:defRPr>
                      </a:pPr>
                      <a:r>
                        <a:t>87.2 %</a:t>
                      </a:r>
                    </a:p>
                  </a:txBody>
                  <a:tcPr anchor="ctr">
                    <a:solidFill>
                      <a:srgbClr val="FFFFFF"/>
                    </a:solidFill>
                  </a:tcPr>
                </a:tc>
                <a:tc>
                  <a:txBody>
                    <a:bodyPr/>
                    <a:lstStyle/>
                    <a:p>
                      <a:pPr>
                        <a:defRPr sz="1200">
                          <a:solidFill>
                            <a:srgbClr val="1C2238"/>
                          </a:solidFill>
                          <a:latin typeface="Calibri"/>
                        </a:defRPr>
                      </a:pPr>
                      <a:r>
                        <a:t>91.7 %</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200">
                          <a:solidFill>
                            <a:srgbClr val="1C2238"/>
                          </a:solidFill>
                          <a:latin typeface="Calibri"/>
                        </a:defRPr>
                      </a:pPr>
                      <a:r>
                        <a:t>2000 × 1000</a:t>
                      </a:r>
                    </a:p>
                  </a:txBody>
                  <a:tcPr anchor="ctr">
                    <a:solidFill>
                      <a:srgbClr val="F3F5FA"/>
                    </a:solidFill>
                  </a:tcPr>
                </a:tc>
                <a:tc>
                  <a:txBody>
                    <a:bodyPr/>
                    <a:lstStyle/>
                    <a:p>
                      <a:pPr>
                        <a:defRPr sz="1200">
                          <a:solidFill>
                            <a:srgbClr val="1C2238"/>
                          </a:solidFill>
                          <a:latin typeface="Calibri"/>
                        </a:defRPr>
                      </a:pPr>
                      <a:r>
                        <a:t>91.1 %</a:t>
                      </a:r>
                    </a:p>
                  </a:txBody>
                  <a:tcPr anchor="ctr">
                    <a:solidFill>
                      <a:srgbClr val="F3F5FA"/>
                    </a:solidFill>
                  </a:tcPr>
                </a:tc>
                <a:tc>
                  <a:txBody>
                    <a:bodyPr/>
                    <a:lstStyle/>
                    <a:p>
                      <a:pPr>
                        <a:defRPr sz="1200">
                          <a:solidFill>
                            <a:srgbClr val="1C2238"/>
                          </a:solidFill>
                          <a:latin typeface="Calibri"/>
                        </a:defRPr>
                      </a:pPr>
                      <a:r>
                        <a:t>92.2 %</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200">
                          <a:solidFill>
                            <a:srgbClr val="1C2238"/>
                          </a:solidFill>
                          <a:latin typeface="Calibri"/>
                        </a:defRPr>
                      </a:pPr>
                      <a:r>
                        <a:t>2000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200">
                          <a:solidFill>
                            <a:srgbClr val="1C2238"/>
                          </a:solidFill>
                          <a:latin typeface="Calibri"/>
                        </a:defRPr>
                      </a:pPr>
                      <a:r>
                        <a:t>3000 × 1000</a:t>
                      </a:r>
                    </a:p>
                  </a:txBody>
                  <a:tcPr anchor="ctr">
                    <a:solidFill>
                      <a:srgbClr val="F3F5FA"/>
                    </a:solidFill>
                  </a:tcPr>
                </a:tc>
                <a:tc>
                  <a:txBody>
                    <a:bodyPr/>
                    <a:lstStyle/>
                    <a:p>
                      <a:pPr>
                        <a:defRPr sz="1200">
                          <a:solidFill>
                            <a:srgbClr val="1C2238"/>
                          </a:solidFill>
                          <a:latin typeface="Calibri"/>
                        </a:defRPr>
                      </a:pPr>
                      <a:r>
                        <a:t>92.7 %</a:t>
                      </a:r>
                    </a:p>
                  </a:txBody>
                  <a:tcPr anchor="ctr">
                    <a:solidFill>
                      <a:srgbClr val="F3F5FA"/>
                    </a:solidFill>
                  </a:tcPr>
                </a:tc>
                <a:tc>
                  <a:txBody>
                    <a:bodyPr/>
                    <a:lstStyle/>
                    <a:p>
                      <a:pPr>
                        <a:defRPr sz="1200">
                          <a:solidFill>
                            <a:srgbClr val="1C2238"/>
                          </a:solidFill>
                          <a:latin typeface="Calibri"/>
                        </a:defRPr>
                      </a:pPr>
                      <a:r>
                        <a:t>93.3 %</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200">
                          <a:solidFill>
                            <a:srgbClr val="1C2238"/>
                          </a:solidFill>
                          <a:latin typeface="Calibri"/>
                        </a:defRPr>
                      </a:pPr>
                      <a:r>
                        <a:t>3000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66928" y="4224528"/>
            <a:ext cx="11057839" cy="2130552"/>
          </a:xfrm>
          <a:prstGeom prst="rect">
            <a:avLst/>
          </a:prstGeom>
          <a:noFill/>
        </p:spPr>
        <p:txBody>
          <a:bodyPr wrap="square" lIns="0" tIns="0" rIns="0" bIns="0" anchor="ctr">
            <a:spAutoFit/>
          </a:bodyPr>
          <a:lstStyle/>
          <a:p>
            <a:pPr algn="l">
              <a:spcAft>
                <a:spcPts val="900"/>
              </a:spcAft>
            </a:pPr>
            <a:r>
              <a:rPr sz="1300" b="0">
                <a:solidFill>
                  <a:srgbClr val="1C2238"/>
                </a:solidFill>
                <a:latin typeface="Calibri"/>
              </a:rPr>
              <a:t>At high gradient the 1000 × 1000 box reaches 97.8 %. Flattening the box (Lz 500) always costs accuracy, because the z axis ends up worse resolved than x-y.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SOURCE BENCH · METHOD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run_fuente.sh — does the chip point at it? This is the question it exists to answer.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Everything so far imposed a uniform gradient in a direction. Here the field comes from a source sitting somewhere and each sensor reads the magnitude at its own vertex.</a:t>
            </a:r>
          </a:p>
          <a:p>
            <a:pPr algn="l">
              <a:spcAft>
                <a:spcPts val="1100"/>
              </a:spcAft>
            </a:pPr>
            <a:r>
              <a:rPr sz="1300" b="1">
                <a:solidFill>
                  <a:srgbClr val="16256B"/>
                </a:solidFill>
                <a:latin typeface="Calibri"/>
              </a:rPr>
              <a:t>Two models, and the pair is the method:</a:t>
            </a:r>
          </a:p>
          <a:p>
            <a:pPr algn="l">
              <a:spcAft>
                <a:spcPts val="900"/>
              </a:spcAft>
            </a:pPr>
            <a:r>
              <a:rPr sz="1300" b="0">
                <a:solidFill>
                  <a:srgbClr val="1C2238"/>
                </a:solidFill>
                <a:latin typeface="Calibri"/>
              </a:rPr>
              <a:t>SYMMETRIC — |B| depends on distance only, so grad|B| points EXACTLY at the source. Whatever error comes out is the chip's.</a:t>
            </a:r>
          </a:p>
          <a:p>
            <a:pPr algn="l">
              <a:spcAft>
                <a:spcPts val="900"/>
              </a:spcAft>
            </a:pPr>
            <a:r>
              <a:rPr sz="1300" b="0">
                <a:solidFill>
                  <a:srgbClr val="1C2238"/>
                </a:solidFill>
                <a:latin typeface="Calibri"/>
              </a:rPr>
              <a:t>REAL DIPOLE — axis along +z. |B| depends on the angle too, and grad|B| does NOT point exactly at the source, not even with a perfect chip.</a:t>
            </a:r>
          </a:p>
          <a:p>
            <a:pPr algn="l">
              <a:spcAft>
                <a:spcPts val="1100"/>
              </a:spcAft>
            </a:pPr>
            <a:r>
              <a:rPr sz="1300" b="1">
                <a:solidFill>
                  <a:srgbClr val="16256B"/>
                </a:solidFill>
                <a:latin typeface="Calibri"/>
              </a:rPr>
              <a:t>The difference between the two numbers separates the error of the circuit from the error of the physics.</a:t>
            </a:r>
          </a:p>
          <a:p>
            <a:pPr algn="l">
              <a:spcAft>
                <a:spcPts val="900"/>
              </a:spcAft>
            </a:pPr>
            <a:r>
              <a:rPr sz="1300" b="0">
                <a:solidFill>
                  <a:srgbClr val="1C2238"/>
                </a:solidFill>
                <a:latin typeface="Calibri"/>
              </a:rPr>
              <a:t>Which is what you need before believing anything measured with a real magnet.</a:t>
            </a:r>
          </a:p>
          <a:p>
            <a:pPr algn="l">
              <a:spcAft>
                <a:spcPts val="900"/>
              </a:spcAft>
            </a:pPr>
            <a:r>
              <a:rPr sz="1300" b="0">
                <a:solidFill>
                  <a:srgbClr val="1C2238"/>
                </a:solidFill>
                <a:latin typeface="Calibri"/>
              </a:rPr>
              <a:t>42 sweeps: three distances, seven azimuths, both models.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900"/>
              </a:spcAft>
            </a:pPr>
            <a:r>
              <a:rPr sz="1300" b="0">
                <a:solidFill>
                  <a:srgbClr val="1C2238"/>
                </a:solidFill>
                <a:latin typeface="Calibri"/>
              </a:rPr>
              <a:t>Accuracy falls with distance, as expected: the gradient weakens and the comparator offset weighs more.</a:t>
            </a:r>
          </a:p>
        </p:txBody>
      </p:sp>
      <p:graphicFrame>
        <p:nvGraphicFramePr>
          <p:cNvPr id="6" name="Table 5"/>
          <p:cNvGraphicFramePr>
            <a:graphicFrameLocks noGrp="1"/>
          </p:cNvGraphicFramePr>
          <p:nvPr/>
        </p:nvGraphicFramePr>
        <p:xfrm>
          <a:off x="566928" y="2029968"/>
          <a:ext cx="11057839" cy="2304288"/>
        </p:xfrm>
        <a:graphic>
          <a:graphicData uri="http://schemas.openxmlformats.org/drawingml/2006/table">
            <a:tbl>
              <a:tblPr firstRow="1" bandRow="1">
                <a:tableStyleId>{5C22544A-7EE6-4342-B048-85BDC9FD1C3A}</a:tableStyleId>
              </a:tblPr>
              <a:tblGrid>
                <a:gridCol w="2211567">
                  <a:extLst>
                    <a:ext uri="{9D8B030D-6E8A-4147-A177-3AD203B41FA5}">
                      <a16:colId xmlns:a16="http://schemas.microsoft.com/office/drawing/2014/main" val="20000"/>
                    </a:ext>
                  </a:extLst>
                </a:gridCol>
                <a:gridCol w="2211567">
                  <a:extLst>
                    <a:ext uri="{9D8B030D-6E8A-4147-A177-3AD203B41FA5}">
                      <a16:colId xmlns:a16="http://schemas.microsoft.com/office/drawing/2014/main" val="20001"/>
                    </a:ext>
                  </a:extLst>
                </a:gridCol>
                <a:gridCol w="2211567">
                  <a:extLst>
                    <a:ext uri="{9D8B030D-6E8A-4147-A177-3AD203B41FA5}">
                      <a16:colId xmlns:a16="http://schemas.microsoft.com/office/drawing/2014/main" val="20002"/>
                    </a:ext>
                  </a:extLst>
                </a:gridCol>
                <a:gridCol w="2211567">
                  <a:extLst>
                    <a:ext uri="{9D8B030D-6E8A-4147-A177-3AD203B41FA5}">
                      <a16:colId xmlns:a16="http://schemas.microsoft.com/office/drawing/2014/main" val="20003"/>
                    </a:ext>
                  </a:extLst>
                </a:gridCol>
                <a:gridCol w="2211571">
                  <a:extLst>
                    <a:ext uri="{9D8B030D-6E8A-4147-A177-3AD203B41FA5}">
                      <a16:colId xmlns:a16="http://schemas.microsoft.com/office/drawing/2014/main" val="20004"/>
                    </a:ext>
                  </a:extLst>
                </a:gridCol>
              </a:tblGrid>
              <a:tr h="329184">
                <a:tc>
                  <a:txBody>
                    <a:bodyPr/>
                    <a:lstStyle/>
                    <a:p>
                      <a:pPr>
                        <a:defRPr sz="1200" b="1">
                          <a:solidFill>
                            <a:srgbClr val="FFFFFF"/>
                          </a:solidFill>
                          <a:latin typeface="Calibri"/>
                        </a:defRPr>
                      </a:pPr>
                      <a:r>
                        <a:t>Model</a:t>
                      </a:r>
                    </a:p>
                  </a:txBody>
                  <a:tcPr anchor="ctr">
                    <a:solidFill>
                      <a:srgbClr val="16256B"/>
                    </a:solidFill>
                  </a:tcPr>
                </a:tc>
                <a:tc>
                  <a:txBody>
                    <a:bodyPr/>
                    <a:lstStyle/>
                    <a:p>
                      <a:pPr>
                        <a:defRPr sz="1200" b="1">
                          <a:solidFill>
                            <a:srgbClr val="FFFFFF"/>
                          </a:solidFill>
                          <a:latin typeface="Calibri"/>
                        </a:defRPr>
                      </a:pPr>
                      <a:r>
                        <a:t>Distance</a:t>
                      </a:r>
                    </a:p>
                  </a:txBody>
                  <a:tcPr anchor="ctr">
                    <a:solidFill>
                      <a:srgbClr val="16256B"/>
                    </a:solidFill>
                  </a:tcPr>
                </a:tc>
                <a:tc>
                  <a:txBody>
                    <a:bodyPr/>
                    <a:lstStyle/>
                    <a:p>
                      <a:pPr>
                        <a:defRPr sz="1200" b="1">
                          <a:solidFill>
                            <a:srgbClr val="FFFFFF"/>
                          </a:solidFill>
                          <a:latin typeface="Calibri"/>
                        </a:defRPr>
                      </a:pPr>
                      <a:r>
                        <a:t>Chip</a:t>
                      </a:r>
                    </a:p>
                  </a:txBody>
                  <a:tcPr anchor="ctr">
                    <a:solidFill>
                      <a:srgbClr val="16256B"/>
                    </a:solidFill>
                  </a:tcPr>
                </a:tc>
                <a:tc>
                  <a:txBody>
                    <a:bodyPr/>
                    <a:lstStyle/>
                    <a:p>
                      <a:pPr>
                        <a:defRPr sz="1200" b="1">
                          <a:solidFill>
                            <a:srgbClr val="FFFFFF"/>
                          </a:solidFill>
                          <a:latin typeface="Calibri"/>
                        </a:defRPr>
                      </a:pPr>
                      <a:r>
                        <a:t>Ideal</a:t>
                      </a:r>
                    </a:p>
                  </a:txBody>
                  <a:tcPr anchor="ctr">
                    <a:solidFill>
                      <a:srgbClr val="16256B"/>
                    </a:solidFill>
                  </a:tcPr>
                </a:tc>
                <a:tc>
                  <a:txBody>
                    <a:bodyPr/>
                    <a:lstStyle/>
                    <a:p>
                      <a:pPr>
                        <a:defRPr sz="1200" b="1">
                          <a:solidFill>
                            <a:srgbClr val="FFFFFF"/>
                          </a:solidFill>
                          <a:latin typeface="Calibri"/>
                        </a:defRPr>
                      </a:pPr>
                      <a:r>
                        <a:t>Accuracy</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3000 µm</a:t>
                      </a:r>
                    </a:p>
                  </a:txBody>
                  <a:tcPr anchor="ctr">
                    <a:solidFill>
                      <a:srgbClr val="F3F5FA"/>
                    </a:solidFill>
                  </a:tcPr>
                </a:tc>
                <a:tc>
                  <a:txBody>
                    <a:bodyPr/>
                    <a:lstStyle/>
                    <a:p>
                      <a:pPr>
                        <a:defRPr sz="1200">
                          <a:solidFill>
                            <a:srgbClr val="1C2238"/>
                          </a:solidFill>
                          <a:latin typeface="Calibri"/>
                        </a:defRPr>
                      </a:pPr>
                      <a:r>
                        <a:t>14.46°</a:t>
                      </a:r>
                    </a:p>
                  </a:txBody>
                  <a:tcPr anchor="ctr">
                    <a:solidFill>
                      <a:srgbClr val="F3F5FA"/>
                    </a:solidFill>
                  </a:tcPr>
                </a:tc>
                <a:tc>
                  <a:txBody>
                    <a:bodyPr/>
                    <a:lstStyle/>
                    <a:p>
                      <a:pPr>
                        <a:defRPr sz="1200">
                          <a:solidFill>
                            <a:srgbClr val="1C2238"/>
                          </a:solidFill>
                          <a:latin typeface="Calibri"/>
                        </a:defRPr>
                      </a:pPr>
                      <a:r>
                        <a:t>14.21°</a:t>
                      </a:r>
                    </a:p>
                  </a:txBody>
                  <a:tcPr anchor="ctr">
                    <a:solidFill>
                      <a:srgbClr val="F3F5FA"/>
                    </a:solidFill>
                  </a:tcPr>
                </a:tc>
                <a:tc>
                  <a:txBody>
                    <a:bodyPr/>
                    <a:lstStyle/>
                    <a:p>
                      <a:pPr>
                        <a:defRPr sz="1200">
                          <a:solidFill>
                            <a:srgbClr val="1C2238"/>
                          </a:solidFill>
                          <a:latin typeface="Calibri"/>
                        </a:defRPr>
                      </a:pPr>
                      <a:r>
                        <a:t>90.8 %</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200">
                          <a:solidFill>
                            <a:srgbClr val="1C2238"/>
                          </a:solidFill>
                          <a:latin typeface="Calibri"/>
                        </a:defRPr>
                      </a:pPr>
                      <a:r>
                        <a:t>symmetric</a:t>
                      </a:r>
                    </a:p>
                  </a:txBody>
                  <a:tcPr anchor="ctr">
                    <a:solidFill>
                      <a:srgbClr val="FFFFFF"/>
                    </a:solidFill>
                  </a:tcPr>
                </a:tc>
                <a:tc>
                  <a:txBody>
                    <a:bodyPr/>
                    <a:lstStyle/>
                    <a:p>
                      <a:pPr>
                        <a:defRPr sz="1200">
                          <a:solidFill>
                            <a:srgbClr val="1C2238"/>
                          </a:solidFill>
                          <a:latin typeface="Calibri"/>
                        </a:defRPr>
                      </a:pPr>
                      <a:r>
                        <a:t>6000 µm</a:t>
                      </a:r>
                    </a:p>
                  </a:txBody>
                  <a:tcPr anchor="ctr">
                    <a:solidFill>
                      <a:srgbClr val="FFFFFF"/>
                    </a:solidFill>
                  </a:tcPr>
                </a:tc>
                <a:tc>
                  <a:txBody>
                    <a:bodyPr/>
                    <a:lstStyle/>
                    <a:p>
                      <a:pPr>
                        <a:defRPr sz="1200">
                          <a:solidFill>
                            <a:srgbClr val="1C2238"/>
                          </a:solidFill>
                          <a:latin typeface="Calibri"/>
                        </a:defRPr>
                      </a:pPr>
                      <a:r>
                        <a:t>9.02°</a:t>
                      </a:r>
                    </a:p>
                  </a:txBody>
                  <a:tcPr anchor="ctr">
                    <a:solidFill>
                      <a:srgbClr val="FFFFFF"/>
                    </a:solidFill>
                  </a:tcPr>
                </a:tc>
                <a:tc>
                  <a:txBody>
                    <a:bodyPr/>
                    <a:lstStyle/>
                    <a:p>
                      <a:pPr>
                        <a:defRPr sz="1200">
                          <a:solidFill>
                            <a:srgbClr val="1C2238"/>
                          </a:solidFill>
                          <a:latin typeface="Calibri"/>
                        </a:defRPr>
                      </a:pPr>
                      <a:r>
                        <a:t>7.56°</a:t>
                      </a:r>
                    </a:p>
                  </a:txBody>
                  <a:tcPr anchor="ctr">
                    <a:solidFill>
                      <a:srgbClr val="FFFFFF"/>
                    </a:solidFill>
                  </a:tcPr>
                </a:tc>
                <a:tc>
                  <a:txBody>
                    <a:bodyPr/>
                    <a:lstStyle/>
                    <a:p>
                      <a:pPr>
                        <a:defRPr sz="1200">
                          <a:solidFill>
                            <a:srgbClr val="1C2238"/>
                          </a:solidFill>
                          <a:latin typeface="Calibri"/>
                        </a:defRPr>
                      </a:pPr>
                      <a:r>
                        <a:t>86.9 %</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12000 µm</a:t>
                      </a:r>
                    </a:p>
                  </a:txBody>
                  <a:tcPr anchor="ctr">
                    <a:solidFill>
                      <a:srgbClr val="F3F5FA"/>
                    </a:solidFill>
                  </a:tcPr>
                </a:tc>
                <a:tc>
                  <a:txBody>
                    <a:bodyPr/>
                    <a:lstStyle/>
                    <a:p>
                      <a:pPr>
                        <a:defRPr sz="1200">
                          <a:solidFill>
                            <a:srgbClr val="1C2238"/>
                          </a:solidFill>
                          <a:latin typeface="Calibri"/>
                        </a:defRPr>
                      </a:pPr>
                      <a:r>
                        <a:t>11.32°</a:t>
                      </a:r>
                    </a:p>
                  </a:txBody>
                  <a:tcPr anchor="ctr">
                    <a:solidFill>
                      <a:srgbClr val="F3F5FA"/>
                    </a:solidFill>
                  </a:tcPr>
                </a:tc>
                <a:tc>
                  <a:txBody>
                    <a:bodyPr/>
                    <a:lstStyle/>
                    <a:p>
                      <a:pPr>
                        <a:defRPr sz="1200">
                          <a:solidFill>
                            <a:srgbClr val="1C2238"/>
                          </a:solidFill>
                          <a:latin typeface="Calibri"/>
                        </a:defRPr>
                      </a:pPr>
                      <a:r>
                        <a:t>3.84°</a:t>
                      </a:r>
                    </a:p>
                  </a:txBody>
                  <a:tcPr anchor="ctr">
                    <a:solidFill>
                      <a:srgbClr val="F3F5FA"/>
                    </a:solidFill>
                  </a:tcPr>
                </a:tc>
                <a:tc>
                  <a:txBody>
                    <a:bodyPr/>
                    <a:lstStyle/>
                    <a:p>
                      <a:pPr>
                        <a:defRPr sz="1200">
                          <a:solidFill>
                            <a:srgbClr val="1C2238"/>
                          </a:solidFill>
                          <a:latin typeface="Calibri"/>
                        </a:defRPr>
                      </a:pPr>
                      <a:r>
                        <a:t>76.1 %</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3000 µm</a:t>
                      </a:r>
                    </a:p>
                  </a:txBody>
                  <a:tcPr anchor="ctr">
                    <a:solidFill>
                      <a:srgbClr val="FFFFFF"/>
                    </a:solidFill>
                  </a:tcPr>
                </a:tc>
                <a:tc>
                  <a:txBody>
                    <a:bodyPr/>
                    <a:lstStyle/>
                    <a:p>
                      <a:pPr>
                        <a:defRPr sz="1200">
                          <a:solidFill>
                            <a:srgbClr val="1C2238"/>
                          </a:solidFill>
                          <a:latin typeface="Calibri"/>
                        </a:defRPr>
                      </a:pPr>
                      <a:r>
                        <a:t>16.53°</a:t>
                      </a:r>
                    </a:p>
                  </a:txBody>
                  <a:tcPr anchor="ctr">
                    <a:solidFill>
                      <a:srgbClr val="FFFFFF"/>
                    </a:solidFill>
                  </a:tcPr>
                </a:tc>
                <a:tc>
                  <a:txBody>
                    <a:bodyPr/>
                    <a:lstStyle/>
                    <a:p>
                      <a:pPr>
                        <a:defRPr sz="1200">
                          <a:solidFill>
                            <a:srgbClr val="1C2238"/>
                          </a:solidFill>
                          <a:latin typeface="Calibri"/>
                        </a:defRPr>
                      </a:pPr>
                      <a:r>
                        <a:t>16.40°</a:t>
                      </a:r>
                    </a:p>
                  </a:txBody>
                  <a:tcPr anchor="ctr">
                    <a:solidFill>
                      <a:srgbClr val="FFFFFF"/>
                    </a:solidFill>
                  </a:tcPr>
                </a:tc>
                <a:tc>
                  <a:txBody>
                    <a:bodyPr/>
                    <a:lstStyle/>
                    <a:p>
                      <a:pPr>
                        <a:defRPr sz="1200">
                          <a:solidFill>
                            <a:srgbClr val="1C2238"/>
                          </a:solidFill>
                          <a:latin typeface="Calibri"/>
                        </a:defRPr>
                      </a:pPr>
                      <a:r>
                        <a:t>93.2 %</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200">
                          <a:solidFill>
                            <a:srgbClr val="1C2238"/>
                          </a:solidFill>
                          <a:latin typeface="Calibri"/>
                        </a:defRPr>
                      </a:pPr>
                      <a:r>
                        <a:t>dipole</a:t>
                      </a:r>
                    </a:p>
                  </a:txBody>
                  <a:tcPr anchor="ctr">
                    <a:solidFill>
                      <a:srgbClr val="F3F5FA"/>
                    </a:solidFill>
                  </a:tcPr>
                </a:tc>
                <a:tc>
                  <a:txBody>
                    <a:bodyPr/>
                    <a:lstStyle/>
                    <a:p>
                      <a:pPr>
                        <a:defRPr sz="1200">
                          <a:solidFill>
                            <a:srgbClr val="1C2238"/>
                          </a:solidFill>
                          <a:latin typeface="Calibri"/>
                        </a:defRPr>
                      </a:pPr>
                      <a:r>
                        <a:t>6000 µm</a:t>
                      </a:r>
                    </a:p>
                  </a:txBody>
                  <a:tcPr anchor="ctr">
                    <a:solidFill>
                      <a:srgbClr val="F3F5FA"/>
                    </a:solidFill>
                  </a:tcPr>
                </a:tc>
                <a:tc>
                  <a:txBody>
                    <a:bodyPr/>
                    <a:lstStyle/>
                    <a:p>
                      <a:pPr>
                        <a:defRPr sz="1200">
                          <a:solidFill>
                            <a:srgbClr val="1C2238"/>
                          </a:solidFill>
                          <a:latin typeface="Calibri"/>
                        </a:defRPr>
                      </a:pPr>
                      <a:r>
                        <a:t>12.31°</a:t>
                      </a:r>
                    </a:p>
                  </a:txBody>
                  <a:tcPr anchor="ctr">
                    <a:solidFill>
                      <a:srgbClr val="F3F5FA"/>
                    </a:solidFill>
                  </a:tcPr>
                </a:tc>
                <a:tc>
                  <a:txBody>
                    <a:bodyPr/>
                    <a:lstStyle/>
                    <a:p>
                      <a:pPr>
                        <a:defRPr sz="1200">
                          <a:solidFill>
                            <a:srgbClr val="1C2238"/>
                          </a:solidFill>
                          <a:latin typeface="Calibri"/>
                        </a:defRPr>
                      </a:pPr>
                      <a:r>
                        <a:t>11.66°</a:t>
                      </a:r>
                    </a:p>
                  </a:txBody>
                  <a:tcPr anchor="ctr">
                    <a:solidFill>
                      <a:srgbClr val="F3F5FA"/>
                    </a:solidFill>
                  </a:tcPr>
                </a:tc>
                <a:tc>
                  <a:txBody>
                    <a:bodyPr/>
                    <a:lstStyle/>
                    <a:p>
                      <a:pPr>
                        <a:defRPr sz="1200">
                          <a:solidFill>
                            <a:srgbClr val="1C2238"/>
                          </a:solidFill>
                          <a:latin typeface="Calibri"/>
                        </a:defRPr>
                      </a:pPr>
                      <a:r>
                        <a:t>90.6 %</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12000 µm</a:t>
                      </a:r>
                    </a:p>
                  </a:txBody>
                  <a:tcPr anchor="ctr">
                    <a:solidFill>
                      <a:srgbClr val="FFFFFF"/>
                    </a:solidFill>
                  </a:tcPr>
                </a:tc>
                <a:tc>
                  <a:txBody>
                    <a:bodyPr/>
                    <a:lstStyle/>
                    <a:p>
                      <a:pPr>
                        <a:defRPr sz="1200">
                          <a:solidFill>
                            <a:srgbClr val="1C2238"/>
                          </a:solidFill>
                          <a:latin typeface="Calibri"/>
                        </a:defRPr>
                      </a:pPr>
                      <a:r>
                        <a:t>12.41°</a:t>
                      </a:r>
                    </a:p>
                  </a:txBody>
                  <a:tcPr anchor="ctr">
                    <a:solidFill>
                      <a:srgbClr val="FFFFFF"/>
                    </a:solidFill>
                  </a:tcPr>
                </a:tc>
                <a:tc>
                  <a:txBody>
                    <a:bodyPr/>
                    <a:lstStyle/>
                    <a:p>
                      <a:pPr>
                        <a:defRPr sz="1200">
                          <a:solidFill>
                            <a:srgbClr val="1C2238"/>
                          </a:solidFill>
                          <a:latin typeface="Calibri"/>
                        </a:defRPr>
                      </a:pPr>
                      <a:r>
                        <a:t>9.92°</a:t>
                      </a:r>
                    </a:p>
                  </a:txBody>
                  <a:tcPr anchor="ctr">
                    <a:solidFill>
                      <a:srgbClr val="FFFFFF"/>
                    </a:solidFill>
                  </a:tcPr>
                </a:tc>
                <a:tc>
                  <a:txBody>
                    <a:bodyPr/>
                    <a:lstStyle/>
                    <a:p>
                      <a:pPr>
                        <a:defRPr sz="1200">
                          <a:solidFill>
                            <a:srgbClr val="1C2238"/>
                          </a:solidFill>
                          <a:latin typeface="Calibri"/>
                        </a:defRPr>
                      </a:pPr>
                      <a:r>
                        <a:t>84.3 %</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66928" y="4681728"/>
            <a:ext cx="11057839" cy="1673352"/>
          </a:xfrm>
          <a:prstGeom prst="rect">
            <a:avLst/>
          </a:prstGeom>
          <a:noFill/>
        </p:spPr>
        <p:txBody>
          <a:bodyPr wrap="square" lIns="0" tIns="0" rIns="0" bIns="0" anchor="ctr">
            <a:spAutoFit/>
          </a:bodyPr>
          <a:lstStyle/>
          <a:p>
            <a:pPr algn="l">
              <a:spcAft>
                <a:spcPts val="900"/>
              </a:spcAft>
            </a:pPr>
            <a:r>
              <a:rPr sz="1300" b="0">
                <a:solidFill>
                  <a:srgbClr val="1C2238"/>
                </a:solidFill>
                <a:latin typeface="Calibri"/>
              </a:rPr>
              <a:t>Read the LAST degrees column, not the first two. «Chip» is the angle out of the four simulated bridge voltages; «Ideal» is the same computation on analytical readings, with no circuit. Neither is zero, and the circuit is not why: the chip does not measure the gradient at a point, it takes a FINITE DIFFERENCE over a 1 mm box, and 3 mm from the source the field curves so sharply across that box that a perfect chip already misses by 14°. What the circuit adds is the difference: +0.25° at 3 mm, +7.48° at 12 mm.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rc_sensores.png"/>
          <p:cNvPicPr>
            <a:picLocks noChangeAspect="1"/>
          </p:cNvPicPr>
          <p:nvPr/>
        </p:nvPicPr>
        <p:blipFill>
          <a:blip r:embed="rId2"/>
          <a:stretch>
            <a:fillRect/>
          </a:stretch>
        </p:blipFill>
        <p:spPr>
          <a:xfrm>
            <a:off x="2163540" y="1572768"/>
            <a:ext cx="786461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rc_fuente_apunta.png"/>
          <p:cNvPicPr>
            <a:picLocks noChangeAspect="1"/>
          </p:cNvPicPr>
          <p:nvPr/>
        </p:nvPicPr>
        <p:blipFill>
          <a:blip r:embed="rId2"/>
          <a:stretch>
            <a:fillRect/>
          </a:stretch>
        </p:blipFill>
        <p:spPr>
          <a:xfrm>
            <a:off x="3309818" y="1572768"/>
            <a:ext cx="557205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eld_real_2_fuente.png"/>
          <p:cNvPicPr>
            <a:picLocks noChangeAspect="1"/>
          </p:cNvPicPr>
          <p:nvPr/>
        </p:nvPicPr>
        <p:blipFill>
          <a:blip r:embed="rId2"/>
          <a:stretch>
            <a:fillRect/>
          </a:stretch>
        </p:blipFill>
        <p:spPr>
          <a:xfrm>
            <a:off x="566928" y="1647840"/>
            <a:ext cx="11057839" cy="4449288"/>
          </a:xfrm>
          <a:prstGeom prst="rect">
            <a:avLst/>
          </a:prstGeom>
        </p:spPr>
      </p:pic>
      <p:sp>
        <p:nvSpPr>
          <p:cNvPr id="6" name="TextBox 5"/>
          <p:cNvSpPr txBox="1"/>
          <p:nvPr/>
        </p:nvSpPr>
        <p:spPr>
          <a:xfrm>
            <a:off x="566928" y="6170280"/>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rc_fuente_resumen.png"/>
          <p:cNvPicPr>
            <a:picLocks noChangeAspect="1"/>
          </p:cNvPicPr>
          <p:nvPr/>
        </p:nvPicPr>
        <p:blipFill>
          <a:blip r:embed="rId2"/>
          <a:stretch>
            <a:fillRect/>
          </a:stretch>
        </p:blipFill>
        <p:spPr>
          <a:xfrm>
            <a:off x="855364" y="1572768"/>
            <a:ext cx="10480966" cy="4599432"/>
          </a:xfrm>
          <a:prstGeom prst="rect">
            <a:avLst/>
          </a:prstGeom>
        </p:spPr>
      </p:pic>
      <p:sp>
        <p:nvSpPr>
          <p:cNvPr id="6" name="TextBox 5"/>
          <p:cNvSpPr txBox="1"/>
          <p:nvPr/>
        </p:nvSpPr>
        <p:spPr>
          <a:xfrm>
            <a:off x="566928" y="6245352"/>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 y="2468880"/>
            <a:ext cx="9923983" cy="731520"/>
          </a:xfrm>
          <a:prstGeom prst="rect">
            <a:avLst/>
          </a:prstGeom>
          <a:noFill/>
        </p:spPr>
        <p:txBody>
          <a:bodyPr wrap="square" lIns="0" tIns="0" rIns="0" bIns="0">
            <a:spAutoFit/>
          </a:bodyPr>
          <a:lstStyle/>
          <a:p>
            <a:pPr algn="l">
              <a:spcAft>
                <a:spcPts val="600"/>
              </a:spcAft>
            </a:pPr>
            <a:r>
              <a:rPr sz="3000" b="1">
                <a:solidFill>
                  <a:srgbClr val="E08A1E"/>
                </a:solidFill>
                <a:latin typeface="Consolas"/>
              </a:rPr>
              <a:t>04</a:t>
            </a:r>
          </a:p>
        </p:txBody>
      </p:sp>
      <p:sp>
        <p:nvSpPr>
          <p:cNvPr id="4" name="TextBox 3"/>
          <p:cNvSpPr txBox="1"/>
          <p:nvPr/>
        </p:nvSpPr>
        <p:spPr>
          <a:xfrm>
            <a:off x="1133856" y="3063240"/>
            <a:ext cx="9923983" cy="1280160"/>
          </a:xfrm>
          <a:prstGeom prst="rect">
            <a:avLst/>
          </a:prstGeom>
          <a:noFill/>
        </p:spPr>
        <p:txBody>
          <a:bodyPr wrap="square" lIns="0" tIns="0" rIns="0" bIns="0">
            <a:spAutoFit/>
          </a:bodyPr>
          <a:lstStyle/>
          <a:p>
            <a:pPr algn="l">
              <a:spcAft>
                <a:spcPts val="800"/>
              </a:spcAft>
            </a:pPr>
            <a:r>
              <a:rPr sz="3400" b="1">
                <a:solidFill>
                  <a:srgbClr val="FFFFFF"/>
                </a:solidFill>
                <a:latin typeface="Consolas"/>
              </a:rPr>
              <a:t>PHYSICAL VERIFICATION</a:t>
            </a:r>
          </a:p>
        </p:txBody>
      </p:sp>
      <p:sp>
        <p:nvSpPr>
          <p:cNvPr id="5" name="TextBox 4"/>
          <p:cNvSpPr txBox="1"/>
          <p:nvPr/>
        </p:nvSpPr>
        <p:spPr>
          <a:xfrm>
            <a:off x="1133856" y="4206240"/>
            <a:ext cx="9357055" cy="1280160"/>
          </a:xfrm>
          <a:prstGeom prst="rect">
            <a:avLst/>
          </a:prstGeom>
          <a:noFill/>
        </p:spPr>
        <p:txBody>
          <a:bodyPr wrap="square" lIns="0" tIns="0" rIns="0" bIns="0">
            <a:spAutoFit/>
          </a:bodyPr>
          <a:lstStyle/>
          <a:p>
            <a:pPr algn="l">
              <a:spcAft>
                <a:spcPts val="400"/>
              </a:spcAft>
            </a:pPr>
            <a:r>
              <a:rPr sz="1500" b="0">
                <a:solidFill>
                  <a:srgbClr val="FFFFFF"/>
                </a:solidFill>
                <a:latin typeface="Calibri"/>
              </a:rPr>
              <a:t>DRC, LVS, connectivity and current density on the file that ships.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B26_A</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On B26_A_filled3.gds, the file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yout_B26_A_sin_fill.png"/>
          <p:cNvPicPr>
            <a:picLocks noChangeAspect="1"/>
          </p:cNvPicPr>
          <p:nvPr/>
        </p:nvPicPr>
        <p:blipFill>
          <a:blip r:embed="rId2"/>
          <a:stretch>
            <a:fillRect/>
          </a:stretch>
        </p:blipFill>
        <p:spPr>
          <a:xfrm>
            <a:off x="1054531" y="1572768"/>
            <a:ext cx="4416552" cy="4416552"/>
          </a:xfrm>
          <a:prstGeom prst="rect">
            <a:avLst/>
          </a:prstGeom>
        </p:spPr>
      </p:pic>
      <p:sp>
        <p:nvSpPr>
          <p:cNvPr id="6" name="TextBox 5"/>
          <p:cNvSpPr txBox="1"/>
          <p:nvPr/>
        </p:nvSpPr>
        <p:spPr>
          <a:xfrm>
            <a:off x="566928" y="606247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unfilled — 1110 × 1110 µm</a:t>
            </a:r>
          </a:p>
        </p:txBody>
      </p:sp>
      <p:pic>
        <p:nvPicPr>
          <p:cNvPr id="7" name="Picture 6" descr="layout_B26_A.png"/>
          <p:cNvPicPr>
            <a:picLocks noChangeAspect="1"/>
          </p:cNvPicPr>
          <p:nvPr/>
        </p:nvPicPr>
        <p:blipFill>
          <a:blip r:embed="rId3"/>
          <a:stretch>
            <a:fillRect/>
          </a:stretch>
        </p:blipFill>
        <p:spPr>
          <a:xfrm>
            <a:off x="6720610" y="1572768"/>
            <a:ext cx="4416552" cy="4416552"/>
          </a:xfrm>
          <a:prstGeom prst="rect">
            <a:avLst/>
          </a:prstGeom>
        </p:spPr>
      </p:pic>
      <p:sp>
        <p:nvSpPr>
          <p:cNvPr id="8" name="TextBox 7"/>
          <p:cNvSpPr txBox="1"/>
          <p:nvPr/>
        </p:nvSpPr>
        <p:spPr>
          <a:xfrm>
            <a:off x="6233007" y="6062472"/>
            <a:ext cx="539175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density-filled — 1110 × 1110 µm</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PHYSICAL VERIFICATION</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On B26_A_filled3.gds, the file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66928" y="1572768"/>
          <a:ext cx="8778240" cy="2962656"/>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329184">
                <a:tc>
                  <a:txBody>
                    <a:bodyPr/>
                    <a:lstStyle/>
                    <a:p>
                      <a:pPr>
                        <a:defRPr sz="1200" b="1">
                          <a:solidFill>
                            <a:srgbClr val="FFFFFF"/>
                          </a:solidFill>
                          <a:latin typeface="Calibri"/>
                        </a:defRPr>
                      </a:pPr>
                      <a:r>
                        <a:t>Check</a:t>
                      </a:r>
                    </a:p>
                  </a:txBody>
                  <a:tcPr anchor="ctr">
                    <a:solidFill>
                      <a:srgbClr val="16256B"/>
                    </a:solidFill>
                  </a:tcPr>
                </a:tc>
                <a:tc>
                  <a:txBody>
                    <a:bodyPr/>
                    <a:lstStyle/>
                    <a:p>
                      <a:pPr>
                        <a:defRPr sz="1200" b="1">
                          <a:solidFill>
                            <a:srgbClr val="FFFFFF"/>
                          </a:solidFill>
                          <a:latin typeface="Calibri"/>
                        </a:defRPr>
                      </a:pPr>
                      <a:r>
                        <a:t>Result</a:t>
                      </a:r>
                    </a:p>
                  </a:txBody>
                  <a:tcPr anchor="ctr">
                    <a:solidFill>
                      <a:srgbClr val="16256B"/>
                    </a:solidFill>
                  </a:tcPr>
                </a:tc>
                <a:extLst>
                  <a:ext uri="{0D108BD9-81ED-4DB2-BD59-A6C34878D82A}">
                    <a16:rowId xmlns:a16="http://schemas.microsoft.com/office/drawing/2014/main" val="10000"/>
                  </a:ext>
                </a:extLst>
              </a:tr>
              <a:tr h="329184">
                <a:tc>
                  <a:txBody>
                    <a:bodyPr/>
                    <a:lstStyle/>
                    <a:p>
                      <a:pPr>
                        <a:defRPr sz="1200">
                          <a:solidFill>
                            <a:srgbClr val="1C2238"/>
                          </a:solidFill>
                          <a:latin typeface="Calibri"/>
                        </a:defRPr>
                      </a:pPr>
                      <a:r>
                        <a:t>Sign-off DRC (main/deep, with connectivity)</a:t>
                      </a:r>
                    </a:p>
                  </a:txBody>
                  <a:tcPr anchor="ctr">
                    <a:solidFill>
                      <a:srgbClr val="F3F5FA"/>
                    </a:solidFill>
                  </a:tcPr>
                </a:tc>
                <a:tc>
                  <a:txBody>
                    <a:bodyPr/>
                    <a:lstStyle/>
                    <a:p>
                      <a:pPr>
                        <a:defRPr sz="1200">
                          <a:solidFill>
                            <a:srgbClr val="1C2238"/>
                          </a:solidFill>
                          <a:latin typeface="Calibri"/>
                        </a:defRPr>
                      </a:pPr>
                      <a:r>
                        <a:t>660 categories, 0 violations</a:t>
                      </a:r>
                    </a:p>
                  </a:txBody>
                  <a:tcPr anchor="ctr">
                    <a:solidFill>
                      <a:srgbClr val="F3F5FA"/>
                    </a:solidFill>
                  </a:tcPr>
                </a:tc>
                <a:extLst>
                  <a:ext uri="{0D108BD9-81ED-4DB2-BD59-A6C34878D82A}">
                    <a16:rowId xmlns:a16="http://schemas.microsoft.com/office/drawing/2014/main" val="10001"/>
                  </a:ext>
                </a:extLst>
              </a:tr>
              <a:tr h="329184">
                <a:tc>
                  <a:txBody>
                    <a:bodyPr/>
                    <a:lstStyle/>
                    <a:p>
                      <a:pPr>
                        <a:defRPr sz="1200">
                          <a:solidFill>
                            <a:srgbClr val="1C2238"/>
                          </a:solidFill>
                          <a:latin typeface="Calibri"/>
                        </a:defRPr>
                      </a:pPr>
                      <a:r>
                        <a:t>DRC with --no_connectivity</a:t>
                      </a:r>
                    </a:p>
                  </a:txBody>
                  <a:tcPr anchor="ctr">
                    <a:solidFill>
                      <a:srgbClr val="FFFFFF"/>
                    </a:solidFill>
                  </a:tcPr>
                </a:tc>
                <a:tc>
                  <a:txBody>
                    <a:bodyPr/>
                    <a:lstStyle/>
                    <a:p>
                      <a:pPr>
                        <a:defRPr sz="1200">
                          <a:solidFill>
                            <a:srgbClr val="1C2238"/>
                          </a:solidFill>
                          <a:latin typeface="Calibri"/>
                        </a:defRPr>
                      </a:pPr>
                      <a:r>
                        <a:t>0 violations</a:t>
                      </a:r>
                    </a:p>
                  </a:txBody>
                  <a:tcPr anchor="ctr">
                    <a:solidFill>
                      <a:srgbClr val="FFFFFF"/>
                    </a:solidFill>
                  </a:tcPr>
                </a:tc>
                <a:extLst>
                  <a:ext uri="{0D108BD9-81ED-4DB2-BD59-A6C34878D82A}">
                    <a16:rowId xmlns:a16="http://schemas.microsoft.com/office/drawing/2014/main" val="10002"/>
                  </a:ext>
                </a:extLst>
              </a:tr>
              <a:tr h="329184">
                <a:tc>
                  <a:txBody>
                    <a:bodyPr/>
                    <a:lstStyle/>
                    <a:p>
                      <a:pPr>
                        <a:defRPr sz="1200">
                          <a:solidFill>
                            <a:srgbClr val="1C2238"/>
                          </a:solidFill>
                          <a:latin typeface="Calibri"/>
                        </a:defRPr>
                      </a:pPr>
                      <a:r>
                        <a:t>Split-table DRC, 63 tables</a:t>
                      </a:r>
                    </a:p>
                  </a:txBody>
                  <a:tcPr anchor="ctr">
                    <a:solidFill>
                      <a:srgbClr val="F3F5FA"/>
                    </a:solidFill>
                  </a:tcPr>
                </a:tc>
                <a:tc>
                  <a:txBody>
                    <a:bodyPr/>
                    <a:lstStyle/>
                    <a:p>
                      <a:pPr>
                        <a:defRPr sz="1200">
                          <a:solidFill>
                            <a:srgbClr val="1C2238"/>
                          </a:solidFill>
                          <a:latin typeface="Calibri"/>
                        </a:defRPr>
                      </a:pPr>
                      <a:r>
                        <a:t>63 tables, 0 violations</a:t>
                      </a:r>
                    </a:p>
                  </a:txBody>
                  <a:tcPr anchor="ctr">
                    <a:solidFill>
                      <a:srgbClr val="F3F5FA"/>
                    </a:solidFill>
                  </a:tcPr>
                </a:tc>
                <a:extLst>
                  <a:ext uri="{0D108BD9-81ED-4DB2-BD59-A6C34878D82A}">
                    <a16:rowId xmlns:a16="http://schemas.microsoft.com/office/drawing/2014/main" val="10003"/>
                  </a:ext>
                </a:extLst>
              </a:tr>
              <a:tr h="329184">
                <a:tc>
                  <a:txBody>
                    <a:bodyPr/>
                    <a:lstStyle/>
                    <a:p>
                      <a:pPr>
                        <a:defRPr sz="1200">
                          <a:solidFill>
                            <a:srgbClr val="1C2238"/>
                          </a:solidFill>
                          <a:latin typeface="Calibri"/>
                        </a:defRPr>
                      </a:pPr>
                      <a:r>
                        <a:t>Density fill</a:t>
                      </a:r>
                    </a:p>
                  </a:txBody>
                  <a:tcPr anchor="ctr">
                    <a:solidFill>
                      <a:srgbClr val="FFFFFF"/>
                    </a:solidFill>
                  </a:tcPr>
                </a:tc>
                <a:tc>
                  <a:txBody>
                    <a:bodyPr/>
                    <a:lstStyle/>
                    <a:p>
                      <a:pPr>
                        <a:defRPr sz="1200">
                          <a:solidFill>
                            <a:srgbClr val="1C2238"/>
                          </a:solidFill>
                          <a:latin typeface="Calibri"/>
                        </a:defRPr>
                      </a:pPr>
                      <a:r>
                        <a:t>all 7 layers pass</a:t>
                      </a:r>
                    </a:p>
                  </a:txBody>
                  <a:tcPr anchor="ctr">
                    <a:solidFill>
                      <a:srgbClr val="FFFFFF"/>
                    </a:solidFill>
                  </a:tcPr>
                </a:tc>
                <a:extLst>
                  <a:ext uri="{0D108BD9-81ED-4DB2-BD59-A6C34878D82A}">
                    <a16:rowId xmlns:a16="http://schemas.microsoft.com/office/drawing/2014/main" val="10004"/>
                  </a:ext>
                </a:extLst>
              </a:tr>
              <a:tr h="329184">
                <a:tc>
                  <a:txBody>
                    <a:bodyPr/>
                    <a:lstStyle/>
                    <a:p>
                      <a:pPr>
                        <a:defRPr sz="1200">
                          <a:solidFill>
                            <a:srgbClr val="1C2238"/>
                          </a:solidFill>
                          <a:latin typeface="Calibri"/>
                        </a:defRPr>
                      </a:pPr>
                      <a:r>
                        <a:t>LVS netgen</a:t>
                      </a:r>
                    </a:p>
                  </a:txBody>
                  <a:tcPr anchor="ctr">
                    <a:solidFill>
                      <a:srgbClr val="F3F5FA"/>
                    </a:solidFill>
                  </a:tcPr>
                </a:tc>
                <a:tc>
                  <a:txBody>
                    <a:bodyPr/>
                    <a:lstStyle/>
                    <a:p>
                      <a:pPr>
                        <a:defRPr sz="1200">
                          <a:solidFill>
                            <a:srgbClr val="1C2238"/>
                          </a:solidFill>
                          <a:latin typeface="Calibri"/>
                        </a:defRPr>
                      </a:pPr>
                      <a:r>
                        <a:t>Circuits match uniquely</a:t>
                      </a:r>
                    </a:p>
                  </a:txBody>
                  <a:tcPr anchor="ctr">
                    <a:solidFill>
                      <a:srgbClr val="F3F5FA"/>
                    </a:solidFill>
                  </a:tcPr>
                </a:tc>
                <a:extLst>
                  <a:ext uri="{0D108BD9-81ED-4DB2-BD59-A6C34878D82A}">
                    <a16:rowId xmlns:a16="http://schemas.microsoft.com/office/drawing/2014/main" val="10005"/>
                  </a:ext>
                </a:extLst>
              </a:tr>
              <a:tr h="329184">
                <a:tc>
                  <a:txBody>
                    <a:bodyPr/>
                    <a:lstStyle/>
                    <a:p>
                      <a:pPr>
                        <a:defRPr sz="1200">
                          <a:solidFill>
                            <a:srgbClr val="1C2238"/>
                          </a:solidFill>
                          <a:latin typeface="Calibri"/>
                        </a:defRPr>
                      </a:pPr>
                      <a:r>
                        <a:t>Connectivity</a:t>
                      </a:r>
                    </a:p>
                  </a:txBody>
                  <a:tcPr anchor="ctr">
                    <a:solidFill>
                      <a:srgbClr val="FFFFFF"/>
                    </a:solidFill>
                  </a:tcPr>
                </a:tc>
                <a:tc>
                  <a:txBody>
                    <a:bodyPr/>
                    <a:lstStyle/>
                    <a:p>
                      <a:pPr>
                        <a:defRPr sz="1200">
                          <a:solidFill>
                            <a:srgbClr val="1C2238"/>
                          </a:solidFill>
                          <a:latin typeface="Calibri"/>
                        </a:defRPr>
                      </a:pPr>
                      <a:r>
                        <a:t>17 of 17 signals, 11 through their clamp</a:t>
                      </a:r>
                    </a:p>
                  </a:txBody>
                  <a:tcPr anchor="ctr">
                    <a:solidFill>
                      <a:srgbClr val="FFFFFF"/>
                    </a:solidFill>
                  </a:tcPr>
                </a:tc>
                <a:extLst>
                  <a:ext uri="{0D108BD9-81ED-4DB2-BD59-A6C34878D82A}">
                    <a16:rowId xmlns:a16="http://schemas.microsoft.com/office/drawing/2014/main" val="10006"/>
                  </a:ext>
                </a:extLst>
              </a:tr>
              <a:tr h="329184">
                <a:tc>
                  <a:txBody>
                    <a:bodyPr/>
                    <a:lstStyle/>
                    <a:p>
                      <a:pPr>
                        <a:defRPr sz="1200">
                          <a:solidFill>
                            <a:srgbClr val="1C2238"/>
                          </a:solidFill>
                          <a:latin typeface="Calibri"/>
                        </a:defRPr>
                      </a:pPr>
                      <a:r>
                        <a:t>Current density at 125 °C</a:t>
                      </a:r>
                    </a:p>
                  </a:txBody>
                  <a:tcPr anchor="ctr">
                    <a:solidFill>
                      <a:srgbClr val="F3F5FA"/>
                    </a:solidFill>
                  </a:tcPr>
                </a:tc>
                <a:tc>
                  <a:txBody>
                    <a:bodyPr/>
                    <a:lstStyle/>
                    <a:p>
                      <a:pPr>
                        <a:defRPr sz="1200">
                          <a:solidFill>
                            <a:srgbClr val="1C2238"/>
                          </a:solidFill>
                          <a:latin typeface="Calibri"/>
                        </a:defRPr>
                      </a:pPr>
                      <a:r>
                        <a:t>48.00 µm against 22.10 required</a:t>
                      </a:r>
                    </a:p>
                  </a:txBody>
                  <a:tcPr anchor="ctr">
                    <a:solidFill>
                      <a:srgbClr val="F3F5FA"/>
                    </a:solidFill>
                  </a:tcPr>
                </a:tc>
                <a:extLst>
                  <a:ext uri="{0D108BD9-81ED-4DB2-BD59-A6C34878D82A}">
                    <a16:rowId xmlns:a16="http://schemas.microsoft.com/office/drawing/2014/main" val="10007"/>
                  </a:ext>
                </a:extLst>
              </a:tr>
              <a:tr h="329184">
                <a:tc>
                  <a:txBody>
                    <a:bodyPr/>
                    <a:lstStyle/>
                    <a:p>
                      <a:pPr>
                        <a:defRPr sz="1200">
                          <a:solidFill>
                            <a:srgbClr val="1C2238"/>
                          </a:solidFill>
                          <a:latin typeface="Calibri"/>
                        </a:defRPr>
                      </a:pPr>
                      <a:r>
                        <a:t>PR_bndry</a:t>
                      </a:r>
                    </a:p>
                  </a:txBody>
                  <a:tcPr anchor="ctr">
                    <a:solidFill>
                      <a:srgbClr val="FFFFFF"/>
                    </a:solidFill>
                  </a:tcPr>
                </a:tc>
                <a:tc>
                  <a:txBody>
                    <a:bodyPr/>
                    <a:lstStyle/>
                    <a:p>
                      <a:pPr>
                        <a:defRPr sz="1200">
                          <a:solidFill>
                            <a:srgbClr val="1C2238"/>
                          </a:solidFill>
                          <a:latin typeface="Calibri"/>
                        </a:defRPr>
                      </a:pPr>
                      <a:r>
                        <a:t>exactly one</a:t>
                      </a:r>
                    </a:p>
                  </a:txBody>
                  <a:tcPr anchor="ctr">
                    <a:solidFill>
                      <a:srgbClr val="FFFF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566928" y="4773168"/>
            <a:ext cx="11057839" cy="1581912"/>
          </a:xfrm>
          <a:prstGeom prst="rect">
            <a:avLst/>
          </a:prstGeom>
          <a:noFill/>
        </p:spPr>
        <p:txBody>
          <a:bodyPr wrap="square" lIns="0" tIns="0" rIns="0" bIns="0" anchor="ctr">
            <a:spAutoFit/>
          </a:bodyPr>
          <a:lstStyle/>
          <a:p>
            <a:pPr algn="l">
              <a:spcAft>
                <a:spcPts val="900"/>
              </a:spcAft>
            </a:pPr>
            <a:r>
              <a:rPr sz="1300" b="0">
                <a:solidFill>
                  <a:srgbClr val="1C2238"/>
                </a:solidFill>
                <a:latin typeface="Calibri"/>
              </a:rPr>
              <a:t>The DRC was run in both connectivity modes. The design no longer depends on how the reviewer runs the check.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 y="2468880"/>
            <a:ext cx="9923983" cy="731520"/>
          </a:xfrm>
          <a:prstGeom prst="rect">
            <a:avLst/>
          </a:prstGeom>
          <a:noFill/>
        </p:spPr>
        <p:txBody>
          <a:bodyPr wrap="square" lIns="0" tIns="0" rIns="0" bIns="0">
            <a:spAutoFit/>
          </a:bodyPr>
          <a:lstStyle/>
          <a:p>
            <a:pPr algn="l">
              <a:spcAft>
                <a:spcPts val="600"/>
              </a:spcAft>
            </a:pPr>
            <a:r>
              <a:rPr sz="3000" b="1">
                <a:solidFill>
                  <a:srgbClr val="E08A1E"/>
                </a:solidFill>
                <a:latin typeface="Consolas"/>
              </a:rPr>
              <a:t>05</a:t>
            </a:r>
          </a:p>
        </p:txBody>
      </p:sp>
      <p:sp>
        <p:nvSpPr>
          <p:cNvPr id="4" name="TextBox 3"/>
          <p:cNvSpPr txBox="1"/>
          <p:nvPr/>
        </p:nvSpPr>
        <p:spPr>
          <a:xfrm>
            <a:off x="1133856" y="3063240"/>
            <a:ext cx="9923983" cy="1280160"/>
          </a:xfrm>
          <a:prstGeom prst="rect">
            <a:avLst/>
          </a:prstGeom>
          <a:noFill/>
        </p:spPr>
        <p:txBody>
          <a:bodyPr wrap="square" lIns="0" tIns="0" rIns="0" bIns="0">
            <a:spAutoFit/>
          </a:bodyPr>
          <a:lstStyle/>
          <a:p>
            <a:pPr algn="l">
              <a:spcAft>
                <a:spcPts val="800"/>
              </a:spcAft>
            </a:pPr>
            <a:r>
              <a:rPr sz="3400" b="1">
                <a:solidFill>
                  <a:srgbClr val="FFFFFF"/>
                </a:solidFill>
                <a:latin typeface="Consolas"/>
              </a:rPr>
              <a:t>CONCLUSIONS</a:t>
            </a:r>
          </a:p>
        </p:txBody>
      </p:sp>
      <p:sp>
        <p:nvSpPr>
          <p:cNvPr id="5" name="TextBox 4"/>
          <p:cNvSpPr txBox="1"/>
          <p:nvPr/>
        </p:nvSpPr>
        <p:spPr>
          <a:xfrm>
            <a:off x="1133856" y="4206240"/>
            <a:ext cx="9357055" cy="1280160"/>
          </a:xfrm>
          <a:prstGeom prst="rect">
            <a:avLst/>
          </a:prstGeom>
          <a:noFill/>
        </p:spPr>
        <p:txBody>
          <a:bodyPr wrap="square" lIns="0" tIns="0" rIns="0" bIns="0">
            <a:spAutoFit/>
          </a:bodyPr>
          <a:lstStyle/>
          <a:p>
            <a:pPr algn="l">
              <a:spcAft>
                <a:spcPts val="400"/>
              </a:spcAft>
            </a:pPr>
            <a:r>
              <a:rPr sz="1500" b="0">
                <a:solidFill>
                  <a:srgbClr val="FFFFFF"/>
                </a:solidFill>
                <a:latin typeface="Calibri"/>
              </a:rPr>
              <a:t>Expected against measured, including what did not close.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EXPECTED AGAINST MEASURED</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Three things simulation found and the design corrected.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1 · XP and XN were expected to match their names. They did not.</a:t>
            </a:r>
          </a:p>
          <a:p>
            <a:pPr algn="l">
              <a:spcAft>
                <a:spcPts val="900"/>
              </a:spcAft>
            </a:pPr>
            <a:r>
              <a:rPr sz="1300" b="0">
                <a:solidFill>
                  <a:srgbClr val="1C2238"/>
                </a:solidFill>
                <a:latin typeface="Calibri"/>
              </a:rPr>
              <a:t>The bench uncovered that they were swapped with respect to the label. Corrected in the schematic.</a:t>
            </a:r>
          </a:p>
          <a:p>
            <a:pPr algn="l">
              <a:spcAft>
                <a:spcPts val="1100"/>
              </a:spcAft>
            </a:pPr>
            <a:r>
              <a:rPr sz="1300" b="1">
                <a:solidFill>
                  <a:srgbClr val="16256B"/>
                </a:solidFill>
                <a:latin typeface="Calibri"/>
              </a:rPr>
              <a:t>2 · The decision threshold was expected to be centred. It was misplaced.</a:t>
            </a:r>
          </a:p>
          <a:p>
            <a:pPr algn="l">
              <a:spcAft>
                <a:spcPts val="900"/>
              </a:spcAft>
            </a:pPr>
            <a:r>
              <a:rPr sz="1300" b="0">
                <a:solidFill>
                  <a:srgbClr val="1C2238"/>
                </a:solidFill>
                <a:latin typeface="Calibri"/>
              </a:rPr>
              <a:t>The trip sweep measured it and it was readjusted.</a:t>
            </a:r>
          </a:p>
          <a:p>
            <a:pPr algn="l">
              <a:spcAft>
                <a:spcPts val="1100"/>
              </a:spcAft>
            </a:pPr>
            <a:r>
              <a:rPr sz="1300" b="1">
                <a:solidFill>
                  <a:srgbClr val="16256B"/>
                </a:solidFill>
                <a:latin typeface="Calibri"/>
              </a:rPr>
              <a:t>3 · The three axes were expected to compete on equal terms. Z could never win.</a:t>
            </a:r>
          </a:p>
          <a:p>
            <a:pPr algn="l">
              <a:spcAft>
                <a:spcPts val="900"/>
              </a:spcAft>
            </a:pPr>
            <a:r>
              <a:rPr sz="1300" b="0">
                <a:solidFill>
                  <a:srgbClr val="1C2238"/>
                </a:solidFill>
                <a:latin typeface="Calibri"/>
              </a:rPr>
              <a:t>And its own WEIGHT did not fix it: what fixed it was changing the order within each triple.</a:t>
            </a:r>
          </a:p>
          <a:p>
            <a:pPr algn="l">
              <a:spcAft>
                <a:spcPts val="1100"/>
              </a:spcAft>
            </a:pPr>
            <a:r>
              <a:rPr sz="1300" b="1">
                <a:solidFill>
                  <a:srgbClr val="16256B"/>
                </a:solidFill>
                <a:latin typeface="Calibri"/>
              </a:rPr>
              <a:t>All three were found by simulating, not by reviewing. That is the argument for the benches.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WHAT DID NOT CLOSE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Said as plainly as what went right.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11057839" cy="4782312"/>
          </a:xfrm>
          <a:prstGeom prst="rect">
            <a:avLst/>
          </a:prstGeom>
          <a:noFill/>
        </p:spPr>
        <p:txBody>
          <a:bodyPr wrap="square" lIns="0" tIns="0" rIns="0" bIns="0" anchor="ctr">
            <a:spAutoFit/>
          </a:bodyPr>
          <a:lstStyle/>
          <a:p>
            <a:pPr algn="l">
              <a:spcAft>
                <a:spcPts val="1100"/>
              </a:spcAft>
            </a:pPr>
            <a:r>
              <a:rPr sz="1300" b="1">
                <a:solidFill>
                  <a:srgbClr val="16256B"/>
                </a:solidFill>
                <a:latin typeface="Calibri"/>
              </a:rPr>
              <a:t>The KLayout LVS on the top does not finish the extraction.</a:t>
            </a:r>
          </a:p>
          <a:p>
            <a:pPr algn="l">
              <a:spcAft>
                <a:spcPts val="900"/>
              </a:spcAft>
            </a:pPr>
            <a:r>
              <a:rPr sz="1300" b="0">
                <a:solidFill>
                  <a:srgbClr val="1C2238"/>
                </a:solidFill>
                <a:latin typeface="Calibri"/>
              </a:rPr>
              <a:t>Three attempts on a 31 GB machine: 2h33m on the filled GDS, then 1h04m and 30m52 on the unfilled one. None reached the compare stage.</a:t>
            </a:r>
          </a:p>
          <a:p>
            <a:pPr algn="l">
              <a:spcAft>
                <a:spcPts val="1100"/>
              </a:spcAft>
            </a:pPr>
            <a:r>
              <a:rPr sz="1300" b="1">
                <a:solidFill>
                  <a:srgbClr val="16256B"/>
                </a:solidFill>
                <a:latin typeface="Calibri"/>
              </a:rPr>
              <a:t>Not a memory problem: each process sat at ~540 MB with 31 GB free.</a:t>
            </a:r>
          </a:p>
          <a:p>
            <a:pPr algn="l">
              <a:spcAft>
                <a:spcPts val="900"/>
              </a:spcAft>
            </a:pPr>
            <a:r>
              <a:rPr sz="1300" b="0">
                <a:solidFill>
                  <a:srgbClr val="1C2238"/>
                </a:solidFill>
                <a:latin typeface="Calibri"/>
              </a:rPr>
              <a:t>It is net count, not machine size.</a:t>
            </a:r>
          </a:p>
          <a:p>
            <a:pPr algn="l">
              <a:spcAft>
                <a:spcPts val="1100"/>
              </a:spcAft>
            </a:pPr>
            <a:r>
              <a:rPr sz="1300" b="1">
                <a:solidFill>
                  <a:srgbClr val="16256B"/>
                </a:solidFill>
                <a:latin typeface="Calibri"/>
              </a:rPr>
              <a:t>What does match: netgen says Circuits match uniquely on the same 1442 devices, class by class.</a:t>
            </a:r>
          </a:p>
          <a:p>
            <a:pPr algn="l">
              <a:spcAft>
                <a:spcPts val="900"/>
              </a:spcAft>
            </a:pPr>
            <a:r>
              <a:rPr sz="1300" b="0">
                <a:solidFill>
                  <a:srgbClr val="1C2238"/>
                </a:solidFill>
                <a:latin typeface="Calibri"/>
              </a:rPr>
              <a:t>It matters for the submission because the chipathon's external LVS runs the KLayout deck, not netgen.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7839" cy="640080"/>
          </a:xfrm>
          <a:prstGeom prst="rect">
            <a:avLst/>
          </a:prstGeom>
          <a:noFill/>
        </p:spPr>
        <p:txBody>
          <a:bodyPr wrap="square" lIns="0" tIns="0" rIns="0" bIns="0">
            <a:spAutoFit/>
          </a:bodyPr>
          <a:lstStyle/>
          <a:p>
            <a:pPr algn="l">
              <a:spcAft>
                <a:spcPts val="200"/>
              </a:spcAft>
            </a:pPr>
            <a:r>
              <a:rPr sz="2500" b="1">
                <a:solidFill>
                  <a:srgbClr val="16256B"/>
                </a:solidFill>
                <a:latin typeface="Consolas"/>
              </a:rPr>
              <a:t>A MEASURED IMPROVEMENT, NOT IN THE DIE</a:t>
            </a:r>
          </a:p>
        </p:txBody>
      </p:sp>
      <p:sp>
        <p:nvSpPr>
          <p:cNvPr id="3" name="TextBox 2"/>
          <p:cNvSpPr txBox="1"/>
          <p:nvPr/>
        </p:nvSpPr>
        <p:spPr>
          <a:xfrm>
            <a:off x="566928" y="932688"/>
            <a:ext cx="11057839" cy="384048"/>
          </a:xfrm>
          <a:prstGeom prst="rect">
            <a:avLst/>
          </a:prstGeom>
          <a:noFill/>
        </p:spPr>
        <p:txBody>
          <a:bodyPr wrap="square" lIns="0" tIns="0" rIns="0" bIns="0">
            <a:spAutoFit/>
          </a:bodyPr>
          <a:lstStyle/>
          <a:p>
            <a:pPr algn="l">
              <a:spcAft>
                <a:spcPts val="0"/>
              </a:spcAft>
            </a:pPr>
            <a:r>
              <a:rPr sz="1300" b="0">
                <a:solidFill>
                  <a:srgbClr val="6B7492"/>
                </a:solidFill>
                <a:latin typeface="Calibri"/>
              </a:rPr>
              <a:t>Reordering the sensor ports: 76.2 % to 90.7 %, without touching a single cell.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hain_3_v3.png"/>
          <p:cNvPicPr>
            <a:picLocks noChangeAspect="1"/>
          </p:cNvPicPr>
          <p:nvPr/>
        </p:nvPicPr>
        <p:blipFill>
          <a:blip r:embed="rId2"/>
          <a:stretch>
            <a:fillRect/>
          </a:stretch>
        </p:blipFill>
        <p:spPr>
          <a:xfrm>
            <a:off x="1576121" y="1572768"/>
            <a:ext cx="9039453" cy="3291840"/>
          </a:xfrm>
          <a:prstGeom prst="rect">
            <a:avLst/>
          </a:prstGeom>
        </p:spPr>
      </p:pic>
      <p:sp>
        <p:nvSpPr>
          <p:cNvPr id="6" name="TextBox 5"/>
          <p:cNvSpPr txBox="1"/>
          <p:nvPr/>
        </p:nvSpPr>
        <p:spPr>
          <a:xfrm>
            <a:off x="566928" y="4937760"/>
            <a:ext cx="11057839" cy="365760"/>
          </a:xfrm>
          <a:prstGeom prst="rect">
            <a:avLst/>
          </a:prstGeom>
          <a:noFill/>
        </p:spPr>
        <p:txBody>
          <a:bodyPr wrap="square" lIns="0" tIns="0" rIns="0" bIns="0">
            <a:spAutoFit/>
          </a:bodyPr>
          <a:lstStyle/>
          <a:p>
            <a:pPr algn="ctr">
              <a:spcAft>
                <a:spcPts val="0"/>
              </a:spcAft>
            </a:pPr>
            <a:r>
              <a:rPr sz="1100" b="0">
                <a:solidFill>
                  <a:srgbClr val="6B7492"/>
                </a:solidFill>
                <a:latin typeface="Calibri"/>
              </a:rPr>
              <a:t>XSCHEM_v3 — same sphere sweep, both wirings side by side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8103A"/>
              </a:gs>
              <a:gs pos="100000">
                <a:srgbClr val="16256B"/>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33856" y="2468880"/>
            <a:ext cx="9923983" cy="731520"/>
          </a:xfrm>
          <a:prstGeom prst="rect">
            <a:avLst/>
          </a:prstGeom>
          <a:noFill/>
        </p:spPr>
        <p:txBody>
          <a:bodyPr wrap="square" lIns="0" tIns="0" rIns="0" bIns="0">
            <a:spAutoFit/>
          </a:bodyPr>
          <a:lstStyle/>
          <a:p>
            <a:pPr algn="l">
              <a:spcAft>
                <a:spcPts val="600"/>
              </a:spcAft>
            </a:pPr>
            <a:r>
              <a:rPr sz="3000" b="1">
                <a:solidFill>
                  <a:srgbClr val="E08A1E"/>
                </a:solidFill>
                <a:latin typeface="Consolas"/>
              </a:rPr>
              <a:t>06</a:t>
            </a:r>
          </a:p>
        </p:txBody>
      </p:sp>
      <p:sp>
        <p:nvSpPr>
          <p:cNvPr id="4" name="TextBox 3"/>
          <p:cNvSpPr txBox="1"/>
          <p:nvPr/>
        </p:nvSpPr>
        <p:spPr>
          <a:xfrm>
            <a:off x="1133856" y="3063240"/>
            <a:ext cx="9923983" cy="1280160"/>
          </a:xfrm>
          <a:prstGeom prst="rect">
            <a:avLst/>
          </a:prstGeom>
          <a:noFill/>
        </p:spPr>
        <p:txBody>
          <a:bodyPr wrap="square" lIns="0" tIns="0" rIns="0" bIns="0">
            <a:spAutoFit/>
          </a:bodyPr>
          <a:lstStyle/>
          <a:p>
            <a:pPr algn="l">
              <a:spcAft>
                <a:spcPts val="800"/>
              </a:spcAft>
            </a:pPr>
            <a:r>
              <a:rPr sz="3400" b="1">
                <a:solidFill>
                  <a:srgbClr val="FFFFFF"/>
                </a:solidFill>
                <a:latin typeface="Consolas"/>
              </a:rPr>
              <a:t>STATUS</a:t>
            </a:r>
          </a:p>
        </p:txBody>
      </p:sp>
      <p:sp>
        <p:nvSpPr>
          <p:cNvPr id="5" name="TextBox 4"/>
          <p:cNvSpPr txBox="1"/>
          <p:nvPr/>
        </p:nvSpPr>
        <p:spPr>
          <a:xfrm>
            <a:off x="1133856" y="4206240"/>
            <a:ext cx="9357055" cy="1280160"/>
          </a:xfrm>
          <a:prstGeom prst="rect">
            <a:avLst/>
          </a:prstGeom>
          <a:noFill/>
        </p:spPr>
        <p:txBody>
          <a:bodyPr wrap="square" lIns="0" tIns="0" rIns="0" bIns="0">
            <a:spAutoFit/>
          </a:bodyPr>
          <a:lstStyle/>
          <a:p>
            <a:pPr algn="l">
              <a:spcAft>
                <a:spcPts val="400"/>
              </a:spcAft>
            </a:pPr>
            <a:r>
              <a:rPr sz="1500" b="0">
                <a:solidFill>
                  <a:srgbClr val="FFFFFF"/>
                </a:solidFill>
                <a:latin typeface="Calibri"/>
              </a:rPr>
              <a:t>The chip is finished and verified. DRC clean in both modes, netgen LVS matching uniquely, 17 of 17 pins conducting, and the supply providing 48.00 µm of section against the 22.10 µm electromigration demands at 125 °C. Deliverable: B26_A_filled3.gds, sha 41bef27a.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4626</Words>
  <Application>Microsoft Office PowerPoint</Application>
  <PresentationFormat>Widescreen</PresentationFormat>
  <Paragraphs>503</Paragraphs>
  <Slides>72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Juan Diego Sanchez</dc:creator>
  <cp:keywords/>
  <dc:description>generated using python-pptx</dc:description>
  <cp:lastModifiedBy>Juan Diego Sanchez</cp:lastModifiedBy>
  <cp:revision>5</cp:revision>
  <dcterms:created xsi:type="dcterms:W3CDTF">2013-01-27T09:14:16Z</dcterms:created>
  <dcterms:modified xsi:type="dcterms:W3CDTF">2026-09-07T02:21:22Z</dcterms:modified>
  <cp:category/>
</cp:coreProperties>
</file>