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2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03A"/>
              </a:gs>
              <a:gs pos="100000">
                <a:srgbClr val="16256B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965960"/>
            <a:ext cx="1105783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4600" b="1">
                <a:solidFill>
                  <a:srgbClr val="FFFFFF"/>
                </a:solidFill>
                <a:latin typeface="Consolas"/>
              </a:rPr>
              <a:t>T E A M   Z O T N E T I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200400"/>
            <a:ext cx="110578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0">
                <a:solidFill>
                  <a:srgbClr val="FFFFFF"/>
                </a:solidFill>
                <a:latin typeface="Calibri"/>
              </a:rPr>
              <a:t>B26 · Navegador de gradiente magnético en GF180MCU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0"/>
            <a:ext cx="1105783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SSCS Chipathon 2026 · UCI Samueli School of Engineering</a:t>
            </a:r>
          </a:p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Líder: Juan Sánchez · An Bui · Enzo Li · Akam Khinda · Aysha Hussaini</a:t>
            </a:r>
          </a:p>
          <a:p>
            <a:pPr algn="ctr"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Reporte de diseño, simulación y verificación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03A"/>
              </a:gs>
              <a:gs pos="100000">
                <a:srgbClr val="16256B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" y="2468880"/>
            <a:ext cx="992398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08A1E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3063240"/>
            <a:ext cx="9923983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Consolas"/>
              </a:rPr>
              <a:t>QUÉ HACE EL CHIP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4206240"/>
            <a:ext cx="935705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Cuatro sensores leen el módulo del campo. El chip deduce hacia dónde crece.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EL PRINCIPIO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Los sensores no miden un vector: miden módulo. Esa distinción es el diseño entero.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5368899" cy="4782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400" b="1">
                <a:solidFill>
                  <a:srgbClr val="16256B"/>
                </a:solidFill>
                <a:latin typeface="Calibri"/>
              </a:rPr>
              <a:t>Cuatro puentes magnetorresistivos leen |B| en los vértices de un tetraedro.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C2238"/>
                </a:solidFill>
                <a:latin typeface="Calibri"/>
              </a:rPr>
              <a:t>Cada puente da una tensión proporcional a dR/R, es decir al módulo del campo en su vértice, no a su dirección.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16256B"/>
                </a:solidFill>
                <a:latin typeface="Calibri"/>
              </a:rPr>
              <a:t>Comparando los cuatro módulos se reconstruye grad|B|.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C2238"/>
                </a:solidFill>
                <a:latin typeface="Calibri"/>
              </a:rPr>
              <a:t>El gradiente del módulo apunta hacia donde el campo crece, y el campo crece hacia la fuente. Por eso el chip puede señalar un imán sin medir nunca un vector.</a:t>
            </a:r>
          </a:p>
          <a:p>
            <a:pPr algn="l">
              <a:spcAft>
                <a:spcPts val="1100"/>
              </a:spcAft>
            </a:pPr>
            <a:r>
              <a:rPr sz="1400" b="1">
                <a:solidFill>
                  <a:srgbClr val="16256B"/>
                </a:solidFill>
                <a:latin typeface="Calibri"/>
              </a:rPr>
              <a:t>La salida es un signo por eje: XP/XN, YP/YN, ZP/ZN.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1C2238"/>
                </a:solidFill>
                <a:latin typeface="Calibri"/>
              </a:rPr>
              <a:t>Seis salidas digitales. No dice cuánto, dice hacia dónde.</a:t>
            </a:r>
          </a:p>
        </p:txBody>
      </p:sp>
      <p:pic>
        <p:nvPicPr>
          <p:cNvPr id="6" name="Picture 5" descr="diag_sensor_cu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650" y="1572768"/>
            <a:ext cx="3711332" cy="46451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55867" y="6291072"/>
            <a:ext cx="536889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four sensors at the vertices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Del sensor al actuador, y qué parte de eso es este chip.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_c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465" y="1572768"/>
            <a:ext cx="5994764" cy="37307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37667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block diagram of the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440680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Cuatro sensores de gradiente, un calculador de pesos, un puente en 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ESPECIFICACIONES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Lo que entra, lo que sale y lo que cuesta.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1042416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5212080"/>
              </a:tblGrid>
              <a:tr h="32918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Parámetro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Tecnología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GF180MCU-D, dispositivos de 6 V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Alimentación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5.0 V (VDD / VSS), medida a 5.0 V en todos los bancos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Consumo total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74.02 mW esquemático · 74.03 mW layout (14.81 mA)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Área entregada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1110 × 1110 µm = 1.232 mm² (área de usuario B26_A)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Área del navegador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460.9 × 387.0 µm = 0.178 mm² (GRADIENT_NAV2)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Entradas analógicas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8 — S1P/S1N … S4P/S4N, cuatro puentes magnetorresistivos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Puntos de prueba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3 — X, Y, Z, contadores de votos entre 1.814 y 3.035 V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Salidas digitales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6 — XP/XN, YP/YN, ZP/ZN, de raíl a raíl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Pads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11 analógicos + 6 digitales + 2 de alimentación = 19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Tipo de pad analógico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analog, con ESD secundaria propia (ESD_CDM)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Tipo de pad digital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bidirectional, permanentemente en salida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ESD secundaria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ESD_CDM, 63.2 × 27.9 µm, 8 diodos + 87.5 Ω de poly, 11 instancias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016752"/>
            <a:ext cx="110578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100" b="0">
                <a:solidFill>
                  <a:srgbClr val="1C2238"/>
                </a:solidFill>
                <a:latin typeface="Calibri"/>
              </a:rPr>
              <a:t>Los 6 V son la clase de dispositivo, no el punto de trabajo: todo se simula y se mide a 5.0 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ESPECIFICACIONES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The same range in teslas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eld_real_1_ran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08018"/>
            <a:ext cx="11057839" cy="30384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03A"/>
              </a:gs>
              <a:gs pos="100000">
                <a:srgbClr val="16256B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" y="2468880"/>
            <a:ext cx="992398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08A1E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3063240"/>
            <a:ext cx="9923983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Consolas"/>
              </a:rPr>
              <a:t>LOS TRES BLOQUES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4206240"/>
            <a:ext cx="935705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GRADIENT_NAV2 por dentro: cada bloque con su diagrama, su esquemático, su layout y sus simulaciones.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GRADIENT_NAV2 POR DENTRO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4 × GRADIENT2  →  3 × WEIGHT  →  3 × COMP_OUT.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_GRADIENT_NA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873" y="1572768"/>
            <a:ext cx="8365948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internal block diagram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GRADIENT_NAV2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4 × GRADIENT2  →  3 × WEIGHT  →  3 × COMP_OUT.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h_GRADIENT_NA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42027"/>
            <a:ext cx="5391759" cy="28780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29321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schematic</a:t>
            </a:r>
          </a:p>
        </p:txBody>
      </p:sp>
      <p:pic>
        <p:nvPicPr>
          <p:cNvPr id="7" name="Picture 6" descr="layout_GRADIENT_NA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682" y="1572768"/>
            <a:ext cx="5260409" cy="44165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606247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layout — 460.90 × 386.99 µm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BLOQUE 1 · SENSADO DE GRADIENTE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GRADIENT2 — tres amplificadores, tres comparadores y un decodificador.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_GRADIEN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182" y="1572768"/>
            <a:ext cx="576533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438912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internal block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453128"/>
            <a:ext cx="11057839" cy="1901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250" b="1">
                <a:solidFill>
                  <a:srgbClr val="16256B"/>
                </a:solidFill>
                <a:latin typeface="Calibri"/>
              </a:rPr>
              <a:t>Un bloque de sensado lee tres puentes y decide un eje.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1C2238"/>
                </a:solidFill>
                <a:latin typeface="Calibri"/>
              </a:rPr>
              <a:t>Los tres OPAM_LIN amplifican las tres diferencias de puente. Los tres COMP las comparan POR PARES — X con Y, X con Z, Y con Z — y el DECODER convierte ese orden en un eje ganador.</a:t>
            </a:r>
          </a:p>
          <a:p>
            <a:pPr algn="l">
              <a:spcAft>
                <a:spcPts val="1100"/>
              </a:spcAft>
            </a:pPr>
            <a:r>
              <a:rPr sz="1250" b="1">
                <a:solidFill>
                  <a:srgbClr val="16256B"/>
                </a:solidFill>
                <a:latin typeface="Calibri"/>
              </a:rPr>
              <a:t>Comparar por pares, y no contra un umbral, es la decisión de diseño.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1C2238"/>
                </a:solidFill>
                <a:latin typeface="Calibri"/>
              </a:rPr>
              <a:t>El decodificador no necesita saber cuánto vale cada eje, solo cuál es mayor. Eso hace la decisión inmune a la ganancia absoluta y al offset común de los tres canales.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GRADIENT2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GRADIENT2 — tres amplificadores, tres comparadores y un decodificador.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h_GRADIEN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519" y="1572768"/>
            <a:ext cx="8616657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XSCHEM/COMBINATION/GRADIENT2.sch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OPAM_LIN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Amplificador lineal de 40 dB. El primer bloque de la cadena.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5368899" cy="4782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Amplifica la diferencia de un puente, y nada más.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Entra el par SkP/SkN de un sensor y sale una sola tensión proporcional a dR/R. Es el único bloque de la cadena que trabaja en pequeña señal, así que su linealidad fija la del sistema.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Por qué 40 dB.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La ganancia se eligió por medida, no por gusto: es la que mantiene la celda dentro de su rango lineal para el margen de entrada que dan los puentes. Más ganancia satura antes y pierde los cruces, que es lo único que la decisión necesita.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El modo común no se mueve con la señal.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Que el puente entregue Vcm = VEXC/2 constante es lo que permite leer estas curvas sin confundir señal con sensibilidad en modo común.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55867" y="1572768"/>
          <a:ext cx="5368899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4449"/>
                <a:gridCol w="2684450"/>
              </a:tblGrid>
              <a:tr h="32918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Parámetro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Función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amplifica la diferencia de un puente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Alimentación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5.0 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Consumo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2.55 mW esquemático / 2.45 mW layout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Ganancia DC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40.1 dB (103 V/V)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Ancho de banda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338 kHz a −3 dB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Margen de fase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74° (ganancia unidad a 36.9 MHz)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Slew rate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no lo limita: un escalón de 2 V sube a 102 V/µs (esq.) y 562 V/µs (layout), y el techo que impone el ancho de banda por sí solo son 456 V/µs — manda la banda, no la corriente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Linealidad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INL 0.10 % sobre 1–4 V de salida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Ruido a la entrada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1.95 µV/√Hz a 1 kHz · 222 µVrms en 338 kHz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Área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95.88 × 48.05 µm = 0.0046 mm²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Instancias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12 (3 por cada GRADIENT2)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OPAM_LIN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Amplificador lineal de 40 dB. El primer bloque de la cadena.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h_OPAM_LIN_fl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42027"/>
            <a:ext cx="5391759" cy="28780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29321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schematic</a:t>
            </a:r>
          </a:p>
        </p:txBody>
      </p:sp>
      <p:pic>
        <p:nvPicPr>
          <p:cNvPr id="7" name="Picture 6" descr="layout_OPAM_LIN_fl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429734"/>
            <a:ext cx="5391759" cy="27026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5205505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layout — 95.88 × 48.05 µm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OPAM_LIN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input against output, and the slope that is the gain  ·  supply power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lk_OPAM_LIN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7456"/>
            <a:ext cx="5391759" cy="44071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057784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input against output, and the slope that is the gain</a:t>
            </a:r>
          </a:p>
        </p:txBody>
      </p:sp>
      <p:pic>
        <p:nvPicPr>
          <p:cNvPr id="7" name="Picture 6" descr="blk_OPAM_LIN_po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570930"/>
            <a:ext cx="5391759" cy="24202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5064309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supply power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OPAM_LIN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frequency response  ·  rejection and noise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lk_OPAM_LIN_b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8835"/>
            <a:ext cx="5391759" cy="44044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056405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frequency response</a:t>
            </a:r>
          </a:p>
        </p:txBody>
      </p:sp>
      <p:pic>
        <p:nvPicPr>
          <p:cNvPr id="7" name="Picture 6" descr="blk_OPAM_LIN_rej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643" y="1572768"/>
            <a:ext cx="4716487" cy="44165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606247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rejection and noise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OPAM_LIN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linearity error  ·  large-signal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lk_OPAM_LIN_line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570311"/>
            <a:ext cx="5391759" cy="24214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064928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linearity error</a:t>
            </a:r>
          </a:p>
        </p:txBody>
      </p:sp>
      <p:pic>
        <p:nvPicPr>
          <p:cNvPr id="7" name="Picture 6" descr="blk_OPAM_LIN_sl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786297"/>
            <a:ext cx="5391758" cy="19894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4848943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large-signal step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OPAM_LIN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device-mismatch Monte Carlo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lk_OPAM_LIN_mism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456" y="1572768"/>
            <a:ext cx="8266782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XSCHEM/TEST — schematic vs layout v2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OPAM_LIN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Por dentro: el generador de polarización y el par diferencial.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h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42027"/>
            <a:ext cx="5391759" cy="28780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29321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bias generator</a:t>
            </a:r>
          </a:p>
        </p:txBody>
      </p:sp>
      <p:pic>
        <p:nvPicPr>
          <p:cNvPr id="7" name="Picture 6" descr="sch_sub_di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342027"/>
            <a:ext cx="5391759" cy="28780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529321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differential pair (sub_diff_2_LIN)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COMP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Comparador. Convierte la comparación entre dos ejes en un nivel.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5368899" cy="4782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No compara contra un umbral fijo: compara dos ejes entre sí.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Por eso hay tres comparadores para tres ejes — X contra Y, X contra Z, Y contra Z. Al decodificador le hace falta el ORDEN de los tres, no su valor.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Aquí vive el umbral que hubo que corregir.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El segundo de los tres hallazgos del final salió de este bloque: el punto de disparo no estaba donde se creía, y el barrido fino lo midió.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55867" y="1572768"/>
          <a:ext cx="5368899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4449"/>
                <a:gridCol w="2684450"/>
              </a:tblGrid>
              <a:tr h="32918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Parámetro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Función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compara dos ejes entre sí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Alimentación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5.0 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Consumo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3.08 mW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Umbral de entrada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+7 µV esquemático / +62 µV layout (cruce por 2.5 V)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Entrada para salida alta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+50 µV esquemático / +104 µV layout (&gt;4.5 V)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Retardo de decisión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399 ns medio, 456 ns peor caso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Slew rate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6.3 V/µs de subida y de bajada (6.2 en layout); es una rampa recta durante los 601 ns del flanco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Ruido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lo fija el amplificador que lleva delante, no esta celda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Área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99.60 × 31.46 µm = 0.0031 mm²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Instancias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12 (3 por cada GRADIENT2)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COMP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Comparador. Convierte la comparación entre dos ejes en un nivel.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h_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42027"/>
            <a:ext cx="5391759" cy="28780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29321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schematic</a:t>
            </a:r>
          </a:p>
        </p:txBody>
      </p:sp>
      <p:pic>
        <p:nvPicPr>
          <p:cNvPr id="7" name="Picture 6" descr="layout_CO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882417"/>
            <a:ext cx="5391759" cy="17972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475282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layout — 99.60 × 31.46 µm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COMP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input sweep against output, and what it costs  ·  slew 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lk_COMP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770" y="1572768"/>
            <a:ext cx="3884074" cy="4416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06247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input sweep against output, and what it costs</a:t>
            </a:r>
          </a:p>
        </p:txBody>
      </p:sp>
      <p:pic>
        <p:nvPicPr>
          <p:cNvPr id="7" name="Picture 6" descr="blk_COMP_sl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495441"/>
            <a:ext cx="5391759" cy="25712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5139799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slew rate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COMP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step response  ·  frequency response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lk_COMP_st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43973"/>
            <a:ext cx="5391759" cy="40741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891266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step response</a:t>
            </a:r>
          </a:p>
        </p:txBody>
      </p:sp>
      <p:pic>
        <p:nvPicPr>
          <p:cNvPr id="7" name="Picture 6" descr="blk_COMP_b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578835"/>
            <a:ext cx="5391759" cy="44044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6056405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frequency response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COMP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Por dentro: el MISMO generador de polarización y su propio par diferencial.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h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42027"/>
            <a:ext cx="5391759" cy="28780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29321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bias generator (the same cell as OPAM_LIN's)</a:t>
            </a:r>
          </a:p>
        </p:txBody>
      </p:sp>
      <p:pic>
        <p:nvPicPr>
          <p:cNvPr id="7" name="Picture 6" descr="sch_sub_diff_co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342027"/>
            <a:ext cx="5391759" cy="28780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529321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differential pair (sub_diff)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DECODER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Decide qué eje gana a partir de las tres comparaciones.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5368899" cy="4782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Entra XY, XZ, YZ. Sale X, Y o Z.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Lógica pura: las tres comparaciones por pares determinan un orden, y el orden determina el ganador. Es el bloque más pequeño y el que menos consume de toda la cadena, por tres órdenes de magnitud.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Aquí apareció el problema del eje Z.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Z no podía ganar nunca. Lo que lo arregló no fue subirle el peso sino cambiar el orden dentro de cada trío.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55867" y="1572768"/>
          <a:ext cx="5368899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4449"/>
                <a:gridCol w="2684450"/>
              </a:tblGrid>
              <a:tr h="32918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Parámetro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Función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de tres comparaciones a un eje ganador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Alimentación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5.0 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Consumo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1.4 µW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Área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31.76 × 13.82 µm = 0.0004 mm²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Instancias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4 (una por GRADIENT2)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DECODER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Decide qué eje gana a partir de las tres comparaciones.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h_DECO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42027"/>
            <a:ext cx="5391759" cy="28780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29321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schematic</a:t>
            </a:r>
          </a:p>
        </p:txBody>
      </p:sp>
      <p:pic>
        <p:nvPicPr>
          <p:cNvPr id="7" name="Picture 6" descr="layout_DECO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608336"/>
            <a:ext cx="5391759" cy="23454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5026903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layout — 31.76 × 13.82 µm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DECODER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logic  ·  supply power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lk_DECODER_log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59931"/>
            <a:ext cx="5391759" cy="32422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475309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logic</a:t>
            </a:r>
          </a:p>
        </p:txBody>
      </p:sp>
      <p:pic>
        <p:nvPicPr>
          <p:cNvPr id="7" name="Picture 6" descr="blk_DECODER_po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570311"/>
            <a:ext cx="5391759" cy="24214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5064928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supply power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BANCO DEL GRADIENTE ·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run_gradient.sh — tres puentes, y solo el amplificador lineal.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1">
                <a:solidFill>
                  <a:srgbClr val="16256B"/>
                </a:solidFill>
                <a:latin typeface="Calibri"/>
              </a:rPr>
              <a:t>Dos cadenas colgadas de los MISMOS seis nodos de sensor: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238"/>
                </a:solidFill>
                <a:latin typeface="Calibri"/>
              </a:rPr>
              <a:t>G2 — el esquemático GRADIENT2, con el OPAM_LIN de 40 dB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238"/>
                </a:solidFill>
                <a:latin typeface="Calibri"/>
              </a:rPr>
              <a:t>G4 — el mismo circuito reconstruido desde el layout v2, con el OPAM_LIN_flat y extraído con parásitos RC</a:t>
            </a:r>
          </a:p>
          <a:p>
            <a:pPr algn="l">
              <a:spcAft>
                <a:spcPts val="1100"/>
              </a:spcAft>
            </a:pPr>
            <a:r>
              <a:rPr sz="1700" b="1">
                <a:solidFill>
                  <a:srgbClr val="16256B"/>
                </a:solidFill>
                <a:latin typeface="Calibri"/>
              </a:rPr>
              <a:t>Es el mismo amplificador dibujado de dos maneras.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238"/>
                </a:solidFill>
                <a:latin typeface="Calibri"/>
              </a:rPr>
              <a:t>Así toda comparación de esta sección es layout contra esquemático, nunca un amplificador contra otro.</a:t>
            </a:r>
          </a:p>
          <a:p>
            <a:pPr algn="l">
              <a:spcAft>
                <a:spcPts val="1100"/>
              </a:spcAft>
            </a:pPr>
            <a:r>
              <a:rPr sz="1700" b="1">
                <a:solidFill>
                  <a:srgbClr val="16256B"/>
                </a:solidFill>
                <a:latin typeface="Calibri"/>
              </a:rPr>
              <a:t>Qué se mide: los tres campos van a 120°, suman cero y el vector solo cambia de dirección.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238"/>
                </a:solidFill>
                <a:latin typeface="Calibri"/>
              </a:rPr>
              <a:t>Barriendo de 0 a 360° cada eje debería ganar un sector de exactamente 120°. La cifra que sale es cuánto derivan esas tres fronteras y en qué porcentaje del barrido el eje decodificado es el correcto.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BANCO DEL GRADIENTE ·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run_gradient.sh — tres puentes, y solo el amplificador lineal.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b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519" y="1572768"/>
            <a:ext cx="8616657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XSCHEM/TEST_TOTAL/test_GRADIENT.sch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TRAZABILIDAD DEL SENSADO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Una señal, cuatro etapas: puente → amplificador → comparador → decodificador.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Se sigue la MISMA señal por las cuatro etapas del bloque de sensado.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El banco ya registra cada nodo intermedio, incluidos los que no tienen nombre: las salidas de los comparadores se sondean jerárquicamente.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En cada etapa, el esquemático y el layout uno encima del otro.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Solo con el amplificador lineal: G2, el esquemático, contra G4, el layout.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Y al final, en qué porcentaje del barrido el eje decodificado es el correcto.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DEL BLOQUE · SENSADO DE GRADIENTE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the whole chain on one sheet — amplifier still linear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id_lin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173" y="1572768"/>
            <a:ext cx="7501348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run_gradient.sh — G2 schematic vs G4 layout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DEL BLOQUE · SENSADO DE GRADIENTE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the same chain at dR/R = 2 %, what a real AMR gives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id_satur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5173" y="1572768"/>
            <a:ext cx="7501348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run_gradient.sh — G2 schematic vs G4 layout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DEL BLOQUE · SENSADO DE GRADIENTE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the other experiment: field SIZE swept, direction held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eld_1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976" y="1572768"/>
            <a:ext cx="5005742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run_gradient.sh — G2 schematic vs G4 layout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DEL BLOQUE · SENSADO DE GRADIENTE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the low end on its own scale: where the chip goes deaf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eld_2_f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4646" y="1572768"/>
            <a:ext cx="4962402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run_gradient.sh — G2 schematic vs G4 layout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DEL BLOQUE · SENSADO DE GRADIENTE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what the chain costs as the field grows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eld_3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20715"/>
            <a:ext cx="11057839" cy="43035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097405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run_gradient.sh — G2 schematic vs G4 layout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DEL BLOQUE · SENSADO DE GRADIENTE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all eight sign combinations of the three bridge readings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ct_sens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58124"/>
            <a:ext cx="11057839" cy="4028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959996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run_gradient.sh — G2 schematic vs G4 layout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DEL BLOQUE · SENSADO DE GRADIENTE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how the decision is taken, and how accurate it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ace_7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750" y="1572768"/>
            <a:ext cx="5486195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run_gradient.sh — G2 schematic vs G4 layout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DEL BLOQUE · SENSADO DE GRADIENTE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decoded sector against the ideal, and the boundary error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ace_6_err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4521" y="1572768"/>
            <a:ext cx="8002652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run_gradient.sh — G2 schematic vs G4 layout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BLOQUE 2 · WEIGHT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El contador de votos: cuatro cadenas votan, un eje suma.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_WE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572" y="1572768"/>
            <a:ext cx="9014551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internal block diagram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WEIGHT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Contador de votos en modo corriente. Un bloque por eje.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5368899" cy="4782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Cuatro entradas con el MISMO peso, una salida.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Cada una de las cuatro cadenas GRADIENT2 vota sobre este eje, y el bloque cuenta los votos en modo corriente: las ramas se suman juntando hilos, así que contar no cuesta una etapa más. Las cuatro llevan la misma corriente, unos 170 µA: lo que sale depende de CUÁNTAS votan, no de cuáles.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El eje se reclama desde 2 de 4 votos.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Y eso lo consigue una QUINTA rama, copia exacta de las otras pero con la puerta fija a VDD. Al sumar siempre uno, N votos reales se leen como N+1 y el disparo baja de 3 de 4 a 2 de 4, que es la decisión que el chip tiene que tomar con cuatro cadenas y tres ejes.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Es una hoja: no tiene subbloques.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17 transistores n y 2 p, dibujados a mano. La salida WE es el nodo de suma, y es lo que sale al pad analógico X, Y o Z.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55867" y="1572768"/>
          <a:ext cx="5368899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4449"/>
                <a:gridCol w="2684450"/>
              </a:tblGrid>
              <a:tr h="32918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Parámetro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Función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suma los cuatro votos de un eje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Alimentación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5.0 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Consumo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3.48 mW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Dispositivos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17 nfet_06v0 + 2 pfet_06v0 (cinco ramas: cuatro votos y una fija)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Umbral de decisión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2 de 4 votos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Corriente por rama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~170 µA, igual en las cuatro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Área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45.34 × 25.00 µm = 0.0011 mm² (celda WEIGHT_COMP, con COMP_OUT)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Instancias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3 (una por eje)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WEIGHT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Contador de votos en modo corriente. Un bloque por eje.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h_WE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42027"/>
            <a:ext cx="5391759" cy="28780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29321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schematic</a:t>
            </a:r>
          </a:p>
        </p:txBody>
      </p:sp>
      <p:pic>
        <p:nvPicPr>
          <p:cNvPr id="7" name="Picture 6" descr="layout_WEIGHT_CO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294940"/>
            <a:ext cx="5391759" cy="29722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5340299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layout — 45.34 × 25.00 µm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WEIGHT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inputs, sum node and outputs  ·  from four votes to one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lk_WEIGHT_sig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117" y="1572768"/>
            <a:ext cx="4159380" cy="4416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06247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inputs, sum node and outputs</a:t>
            </a:r>
          </a:p>
        </p:txBody>
      </p:sp>
      <p:pic>
        <p:nvPicPr>
          <p:cNvPr id="7" name="Picture 6" descr="blk_WEIGHT_dec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107842"/>
            <a:ext cx="5391759" cy="33464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5527398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from four votes to one decision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WEIGHT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branch currents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lk_WEIGHT_curr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8025" y="1572768"/>
            <a:ext cx="7835645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XSCHEM/TEST — schematic vs layout v2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BLOQUE 3 · COMP_OUT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La etapa de salida: tres inversores y el par digital del eje.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_COMP_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22262"/>
            <a:ext cx="11057839" cy="41004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99585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internal block diagram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COMP_OUT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Etapa de salida: tres inversores que dan el par digital.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5368899" cy="4782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Toma el nodo de suma y lo lleva a niveles digitales.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Tres inversores en cadena: el primero decide, los siguientes dan pendiente y capacidad de carga. De ahí salen las dos señales del eje, la directa y su complemento.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Por eso las salidas van de dos en dos.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XP/XN, YP/YN, ZP/ZN llegan al pad de raíl a raíl, y por eso toman un pad digital y no uno analógico.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55867" y="1572768"/>
          <a:ext cx="5368899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4449"/>
                <a:gridCol w="2684450"/>
              </a:tblGrid>
              <a:tr h="32918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Parámetro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Valor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Función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amplifica el voto y da su complemento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Alimentación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5.0 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Subbloques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3 × INV_1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Área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compartida con WEIGHT en la celda WEIGHT_COMP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Instancias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3 (una por eje)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COMP_OUT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Etapa de salida: tres inversores que dan el par digital.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h_COMP_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42027"/>
            <a:ext cx="5391759" cy="28780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29321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schematic</a:t>
            </a:r>
          </a:p>
        </p:txBody>
      </p:sp>
      <p:pic>
        <p:nvPicPr>
          <p:cNvPr id="7" name="Picture 6" descr="layout_WEIGHT_CO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294940"/>
            <a:ext cx="5391759" cy="29722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5340299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layout — 45.34 × 25.00 µm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COMP_OUT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output state against the number of branches voting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lk_COMP_OUT_vo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367" y="1572768"/>
            <a:ext cx="9904960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XSCHEM/TEST — schematic vs layout v2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INV_1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El subbloque de COMP_OUT: el inversor.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h_INV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519" y="1572768"/>
            <a:ext cx="8616657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XSCHEM/WEIGTH/INV_1.sch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ESD_CDM · PROTECCIÓN SECUNDARIA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Fuera de la cadena de señal, pero dentro del área de usuario.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Once instancias, una por cada pad analógico.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Los pads analógicos del PDK traen solo diodos HBM, así que la red CDM —resistencia de poly en serie más diodos— hay que ponerla nosotros, y va JUNTO al pad: lo que quede entre el pad y el clamp está sin proteger.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El circuito es el de los organizadores; el dibujo es nuestro.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Sus tres celdas publicadas violan MSLOT.1, y nadie lo había visto porque la tabla mslot del PDK se cae antes de llegar. La nuestra ocupa 1762 µm² contra 6457: unos 52 000 µm² de área de usuario recuperados.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Aquí se fusionaron las nwells.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Los cuatro pozos estaban a 1.330 µm, que solo vale si el verificador sabe que son equipotenciales. Ahora son uno solo y pasa en los dos modos.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ESD_CDM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Fuera de la cadena de señal, pero dentro del área de usuario.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h_ESD_CD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42027"/>
            <a:ext cx="5391759" cy="28780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29321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schematic</a:t>
            </a:r>
          </a:p>
        </p:txBody>
      </p:sp>
      <p:pic>
        <p:nvPicPr>
          <p:cNvPr id="7" name="Picture 6" descr="layout_ESD_CD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590364"/>
            <a:ext cx="5391759" cy="2381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5044876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layout — 63.16 × 27.90 µm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03A"/>
              </a:gs>
              <a:gs pos="100000">
                <a:srgbClr val="16256B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" y="2468880"/>
            <a:ext cx="992398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08A1E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3063240"/>
            <a:ext cx="9923983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Consolas"/>
              </a:rPr>
              <a:t>RESULTADOS TOTALES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4206240"/>
            <a:ext cx="935705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El sistema completo, siempre comparando layout contra esquemático.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BANCO DEL NAVEGADOR ·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run_nav2.sh — cuatro puentes contra dos navegadores. Es también la comparación layout-esquemático.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b_NA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519" y="1572768"/>
            <a:ext cx="8616657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XSCHEM/TEST_TOTAL/test_NAV2.sch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BANCO DEL NAVEGADOR ·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run_nav2.sh — cuatro puentes contra dos navegadores. Es también la comparación layout-esquemático.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1">
                <a:solidFill>
                  <a:srgbClr val="16256B"/>
                </a:solidFill>
                <a:latin typeface="Calibri"/>
              </a:rPr>
              <a:t>Dos navegadores sobre los mismos ocho nodos de sensor: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238"/>
                </a:solidFill>
                <a:latin typeface="Calibri"/>
              </a:rPr>
              <a:t>N_esq — el esquemático GRADIENT_NAV2, alimentación VDDS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238"/>
                </a:solidFill>
                <a:latin typeface="Calibri"/>
              </a:rPr>
              <a:t>N_lay — el mismo circuito reconstruido desde el layout v2 y extraído CON PARÁSITOS RC, alimentación VDDR</a:t>
            </a:r>
          </a:p>
          <a:p>
            <a:pPr algn="l">
              <a:spcAft>
                <a:spcPts val="1100"/>
              </a:spcAft>
            </a:pPr>
            <a:r>
              <a:rPr sz="1700" b="1">
                <a:solidFill>
                  <a:srgbClr val="16256B"/>
                </a:solidFill>
                <a:latin typeface="Calibri"/>
              </a:rPr>
              <a:t>Cuatro sensores a 0, 90, 180 y 270°, y el campo girando de 0 a 360°.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238"/>
                </a:solidFill>
                <a:latin typeface="Calibri"/>
              </a:rPr>
              <a:t>Cada una de las cuatro cadenas lee TRES de los cuatro sensores, en combinaciones distintas, y los tres pesos combinan sus salidas.</a:t>
            </a:r>
          </a:p>
          <a:p>
            <a:pPr algn="l">
              <a:spcAft>
                <a:spcPts val="1100"/>
              </a:spcAft>
            </a:pPr>
            <a:r>
              <a:rPr sz="1700" b="1">
                <a:solidFill>
                  <a:srgbClr val="16256B"/>
                </a:solidFill>
                <a:latin typeface="Calibri"/>
              </a:rPr>
              <a:t>Qué se mide: en qué porcentaje del barrido las nueve salidas del esquemático coinciden con las del layout, y donde no, cuántos grados dura el desacuerdo.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· LAYOUT CONTRA ESQUEMÁTICO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721 puntos de 0 a 360°. La naranja discontinua es el layout extraído con parásitos.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sq_vs_layout_sali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410" y="1572768"/>
            <a:ext cx="9652874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438912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datos_nav2/fino_nav2.csv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498848"/>
            <a:ext cx="11057839" cy="1856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Las doce salidas de cadena coinciden en el 99.7 % del barrido.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· LAYOUT CONTRA ESQUEMÁTICO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42415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0"/>
            <a:ext cx="11057839" cy="5074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1">
                <a:solidFill>
                  <a:srgbClr val="16256B"/>
                </a:solidFill>
                <a:latin typeface="Calibri"/>
              </a:rPr>
              <a:t>Las doce salidas de cadena coinciden en el 99.7 % del barrido.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238"/>
                </a:solidFill>
                <a:latin typeface="Calibri"/>
              </a:rPr>
              <a:t>Los cuatro bloques GRADIENT2 del layout, extraídos con parásitos RC, deciden lo mismo que los del esquemático. Toda la cadena analógica —amplificador, comparador, decodificador— reproduce el esquemático.</a:t>
            </a:r>
          </a:p>
          <a:p>
            <a:pPr algn="l">
              <a:spcAft>
                <a:spcPts val="1100"/>
              </a:spcAft>
            </a:pPr>
            <a:r>
              <a:rPr sz="1700" b="1">
                <a:solidFill>
                  <a:srgbClr val="16256B"/>
                </a:solidFill>
                <a:latin typeface="Calibri"/>
              </a:rPr>
              <a:t>Las seis salidas digitales, en el 99.5 % (X e Y) y el 98.9 % (Z).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238"/>
                </a:solidFill>
                <a:latin typeface="Calibri"/>
              </a:rPr>
              <a:t>Entre 2 y 4 grados de desacuerdo sobre 360, y caen donde tienen que caer: en las fronteras entre sectores, que es exactamente donde la decisión está en el filo y el offset del layout decide.</a:t>
            </a:r>
          </a:p>
          <a:p>
            <a:pPr algn="l">
              <a:spcAft>
                <a:spcPts val="1100"/>
              </a:spcAft>
            </a:pPr>
            <a:r>
              <a:rPr sz="1700" b="1">
                <a:solidFill>
                  <a:srgbClr val="16256B"/>
                </a:solidFill>
                <a:latin typeface="Calibri"/>
              </a:rPr>
              <a:t>Desviación en el nodo del contador: 38.8 mV rms.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238"/>
                </a:solidFill>
                <a:latin typeface="Calibri"/>
              </a:rPr>
              <a:t>Consumo: 75.32 mW el esquemático, 74.15 mW el layout. Los parásitos RC no mueven el punto de trabajo de forma apreciable.</a:t>
            </a:r>
          </a:p>
        </p:txBody>
      </p:sp>
      <p:pic>
        <p:nvPicPr>
          <p:cNvPr id="5" name="Picture 4" descr="esq_vs_layout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782524"/>
            <a:ext cx="5391759" cy="2081871"/>
          </a:xfrm>
          <a:prstGeom prst="rect">
            <a:avLst/>
          </a:prstGeom>
        </p:spPr>
      </p:pic>
      <p:pic>
        <p:nvPicPr>
          <p:cNvPr id="6" name="Picture 5" descr="esq_vs_layout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3783450"/>
            <a:ext cx="5391759" cy="208002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· LAYOUT CONTRA ESQUEMÁTICO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four chains vote, the counter adds them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otal_1_vo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1574" y="1572768"/>
            <a:ext cx="5508546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datos_nav2/fino_nav2.csv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· LAYOUT CONTRA ESQUEMÁTICO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the six pins that leave the die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otal_2_outp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914" y="1572768"/>
            <a:ext cx="6189867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datos_nav2/fino_nav2.csv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· LAYOUT CONTRA ESQUEMÁTICO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Los seis pines digitales: tres decisiones y sus complementos.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1">
                <a:solidFill>
                  <a:srgbClr val="16256B"/>
                </a:solidFill>
                <a:latin typeface="Calibri"/>
              </a:rPr>
              <a:t>XP alto significa «gana este eje». XN es su negado, no «el otro sentido».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238"/>
                </a:solidFill>
                <a:latin typeface="Calibri"/>
              </a:rPr>
              <a:t>COMP_OUT es OUT = búfer(IN) y OUT_N = NOT(IN), instanciado como x8 VDD XN X XP VSS. El par es redundante por construcción: para leer el chip basta XP, y XN está para alimentar directamente el puente en H.</a:t>
            </a:r>
          </a:p>
          <a:p>
            <a:pPr algn="l">
              <a:spcAft>
                <a:spcPts val="1100"/>
              </a:spcAft>
            </a:pPr>
            <a:r>
              <a:rPr sz="1700" b="1">
                <a:solidFill>
                  <a:srgbClr val="16256B"/>
                </a:solidFill>
                <a:latin typeface="Calibri"/>
              </a:rPr>
              <a:t>El chip contesta QUÉ EJE, no hacia qué lado.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238"/>
                </a:solidFill>
                <a:latin typeface="Calibri"/>
              </a:rPr>
              <a:t>El decodificador saca el eje cuyo puente lee MENOS, que es el vértice aguas arriba del gradiente. Eso identifica un eje entre tres, no un sentido entre seis.</a:t>
            </a:r>
          </a:p>
          <a:p>
            <a:pPr algn="l">
              <a:spcAft>
                <a:spcPts val="1100"/>
              </a:spcAft>
            </a:pPr>
            <a:r>
              <a:rPr sz="1700" b="1">
                <a:solidFill>
                  <a:srgbClr val="16256B"/>
                </a:solidFill>
                <a:latin typeface="Calibri"/>
              </a:rPr>
              <a:t>Distinguir +X de −X pide una comparación más.</a:t>
            </a:r>
          </a:p>
          <a:p>
            <a:pPr algn="l">
              <a:spcAft>
                <a:spcPts val="900"/>
              </a:spcAft>
            </a:pPr>
            <a:r>
              <a:rPr sz="1700" b="0">
                <a:solidFill>
                  <a:srgbClr val="1C2238"/>
                </a:solidFill>
                <a:latin typeface="Calibri"/>
              </a:rPr>
              <a:t>Es la que añade GRADIENT_NAV3, que compara componentes en lugar de lecturas y sí saca los seis sentidos. No está instanciado en este die.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· LAYOUT CONTRA ESQUEMÁTICO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all eight sign combinations of the gradient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ct_na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75090"/>
            <a:ext cx="11057839" cy="39947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943029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run_nav2_geo.sh — sphere sweep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· LAYOUT CONTRA ESQUEMÁTICO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every GRADIENT2, every octant, twice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in_1_octa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460" y="1572768"/>
            <a:ext cx="10358774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run_nav2_geo.sh — sphere sweep, schematic tops only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· LAYOUT CONTRA ESQUEMÁTICO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how one wrong chain out of four reaches the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in_2_propag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855677"/>
            <a:ext cx="11057839" cy="40336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596244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run_nav2_geo.sh — sphere sweep, schematic tops only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BANCO DE GEOMETRÍA ·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run_nav2_geo.sh — cómo depende el navegador de la caja donde van los sensores.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Los cuatro sensores van en los vértices del tetraedro inscrito en una caja Lxy × Lxy × Lz.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Seis combinaciones: Lxy de 1000, 2000 y 3000 µm, y Lz de 500 y 1000 µm.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1 · Resolución.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Para cada caja y cada nivel de gradiente se barre la dirección 360° y se cuenta en qué fracción acierta el eje. De esa curva sale un número: el gradiente más pequeño al que el acierto llega al 95 %. Captura los dos límites de golpe — por abajo el offset del comparador, por arriba la saturación del amplificador — sin depender de ninguna definición prestada.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2 · Lo mismo en el plano X-Y, donde Lz no juega.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Separa la resolución en x-y de la de z.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3 · Fondo.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El campo terrestre es común a los cuatro sensores, así que se cancela en la comparación pero NO en el amplificador, que lo ve entero. Se barre para ver a qué nivel se pierde la medida.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BANCO DE GEOMETRÍA ·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run_nav2_geo.sh — cómo depende el navegador de la caja donde van los sensores.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b_NAV2_g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519" y="1572768"/>
            <a:ext cx="8616657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XSCHEM/TEST_TOTAL/test_NAV2_geo.sch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· GEOMETRÍA DE LA CAJA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Acierto en el sentido, por caja y nivel de gradiente.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67665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Caja Lxy × Lz [µm]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Gradiente bajo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Gradiente alto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1000 × 1000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90.0 %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97.8 %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1000 × 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87.2 %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91.7 %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2000 × 1000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91.1 %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92.2 %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2000 × 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92.7 %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94.4 %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3000 × 1000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92.7 %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93.3 %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3000 × 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92.7 %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94.4 %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224528"/>
            <a:ext cx="11057839" cy="2130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Con gradiente alto la caja de 1000 × 1000 llega al 97.8 %. Achatar la caja (Lz 500) siempre cuesta acierto, porque el eje z queda peor resuelto que x-y.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· GEOMETRÍA DE LA CAJA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Acierto en el sentido, por caja y nivel de gradiente.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eo_resolu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594" y="1572768"/>
            <a:ext cx="8768507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run_nav2_geo.sh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· GEOMETRÍA DE LA CAJA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Acierto en el sentido, por caja y nivel de gradiente.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eo_caj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55" y="1572768"/>
            <a:ext cx="10717184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run_nav2_geo.sh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· GEOMETRÍA DE LA CAJA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Acierto en el sentido, por caja y nivel de gradiente.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eo_fon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583" y="1572768"/>
            <a:ext cx="7326528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run_nav2_geo.sh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BANCO DE FUENTE ·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run_fuente.sh — ¿apunta el chip hacia ella? Es la pregunta para la que existe.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Todo lo anterior imponía un gradiente uniforme en una dirección. Aquí el campo viene de una fuente puesta en un sitio y cada sensor lee el módulo en su propio vértice.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Dos modelos, y la pareja es el método: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SIMÉTRICO — |B| depende solo de la distancia, así que grad|B| apunta EXACTAMENTE a la fuente. Cualquier error que salga es del chip.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DIPOLO REAL — eje en +z. |B| depende también del ángulo, y grad|B| NO apunta exactamente a la fuente ni con un chip perfecto.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La diferencia entre los dos números separa el error del circuito del error de la física.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Que es lo que hace falta tener antes de creerse nada medido con un imán de verdad.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42 barridos: tres distancias, siete azimuts, los dos modelos.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BANCO DE FUENTE ·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run_fuente.sh — ¿apunta el chip hacia ella? Es la pregunta para la que existe.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b_NAV2_g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519" y="1572768"/>
            <a:ext cx="8616657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XSCHEM/TEST_TOTAL/test_FUENTE.sch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· ¿APUNTA A LA FUENTE?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Ángulo que da el chip contra el ángulo ideal, por modelo y distancia.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El acierto cae con la distancia, que es lo esperado: el gradiente se debilita y el offset del comparador pesa más.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2029968"/>
          <a:ext cx="1105783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567"/>
                <a:gridCol w="2211567"/>
                <a:gridCol w="2211567"/>
                <a:gridCol w="2211567"/>
                <a:gridCol w="2211571"/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Modelo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Distancia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Chip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Ideal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Acierto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symmetric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3000 µm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14.46°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14.21°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90.8 %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symmetric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6000 µm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9.02°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7.56°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86.9 %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symmetric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12000 µm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11.32°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3.84°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76.1 %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dipole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3000 µm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16.53°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16.40°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93.2 %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dipole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6000 µm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12.31°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11.66°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90.6 %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dipole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12000 µm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12.41°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9.92°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84.3 %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4681728"/>
            <a:ext cx="11057839" cy="1673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Lo que hay que leer es la ÚLTIMA COLUMNA de grados, no las dos primeras. «Chip» es el ángulo que sale de las tensiones simuladas de los cuatro puentes; «Ideal» es el mismo cálculo sobre lecturas analíticas, sin circuito. Ninguno de los dos es cero, y el culpable no es el circuito: el chip no mide el gradiente en un punto, hace una DIFERENCIA FINITA sobre una caja de 1 mm, y a 3 mm de la fuente el campo se curva tanto sobre esa caja que un chip perfecto ya falla 14°. Lo que pone el circuito es la resta: +0.25° a 3 mm, +7.48° a 12 mm.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· ¿APUNTA A LA FUENTE?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Ángulo que da el chip contra el ángulo ideal, por modelo y distancia.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rc_sens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540" y="1572768"/>
            <a:ext cx="7864614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run_fuente.sh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· ¿APUNTA A LA FUENTE?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Ángulo que da el chip contra el ángulo ideal, por modelo y distancia.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rc_fuente_apun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9818" y="1572768"/>
            <a:ext cx="5572058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run_fuente.sh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· ¿APUNTA A LA FUENTE?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Ángulo que da el chip contra el ángulo ideal, por modelo y distancia.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eld_real_2_fu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47840"/>
            <a:ext cx="11057839" cy="44492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17028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run_fuente.sh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RESULTADO · ¿APUNTA A LA FUENTE?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Ángulo que da el chip contra el ángulo ideal, por modelo y distancia.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rc_fuente_resu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364" y="1572768"/>
            <a:ext cx="10480966" cy="4599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245352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run_fuente.sh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03A"/>
              </a:gs>
              <a:gs pos="100000">
                <a:srgbClr val="16256B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" y="2468880"/>
            <a:ext cx="992398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08A1E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3063240"/>
            <a:ext cx="9923983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Consolas"/>
              </a:rPr>
              <a:t>VERIFICACIÓN FÍSICA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4206240"/>
            <a:ext cx="935705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DRC, LVS, conectividad y densidad de corriente sobre el fichero que se entrega.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B26_A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Sobre B26_A_filled3.gds, el fichero que se entrega.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yout_B26_A_sin_f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31" y="1572768"/>
            <a:ext cx="4416552" cy="4416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606247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unfilled — 1110 × 1110 µm</a:t>
            </a:r>
          </a:p>
        </p:txBody>
      </p:sp>
      <p:pic>
        <p:nvPicPr>
          <p:cNvPr id="7" name="Picture 6" descr="layout_B26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610" y="1572768"/>
            <a:ext cx="4416552" cy="44165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6062472"/>
            <a:ext cx="53917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density-filled — 1110 × 1110 µm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VERIFICACIÓN FÍSICA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Sobre B26_A_filled3.gds, el fichero que se entrega.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72768"/>
          <a:ext cx="877824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4389120"/>
              </a:tblGrid>
              <a:tr h="32918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Comprobación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Resultado</a:t>
                      </a:r>
                    </a:p>
                  </a:txBody>
                  <a:tcPr anchor="ctr">
                    <a:solidFill>
                      <a:srgbClr val="16256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DRC de firma (main/deep, con conectividad)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660 categorías, 0 violaciones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DRC con --no_connectivity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0 violaciones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DRC de 63 tablas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63 tablas, 0 violaciones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Densidad de relleno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las 7 capas cumplen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LVS netgen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Circuits match uniquely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Conectividad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17 de 17 señales, 11 por su clamp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Densidad de corriente a 125 °C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48.00 µm frente a 22.10 exigidos</a:t>
                      </a:r>
                    </a:p>
                  </a:txBody>
                  <a:tcPr anchor="ctr">
                    <a:solidFill>
                      <a:srgbClr val="F3F5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PR_bndry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8"/>
                          </a:solidFill>
                          <a:latin typeface="Calibri"/>
                        </a:defRPr>
                      </a:pPr>
                      <a:r>
                        <a:t>exactamente una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773168"/>
            <a:ext cx="11057839" cy="1581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El DRC se corrió en los dos modos de conectividad. El diseño ya no depende de cómo lo ejecute quien lo revise.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03A"/>
              </a:gs>
              <a:gs pos="100000">
                <a:srgbClr val="16256B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" y="2468880"/>
            <a:ext cx="992398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08A1E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3063240"/>
            <a:ext cx="9923983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Consolas"/>
              </a:rPr>
              <a:t>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4206240"/>
            <a:ext cx="935705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Lo esperado frente a lo medido, incluido lo que no cerró.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LO ESPERADO CONTRA LO MEDIDO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Tres cosas que la simulación encontró y el diseño corrigió.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1 · Se esperaba que XP y XN correspondieran a su nombre. No era así.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El banco destapó que estaban cambiados respecto a la etiqueta. Corregido en el esquemático.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2 · Se esperaba que el umbral de decisión estuviera centrado. Estaba mal puesto.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El barrido de disparo lo midió y se reajustó.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3 · Se esperaba que los tres ejes compitieran en igualdad. Z no podía ganar nunca.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Y su propio WEIGHT no lo arreglaba: lo que lo arregló fue cambiar el orden dentro de cada trío.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Los tres se encontraron simulando, no revisando. Ese es el argumento a favor de los bancos.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LO QUE NO CERRÓ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Dicho con la misma claridad que lo que salió bien.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572768"/>
            <a:ext cx="11057839" cy="4782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El LVS de KLayout sobre el top no termina la extracción.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Tres intentos en una máquina de 31 GB: 2h33m sobre el GDS relleno, y 1h04m y 30m52 sobre el GDS sin rellenar. Ninguno llegó a la fase de comparación.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No es falta de memoria: cada proceso se quedó en ~540 MB con 31 GB libres.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Es número de nets, no tamaño de máquina.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16256B"/>
                </a:solidFill>
                <a:latin typeface="Calibri"/>
              </a:rPr>
              <a:t>Lo que sí casa: netgen dice Circuits match uniquely sobre los mismos 1442 dispositivos, clase por clase.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1C2238"/>
                </a:solidFill>
                <a:latin typeface="Calibri"/>
              </a:rPr>
              <a:t>Importa para la entrega porque el LVS externo del chipathon corre el deck de KLayout, no netgen.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>
                <a:solidFill>
                  <a:srgbClr val="16256B"/>
                </a:solidFill>
                <a:latin typeface="Consolas"/>
              </a:rPr>
              <a:t>UNA MEJORA YA MEDIDA, FUERA DEL DIE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7492"/>
                </a:solidFill>
                <a:latin typeface="Calibri"/>
              </a:rPr>
              <a:t>Reordenar los puertos de sensor: 76.2 % a 90.7 %, sin tocar una sola celda.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26000"/>
          </a:xfrm>
          <a:prstGeom prst="rect">
            <a:avLst/>
          </a:prstGeom>
          <a:solidFill>
            <a:srgbClr val="E08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in_3_v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121" y="1572768"/>
            <a:ext cx="9039453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493776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B7492"/>
                </a:solidFill>
                <a:latin typeface="Calibri"/>
              </a:rPr>
              <a:t>XSCHEM_v3 — same sphere sweep, both wirings side by side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8103A"/>
              </a:gs>
              <a:gs pos="100000">
                <a:srgbClr val="16256B"/>
              </a:gs>
            </a:gsLst>
            <a:lin scaled="0" ang="27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" y="2468880"/>
            <a:ext cx="9923983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08A1E"/>
                </a:solidFill>
                <a:latin typeface="Consola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" y="3063240"/>
            <a:ext cx="9923983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FFFFF"/>
                </a:solidFill>
                <a:latin typeface="Consolas"/>
              </a:rPr>
              <a:t>ESTADO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4206240"/>
            <a:ext cx="935705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El chip está terminado y verificado. DRC limpio en los dos modos, LVS netgen casando único, 17 de 17 pines conducen, y la alimentación da 48.00 µm de sección contra los 22.10 µm que exige la electromigración a 125 °C. Entregable: B26_A_filled3.gds, sha 41bef27a.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